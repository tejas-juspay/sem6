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ink/ink1.xml" ContentType="application/inkml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38"/>
  </p:notesMasterIdLst>
  <p:handoutMasterIdLst>
    <p:handoutMasterId r:id="rId39"/>
  </p:handoutMasterIdLst>
  <p:sldIdLst>
    <p:sldId id="335" r:id="rId2"/>
    <p:sldId id="336" r:id="rId3"/>
    <p:sldId id="337" r:id="rId4"/>
    <p:sldId id="367" r:id="rId5"/>
    <p:sldId id="338" r:id="rId6"/>
    <p:sldId id="364" r:id="rId7"/>
    <p:sldId id="340" r:id="rId8"/>
    <p:sldId id="341" r:id="rId9"/>
    <p:sldId id="371" r:id="rId10"/>
    <p:sldId id="372" r:id="rId11"/>
    <p:sldId id="342" r:id="rId12"/>
    <p:sldId id="343" r:id="rId13"/>
    <p:sldId id="344" r:id="rId14"/>
    <p:sldId id="345" r:id="rId15"/>
    <p:sldId id="368" r:id="rId16"/>
    <p:sldId id="348" r:id="rId17"/>
    <p:sldId id="347" r:id="rId18"/>
    <p:sldId id="349" r:id="rId19"/>
    <p:sldId id="350" r:id="rId20"/>
    <p:sldId id="351" r:id="rId21"/>
    <p:sldId id="352" r:id="rId22"/>
    <p:sldId id="353" r:id="rId23"/>
    <p:sldId id="354" r:id="rId24"/>
    <p:sldId id="355" r:id="rId25"/>
    <p:sldId id="370" r:id="rId26"/>
    <p:sldId id="356" r:id="rId27"/>
    <p:sldId id="357" r:id="rId28"/>
    <p:sldId id="358" r:id="rId29"/>
    <p:sldId id="359" r:id="rId30"/>
    <p:sldId id="360" r:id="rId31"/>
    <p:sldId id="369" r:id="rId32"/>
    <p:sldId id="365" r:id="rId33"/>
    <p:sldId id="366" r:id="rId34"/>
    <p:sldId id="361" r:id="rId35"/>
    <p:sldId id="362" r:id="rId36"/>
    <p:sldId id="363" r:id="rId37"/>
  </p:sldIdLst>
  <p:sldSz cx="9144000" cy="6858000" type="screen4x3"/>
  <p:notesSz cx="6997700" cy="9283700"/>
  <p:custShowLst>
    <p:custShow name="Custom Show 1" id="0">
      <p:sldLst>
        <p:sld r:id="rId2"/>
      </p:sldLst>
    </p:custShow>
  </p:custShowLst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1600" kern="1200">
        <a:solidFill>
          <a:schemeClr val="tx1"/>
        </a:solidFill>
        <a:latin typeface="Helvetica" panose="020B0604020202020204" pitchFamily="34" charset="0"/>
        <a:ea typeface="MS PGothic" panose="020B0600070205080204" pitchFamily="34" charset="-128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1600" kern="1200">
        <a:solidFill>
          <a:schemeClr val="tx1"/>
        </a:solidFill>
        <a:latin typeface="Helvetica" panose="020B0604020202020204" pitchFamily="34" charset="0"/>
        <a:ea typeface="MS PGothic" panose="020B0600070205080204" pitchFamily="34" charset="-128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1600" kern="1200">
        <a:solidFill>
          <a:schemeClr val="tx1"/>
        </a:solidFill>
        <a:latin typeface="Helvetica" panose="020B0604020202020204" pitchFamily="34" charset="0"/>
        <a:ea typeface="MS PGothic" panose="020B0600070205080204" pitchFamily="34" charset="-128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1600" kern="1200">
        <a:solidFill>
          <a:schemeClr val="tx1"/>
        </a:solidFill>
        <a:latin typeface="Helvetica" panose="020B0604020202020204" pitchFamily="34" charset="0"/>
        <a:ea typeface="MS PGothic" panose="020B0600070205080204" pitchFamily="34" charset="-128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1600" kern="1200">
        <a:solidFill>
          <a:schemeClr val="tx1"/>
        </a:solidFill>
        <a:latin typeface="Helvetica" panose="020B0604020202020204" pitchFamily="34" charset="0"/>
        <a:ea typeface="MS PGothic" panose="020B0600070205080204" pitchFamily="34" charset="-128"/>
        <a:cs typeface="+mn-cs"/>
      </a:defRPr>
    </a:lvl5pPr>
    <a:lvl6pPr marL="2286000" algn="l" defTabSz="914400" rtl="0" eaLnBrk="1" latinLnBrk="0" hangingPunct="1">
      <a:defRPr sz="1600" kern="1200">
        <a:solidFill>
          <a:schemeClr val="tx1"/>
        </a:solidFill>
        <a:latin typeface="Helvetica" panose="020B0604020202020204" pitchFamily="34" charset="0"/>
        <a:ea typeface="MS PGothic" panose="020B0600070205080204" pitchFamily="34" charset="-128"/>
        <a:cs typeface="+mn-cs"/>
      </a:defRPr>
    </a:lvl6pPr>
    <a:lvl7pPr marL="2743200" algn="l" defTabSz="914400" rtl="0" eaLnBrk="1" latinLnBrk="0" hangingPunct="1">
      <a:defRPr sz="1600" kern="1200">
        <a:solidFill>
          <a:schemeClr val="tx1"/>
        </a:solidFill>
        <a:latin typeface="Helvetica" panose="020B0604020202020204" pitchFamily="34" charset="0"/>
        <a:ea typeface="MS PGothic" panose="020B0600070205080204" pitchFamily="34" charset="-128"/>
        <a:cs typeface="+mn-cs"/>
      </a:defRPr>
    </a:lvl7pPr>
    <a:lvl8pPr marL="3200400" algn="l" defTabSz="914400" rtl="0" eaLnBrk="1" latinLnBrk="0" hangingPunct="1">
      <a:defRPr sz="1600" kern="1200">
        <a:solidFill>
          <a:schemeClr val="tx1"/>
        </a:solidFill>
        <a:latin typeface="Helvetica" panose="020B0604020202020204" pitchFamily="34" charset="0"/>
        <a:ea typeface="MS PGothic" panose="020B0600070205080204" pitchFamily="34" charset="-128"/>
        <a:cs typeface="+mn-cs"/>
      </a:defRPr>
    </a:lvl8pPr>
    <a:lvl9pPr marL="3657600" algn="l" defTabSz="914400" rtl="0" eaLnBrk="1" latinLnBrk="0" hangingPunct="1">
      <a:defRPr sz="1600" kern="1200">
        <a:solidFill>
          <a:schemeClr val="tx1"/>
        </a:solidFill>
        <a:latin typeface="Helvetica" panose="020B0604020202020204" pitchFamily="34" charset="0"/>
        <a:ea typeface="MS PGothic" panose="020B0600070205080204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707">
          <p15:clr>
            <a:srgbClr val="A4A3A4"/>
          </p15:clr>
        </p15:guide>
        <p15:guide id="2" pos="576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2" name="S Sudarshan" initials="SS" lastIdx="1" clrIdx="1">
    <p:extLst>
      <p:ext uri="{19B8F6BF-5375-455C-9EA6-DF929625EA0E}">
        <p15:presenceInfo xmlns:p15="http://schemas.microsoft.com/office/powerpoint/2012/main" userId="b463bc06a992a747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9933"/>
    <a:srgbClr val="0000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040" autoAdjust="0"/>
    <p:restoredTop sz="96327" autoAdjust="0"/>
  </p:normalViewPr>
  <p:slideViewPr>
    <p:cSldViewPr snapToGrid="0">
      <p:cViewPr varScale="1">
        <p:scale>
          <a:sx n="85" d="100"/>
          <a:sy n="85" d="100"/>
        </p:scale>
        <p:origin x="1224" y="48"/>
      </p:cViewPr>
      <p:guideLst>
        <p:guide orient="horz" pos="707"/>
        <p:guide pos="576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handoutMaster" Target="handoutMasters/handoutMaster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commentAuthors" Target="commentAuthors.xml"/><Relationship Id="rId45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notesMaster" Target="notesMasters/notesMaster1.xml"/><Relationship Id="rId20" Type="http://schemas.openxmlformats.org/officeDocument/2006/relationships/slide" Target="slides/slide19.xml"/><Relationship Id="rId41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uraj Shetiya" userId="5772eca794f82fe9" providerId="LiveId" clId="{8C835C26-F62F-49FB-BEB9-44FD123E84D4}"/>
    <pc:docChg chg="custSel modSld">
      <pc:chgData name="Suraj Shetiya" userId="5772eca794f82fe9" providerId="LiveId" clId="{8C835C26-F62F-49FB-BEB9-44FD123E84D4}" dt="2026-01-06T02:28:54.242" v="190" actId="20577"/>
      <pc:docMkLst>
        <pc:docMk/>
      </pc:docMkLst>
      <pc:sldChg chg="modNotesTx">
        <pc:chgData name="Suraj Shetiya" userId="5772eca794f82fe9" providerId="LiveId" clId="{8C835C26-F62F-49FB-BEB9-44FD123E84D4}" dt="2026-01-06T02:28:54.242" v="190" actId="20577"/>
        <pc:sldMkLst>
          <pc:docMk/>
          <pc:sldMk cId="0" sldId="343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266" name="Rectangle 2">
            <a:extLst>
              <a:ext uri="{FF2B5EF4-FFF2-40B4-BE49-F238E27FC236}">
                <a16:creationId xmlns:a16="http://schemas.microsoft.com/office/drawing/2014/main" id="{C6EF5354-BFFB-44DF-8FA7-1A088153BD87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2125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027" tIns="46514" rIns="93027" bIns="46514" numCol="1" anchor="t" anchorCtr="0" compatLnSpc="1">
            <a:prstTxWarp prst="textNoShape">
              <a:avLst/>
            </a:prstTxWarp>
          </a:bodyPr>
          <a:lstStyle>
            <a:lvl1pPr defTabSz="930275">
              <a:defRPr sz="1300">
                <a:latin typeface="Helvetica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67267" name="Rectangle 3">
            <a:extLst>
              <a:ext uri="{FF2B5EF4-FFF2-40B4-BE49-F238E27FC236}">
                <a16:creationId xmlns:a16="http://schemas.microsoft.com/office/drawing/2014/main" id="{5BBF6CF9-ADFE-4F6E-89A0-8CB582D8FFC5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65575" y="0"/>
            <a:ext cx="3032125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027" tIns="46514" rIns="93027" bIns="46514" numCol="1" anchor="t" anchorCtr="0" compatLnSpc="1">
            <a:prstTxWarp prst="textNoShape">
              <a:avLst/>
            </a:prstTxWarp>
          </a:bodyPr>
          <a:lstStyle>
            <a:lvl1pPr algn="r" defTabSz="930275">
              <a:defRPr sz="1300">
                <a:latin typeface="Helvetica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67268" name="Rectangle 4">
            <a:extLst>
              <a:ext uri="{FF2B5EF4-FFF2-40B4-BE49-F238E27FC236}">
                <a16:creationId xmlns:a16="http://schemas.microsoft.com/office/drawing/2014/main" id="{8C120FC7-7BCE-4696-BB5D-C087861E4B4E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820150"/>
            <a:ext cx="3032125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027" tIns="46514" rIns="93027" bIns="46514" numCol="1" anchor="b" anchorCtr="0" compatLnSpc="1">
            <a:prstTxWarp prst="textNoShape">
              <a:avLst/>
            </a:prstTxWarp>
          </a:bodyPr>
          <a:lstStyle>
            <a:lvl1pPr defTabSz="930275">
              <a:defRPr sz="1300">
                <a:latin typeface="Helvetica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67269" name="Rectangle 5">
            <a:extLst>
              <a:ext uri="{FF2B5EF4-FFF2-40B4-BE49-F238E27FC236}">
                <a16:creationId xmlns:a16="http://schemas.microsoft.com/office/drawing/2014/main" id="{6735A123-7D3E-455E-AB82-1C3749BB052A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65575" y="8820150"/>
            <a:ext cx="3032125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027" tIns="46514" rIns="93027" bIns="46514" numCol="1" anchor="b" anchorCtr="0" compatLnSpc="1">
            <a:prstTxWarp prst="textNoShape">
              <a:avLst/>
            </a:prstTxWarp>
          </a:bodyPr>
          <a:lstStyle>
            <a:lvl1pPr algn="r" defTabSz="930275">
              <a:defRPr sz="1300"/>
            </a:lvl1pPr>
          </a:lstStyle>
          <a:p>
            <a:pPr>
              <a:defRPr/>
            </a:pPr>
            <a:fld id="{A8B4C920-550B-4EA7-9CB5-2D8883A273BF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9T04:39:52.10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319 74 24575,'-136'216'0,"111"-170"0,2 2 0,-31 90 0,36-80 0,-1 0 0,-16 83 0,31-122 0,2 1 0,0 0 0,2 0 0,0 0 0,1-1 0,1 1 0,0 0 0,8 26 0,7 18 0,-10-34 0,0-1 0,2-1 0,2 0 0,0 0 0,20 34 0,-19-48 0,0 0 0,1-2 0,1 1 0,0-2 0,0 0 0,1 0 0,29 14 0,-38-23 0,0 1 0,0-1 0,0 0 0,0 0 0,0-1 0,1 1 0,-1-1 0,0-1 0,1 1 0,-1-1 0,1-1 0,6 0 0,13-3 0,42-11 0,-43 9 0,19-6 0,-1-1 0,0-3 0,-1-1 0,52-30 0,-39 14 0,-2-2 0,72-62 0,-79 61 0,-31 27 0,-2-2 0,1 0 0,-1 0 0,-1-1 0,0-1 0,13-18 0,-4-1 0,-14 22 0,0 0 0,0 0 0,-1-1 0,8-20 0,-3-6 0,-2-1 0,-1 0 0,-2 0 0,-1 0 0,-2-75 0,-8 23 0,-22-123 0,25 197 0,-20-86 0,20 93 0,-1 0 0,0 0 0,-1 0 0,0 0 0,0 1 0,-1 0 0,0 0 0,-10-12 0,12 18 0,0-1 0,1 1 0,-2 0 0,1 0 0,0 0 0,0 1 0,0-1 0,-1 1 0,1-1 0,-1 1 0,1 0 0,-1 1 0,-7-2 0,-55 2 0,22 1 0,6-4 0,-9-1 0,1 2 0,-1 1 0,-73 10 0,-7 19 31,84-16-496,0-3-1,-78 7 1,110-15-6361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642" name="Rectangle 2">
            <a:extLst>
              <a:ext uri="{FF2B5EF4-FFF2-40B4-BE49-F238E27FC236}">
                <a16:creationId xmlns:a16="http://schemas.microsoft.com/office/drawing/2014/main" id="{2E8AF117-EF14-4BF3-AB7D-D75C4F934CCD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2125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3027" tIns="46514" rIns="93027" bIns="46514" numCol="1" anchor="t" anchorCtr="0" compatLnSpc="1">
            <a:prstTxWarp prst="textNoShape">
              <a:avLst/>
            </a:prstTxWarp>
          </a:bodyPr>
          <a:lstStyle>
            <a:lvl1pPr defTabSz="930275">
              <a:defRPr sz="1300">
                <a:latin typeface="Helvetica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40643" name="Rectangle 3">
            <a:extLst>
              <a:ext uri="{FF2B5EF4-FFF2-40B4-BE49-F238E27FC236}">
                <a16:creationId xmlns:a16="http://schemas.microsoft.com/office/drawing/2014/main" id="{D7D2DA5C-BED3-45D1-AFD2-94AF29863ABC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965575" y="0"/>
            <a:ext cx="3032125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3027" tIns="46514" rIns="93027" bIns="46514" numCol="1" anchor="t" anchorCtr="0" compatLnSpc="1">
            <a:prstTxWarp prst="textNoShape">
              <a:avLst/>
            </a:prstTxWarp>
          </a:bodyPr>
          <a:lstStyle>
            <a:lvl1pPr algn="r" defTabSz="930275">
              <a:defRPr sz="1300">
                <a:latin typeface="Helvetica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076" name="Rectangle 4">
            <a:extLst>
              <a:ext uri="{FF2B5EF4-FFF2-40B4-BE49-F238E27FC236}">
                <a16:creationId xmlns:a16="http://schemas.microsoft.com/office/drawing/2014/main" id="{A2936E5F-4C9B-4144-9261-C3F188AA67D9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77925" y="696913"/>
            <a:ext cx="4641850" cy="3481387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40645" name="Rectangle 5">
            <a:extLst>
              <a:ext uri="{FF2B5EF4-FFF2-40B4-BE49-F238E27FC236}">
                <a16:creationId xmlns:a16="http://schemas.microsoft.com/office/drawing/2014/main" id="{D73F14C5-05F8-4300-9D01-F3633C854740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31863" y="4410075"/>
            <a:ext cx="5133975" cy="417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3027" tIns="46514" rIns="93027" bIns="46514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240646" name="Rectangle 6">
            <a:extLst>
              <a:ext uri="{FF2B5EF4-FFF2-40B4-BE49-F238E27FC236}">
                <a16:creationId xmlns:a16="http://schemas.microsoft.com/office/drawing/2014/main" id="{BCB6CAD9-A006-4455-8054-9CACB290288C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820150"/>
            <a:ext cx="3032125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3027" tIns="46514" rIns="93027" bIns="46514" numCol="1" anchor="b" anchorCtr="0" compatLnSpc="1">
            <a:prstTxWarp prst="textNoShape">
              <a:avLst/>
            </a:prstTxWarp>
          </a:bodyPr>
          <a:lstStyle>
            <a:lvl1pPr defTabSz="930275">
              <a:defRPr sz="1300">
                <a:latin typeface="Helvetica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40647" name="Rectangle 7">
            <a:extLst>
              <a:ext uri="{FF2B5EF4-FFF2-40B4-BE49-F238E27FC236}">
                <a16:creationId xmlns:a16="http://schemas.microsoft.com/office/drawing/2014/main" id="{63060AD7-0C3D-477B-BD60-55C8EBDB945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65575" y="8820150"/>
            <a:ext cx="3032125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3027" tIns="46514" rIns="93027" bIns="46514" numCol="1" anchor="b" anchorCtr="0" compatLnSpc="1">
            <a:prstTxWarp prst="textNoShape">
              <a:avLst/>
            </a:prstTxWarp>
          </a:bodyPr>
          <a:lstStyle>
            <a:lvl1pPr algn="r" defTabSz="930275">
              <a:defRPr sz="1300"/>
            </a:lvl1pPr>
          </a:lstStyle>
          <a:p>
            <a:pPr>
              <a:defRPr/>
            </a:pPr>
            <a:fld id="{AE66C03C-4B0E-4149-8287-A3B340EB818D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anose="020B0600070205080204" pitchFamily="34" charset="-128"/>
        <a:cs typeface="ＭＳ Ｐゴシック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anose="020B0600070205080204" pitchFamily="34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anose="020B0600070205080204" pitchFamily="34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anose="020B0600070205080204" pitchFamily="34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anose="020B0600070205080204" pitchFamily="34" charset="-128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7">
            <a:extLst>
              <a:ext uri="{FF2B5EF4-FFF2-40B4-BE49-F238E27FC236}">
                <a16:creationId xmlns:a16="http://schemas.microsoft.com/office/drawing/2014/main" id="{1DE2DCE1-2EFC-4C42-8DFC-CBA6F33233E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01637794-A468-4EC6-9DD2-8F932E639220}" type="slidenum">
              <a:rPr lang="en-US" altLang="en-US" sz="1300" smtClean="0"/>
              <a:pPr/>
              <a:t>1</a:t>
            </a:fld>
            <a:endParaRPr lang="en-US" altLang="en-US" sz="1300"/>
          </a:p>
        </p:txBody>
      </p:sp>
      <p:sp>
        <p:nvSpPr>
          <p:cNvPr id="6147" name="Rectangle 2">
            <a:extLst>
              <a:ext uri="{FF2B5EF4-FFF2-40B4-BE49-F238E27FC236}">
                <a16:creationId xmlns:a16="http://schemas.microsoft.com/office/drawing/2014/main" id="{607B12F9-7FC5-42D0-9964-0865785D1C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48" name="Rectangle 3">
            <a:extLst>
              <a:ext uri="{FF2B5EF4-FFF2-40B4-BE49-F238E27FC236}">
                <a16:creationId xmlns:a16="http://schemas.microsoft.com/office/drawing/2014/main" id="{2BC6D4DE-B9DA-4FD2-A997-14A566E8D5B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34863" indent="-282640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30558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582781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35005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48722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39451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391675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4389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A5814F0E-33C5-4FFC-97A8-A1EDBAA0258F}" type="slidenum">
              <a:rPr lang="en-US" altLang="en-US" sz="1200"/>
              <a:pPr/>
              <a:t>2</a:t>
            </a:fld>
            <a:endParaRPr lang="en-US" altLang="en-US" sz="1200" dirty="0"/>
          </a:p>
        </p:txBody>
      </p:sp>
      <p:sp>
        <p:nvSpPr>
          <p:cNvPr id="72706" name="Rectangle 2"/>
          <p:cNvSpPr>
            <a:spLocks noChangeArrowheads="1"/>
          </p:cNvSpPr>
          <p:nvPr/>
        </p:nvSpPr>
        <p:spPr bwMode="auto">
          <a:xfrm>
            <a:off x="3965991" y="1"/>
            <a:ext cx="3031710" cy="4622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286" tIns="45643" rIns="91286" bIns="45643" anchor="ctr"/>
          <a:lstStyle>
            <a:lvl1pPr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endParaRPr lang="en-US" altLang="en-US" sz="1800" dirty="0"/>
          </a:p>
        </p:txBody>
      </p:sp>
      <p:sp>
        <p:nvSpPr>
          <p:cNvPr id="72707" name="Rectangle 3"/>
          <p:cNvSpPr>
            <a:spLocks noChangeArrowheads="1"/>
          </p:cNvSpPr>
          <p:nvPr/>
        </p:nvSpPr>
        <p:spPr bwMode="auto">
          <a:xfrm>
            <a:off x="3965991" y="8821402"/>
            <a:ext cx="3031710" cy="4622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903" tIns="45146" rIns="91903" bIns="45146" anchor="b"/>
          <a:lstStyle>
            <a:lvl1pPr defTabSz="930275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30275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30275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30275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30275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r"/>
            <a:r>
              <a:rPr lang="en-US" altLang="en-US" sz="1300" dirty="0">
                <a:latin typeface="Times New Roman" panose="02020603050405020304" pitchFamily="18" charset="0"/>
              </a:rPr>
              <a:t>1</a:t>
            </a:r>
          </a:p>
        </p:txBody>
      </p:sp>
      <p:sp>
        <p:nvSpPr>
          <p:cNvPr id="72708" name="Rectangle 4"/>
          <p:cNvSpPr>
            <a:spLocks noChangeArrowheads="1"/>
          </p:cNvSpPr>
          <p:nvPr/>
        </p:nvSpPr>
        <p:spPr bwMode="auto">
          <a:xfrm>
            <a:off x="0" y="8821402"/>
            <a:ext cx="3031710" cy="4622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286" tIns="45643" rIns="91286" bIns="45643" anchor="ctr"/>
          <a:lstStyle>
            <a:lvl1pPr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endParaRPr lang="en-US" altLang="en-US" sz="1800" dirty="0"/>
          </a:p>
        </p:txBody>
      </p:sp>
      <p:sp>
        <p:nvSpPr>
          <p:cNvPr id="72709" name="Rectangle 5"/>
          <p:cNvSpPr>
            <a:spLocks noChangeArrowheads="1"/>
          </p:cNvSpPr>
          <p:nvPr/>
        </p:nvSpPr>
        <p:spPr bwMode="auto">
          <a:xfrm>
            <a:off x="0" y="1"/>
            <a:ext cx="3031710" cy="4622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286" tIns="45643" rIns="91286" bIns="45643" anchor="ctr"/>
          <a:lstStyle>
            <a:lvl1pPr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endParaRPr lang="en-US" altLang="en-US" sz="1800" dirty="0"/>
          </a:p>
        </p:txBody>
      </p:sp>
      <p:sp>
        <p:nvSpPr>
          <p:cNvPr id="72710" name="Rectangle 6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7450" y="703263"/>
            <a:ext cx="4622800" cy="3467100"/>
          </a:xfrm>
          <a:ln w="12700" cap="flat"/>
        </p:spPr>
      </p:sp>
      <p:sp>
        <p:nvSpPr>
          <p:cNvPr id="72711" name="Rectangle 7"/>
          <p:cNvSpPr>
            <a:spLocks noGrp="1" noChangeArrowheads="1"/>
          </p:cNvSpPr>
          <p:nvPr>
            <p:ph type="body" idx="1"/>
          </p:nvPr>
        </p:nvSpPr>
        <p:spPr>
          <a:xfrm>
            <a:off x="931146" y="4410702"/>
            <a:ext cx="5135409" cy="4174834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903" tIns="45146" rIns="91903" bIns="45146" anchor="ctr"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1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787" eaLnBrk="0" hangingPunct="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1761" indent="-285293" defTabSz="928787" eaLnBrk="0" hangingPunct="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1171" indent="-228234" defTabSz="928787" eaLnBrk="0" hangingPunct="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597640" indent="-228234" defTabSz="928787" eaLnBrk="0" hangingPunct="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4108" indent="-228234" defTabSz="928787" eaLnBrk="0" hangingPunct="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0577" indent="-228234" defTabSz="928787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67045" indent="-228234" defTabSz="928787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3514" indent="-228234" defTabSz="928787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79982" indent="-228234" defTabSz="928787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B24B64C8-56F4-412C-A096-460A1996127B}" type="slidenum">
              <a:rPr lang="en-US" altLang="en-US" sz="1200"/>
              <a:pPr/>
              <a:t>3</a:t>
            </a:fld>
            <a:endParaRPr lang="en-US" altLang="en-US" sz="1200" dirty="0"/>
          </a:p>
        </p:txBody>
      </p:sp>
      <p:sp>
        <p:nvSpPr>
          <p:cNvPr id="3072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072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34863" indent="-282640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30558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582781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35005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48722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39451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391675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4389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A5814F0E-33C5-4FFC-97A8-A1EDBAA0258F}" type="slidenum">
              <a:rPr lang="en-US" altLang="en-US" sz="1200"/>
              <a:pPr/>
              <a:t>4</a:t>
            </a:fld>
            <a:endParaRPr lang="en-US" altLang="en-US" sz="1200" dirty="0"/>
          </a:p>
        </p:txBody>
      </p:sp>
      <p:sp>
        <p:nvSpPr>
          <p:cNvPr id="72706" name="Rectangle 2"/>
          <p:cNvSpPr>
            <a:spLocks noChangeArrowheads="1"/>
          </p:cNvSpPr>
          <p:nvPr/>
        </p:nvSpPr>
        <p:spPr bwMode="auto">
          <a:xfrm>
            <a:off x="3965991" y="1"/>
            <a:ext cx="3031710" cy="4622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286" tIns="45643" rIns="91286" bIns="45643" anchor="ctr"/>
          <a:lstStyle>
            <a:lvl1pPr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endParaRPr lang="en-US" altLang="en-US" sz="1800" dirty="0"/>
          </a:p>
        </p:txBody>
      </p:sp>
      <p:sp>
        <p:nvSpPr>
          <p:cNvPr id="72707" name="Rectangle 3"/>
          <p:cNvSpPr>
            <a:spLocks noChangeArrowheads="1"/>
          </p:cNvSpPr>
          <p:nvPr/>
        </p:nvSpPr>
        <p:spPr bwMode="auto">
          <a:xfrm>
            <a:off x="3965991" y="8821402"/>
            <a:ext cx="3031710" cy="4622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903" tIns="45146" rIns="91903" bIns="45146" anchor="b"/>
          <a:lstStyle>
            <a:lvl1pPr defTabSz="930275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30275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30275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30275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30275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r"/>
            <a:r>
              <a:rPr lang="en-US" altLang="en-US" sz="1300" dirty="0">
                <a:latin typeface="Times New Roman" panose="02020603050405020304" pitchFamily="18" charset="0"/>
              </a:rPr>
              <a:t>1</a:t>
            </a:r>
          </a:p>
        </p:txBody>
      </p:sp>
      <p:sp>
        <p:nvSpPr>
          <p:cNvPr id="72708" name="Rectangle 4"/>
          <p:cNvSpPr>
            <a:spLocks noChangeArrowheads="1"/>
          </p:cNvSpPr>
          <p:nvPr/>
        </p:nvSpPr>
        <p:spPr bwMode="auto">
          <a:xfrm>
            <a:off x="0" y="8821402"/>
            <a:ext cx="3031710" cy="4622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286" tIns="45643" rIns="91286" bIns="45643" anchor="ctr"/>
          <a:lstStyle>
            <a:lvl1pPr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endParaRPr lang="en-US" altLang="en-US" sz="1800" dirty="0"/>
          </a:p>
        </p:txBody>
      </p:sp>
      <p:sp>
        <p:nvSpPr>
          <p:cNvPr id="72709" name="Rectangle 5"/>
          <p:cNvSpPr>
            <a:spLocks noChangeArrowheads="1"/>
          </p:cNvSpPr>
          <p:nvPr/>
        </p:nvSpPr>
        <p:spPr bwMode="auto">
          <a:xfrm>
            <a:off x="0" y="1"/>
            <a:ext cx="3031710" cy="4622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286" tIns="45643" rIns="91286" bIns="45643" anchor="ctr"/>
          <a:lstStyle>
            <a:lvl1pPr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endParaRPr lang="en-US" altLang="en-US" sz="1800" dirty="0"/>
          </a:p>
        </p:txBody>
      </p:sp>
      <p:sp>
        <p:nvSpPr>
          <p:cNvPr id="72710" name="Rectangle 6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7450" y="703263"/>
            <a:ext cx="4622800" cy="3467100"/>
          </a:xfrm>
          <a:ln w="12700" cap="flat"/>
        </p:spPr>
      </p:sp>
      <p:sp>
        <p:nvSpPr>
          <p:cNvPr id="72711" name="Rectangle 7"/>
          <p:cNvSpPr>
            <a:spLocks noGrp="1" noChangeArrowheads="1"/>
          </p:cNvSpPr>
          <p:nvPr>
            <p:ph type="body" idx="1"/>
          </p:nvPr>
        </p:nvSpPr>
        <p:spPr>
          <a:xfrm>
            <a:off x="931146" y="4410702"/>
            <a:ext cx="5135409" cy="4174834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903" tIns="45146" rIns="91903" bIns="45146" anchor="ctr"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8149289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787" eaLnBrk="0" hangingPunct="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1761" indent="-285293" defTabSz="928787" eaLnBrk="0" hangingPunct="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1171" indent="-228234" defTabSz="928787" eaLnBrk="0" hangingPunct="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597640" indent="-228234" defTabSz="928787" eaLnBrk="0" hangingPunct="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4108" indent="-228234" defTabSz="928787" eaLnBrk="0" hangingPunct="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0577" indent="-228234" defTabSz="928787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67045" indent="-228234" defTabSz="928787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3514" indent="-228234" defTabSz="928787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79982" indent="-228234" defTabSz="928787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348DD873-39B1-4B0F-9E11-CA0A5E740CE2}" type="slidenum">
              <a:rPr lang="en-US" altLang="en-US" sz="1200"/>
              <a:pPr/>
              <a:t>5</a:t>
            </a:fld>
            <a:endParaRPr lang="en-US" altLang="en-US" sz="1200" dirty="0"/>
          </a:p>
        </p:txBody>
      </p:sp>
      <p:sp>
        <p:nvSpPr>
          <p:cNvPr id="317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174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787" eaLnBrk="0" hangingPunct="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1761" indent="-285293" defTabSz="928787" eaLnBrk="0" hangingPunct="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1171" indent="-228234" defTabSz="928787" eaLnBrk="0" hangingPunct="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597640" indent="-228234" defTabSz="928787" eaLnBrk="0" hangingPunct="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4108" indent="-228234" defTabSz="928787" eaLnBrk="0" hangingPunct="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0577" indent="-228234" defTabSz="928787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67045" indent="-228234" defTabSz="928787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3514" indent="-228234" defTabSz="928787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79982" indent="-228234" defTabSz="928787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348DD873-39B1-4B0F-9E11-CA0A5E740CE2}" type="slidenum">
              <a:rPr lang="en-US" altLang="en-US" sz="1200"/>
              <a:pPr/>
              <a:t>6</a:t>
            </a:fld>
            <a:endParaRPr lang="en-US" altLang="en-US" sz="1200" dirty="0"/>
          </a:p>
        </p:txBody>
      </p:sp>
      <p:sp>
        <p:nvSpPr>
          <p:cNvPr id="317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174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7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787" eaLnBrk="0" hangingPunct="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1761" indent="-285293" defTabSz="928787" eaLnBrk="0" hangingPunct="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1171" indent="-228234" defTabSz="928787" eaLnBrk="0" hangingPunct="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597640" indent="-228234" defTabSz="928787" eaLnBrk="0" hangingPunct="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4108" indent="-228234" defTabSz="928787" eaLnBrk="0" hangingPunct="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0577" indent="-228234" defTabSz="928787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67045" indent="-228234" defTabSz="928787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3514" indent="-228234" defTabSz="928787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79982" indent="-228234" defTabSz="928787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CA82168F-E865-405F-BB81-ED9E0172F23B}" type="slidenum">
              <a:rPr lang="en-US" altLang="en-US" sz="1200"/>
              <a:pPr/>
              <a:t>7</a:t>
            </a:fld>
            <a:endParaRPr lang="en-US" altLang="en-US" sz="1200" dirty="0"/>
          </a:p>
        </p:txBody>
      </p:sp>
      <p:sp>
        <p:nvSpPr>
          <p:cNvPr id="348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481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7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787" eaLnBrk="0" hangingPunct="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1761" indent="-285293" defTabSz="928787" eaLnBrk="0" hangingPunct="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1171" indent="-228234" defTabSz="928787" eaLnBrk="0" hangingPunct="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597640" indent="-228234" defTabSz="928787" eaLnBrk="0" hangingPunct="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4108" indent="-228234" defTabSz="928787" eaLnBrk="0" hangingPunct="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0577" indent="-228234" defTabSz="928787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67045" indent="-228234" defTabSz="928787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3514" indent="-228234" defTabSz="928787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79982" indent="-228234" defTabSz="928787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CA82168F-E865-405F-BB81-ED9E0172F23B}" type="slidenum">
              <a:rPr lang="en-US" altLang="en-US" sz="1200"/>
              <a:pPr/>
              <a:t>8</a:t>
            </a:fld>
            <a:endParaRPr lang="en-US" altLang="en-US" sz="1200" dirty="0"/>
          </a:p>
        </p:txBody>
      </p:sp>
      <p:sp>
        <p:nvSpPr>
          <p:cNvPr id="348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481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787" eaLnBrk="0" hangingPunct="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1761" indent="-285293" defTabSz="928787" eaLnBrk="0" hangingPunct="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1171" indent="-228234" defTabSz="928787" eaLnBrk="0" hangingPunct="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597640" indent="-228234" defTabSz="928787" eaLnBrk="0" hangingPunct="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4108" indent="-228234" defTabSz="928787" eaLnBrk="0" hangingPunct="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0577" indent="-228234" defTabSz="928787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67045" indent="-228234" defTabSz="928787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3514" indent="-228234" defTabSz="928787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79982" indent="-228234" defTabSz="928787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3F209238-363D-4A4D-99AF-38838EDEB568}" type="slidenum">
              <a:rPr lang="en-US" altLang="en-US" sz="1200"/>
              <a:pPr/>
              <a:t>12</a:t>
            </a:fld>
            <a:endParaRPr lang="en-US" altLang="en-US" sz="1200" dirty="0"/>
          </a:p>
        </p:txBody>
      </p:sp>
      <p:sp>
        <p:nvSpPr>
          <p:cNvPr id="358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 dirty="0">
                <a:latin typeface="Times New Roman" panose="02020603050405020304" pitchFamily="18" charset="0"/>
              </a:rPr>
              <a:t>Pure here means that they deal with the notion of “unordered sets”. Independent of order, limit by </a:t>
            </a:r>
            <a:r>
              <a:rPr lang="en-US" altLang="en-US" dirty="0" err="1">
                <a:latin typeface="Times New Roman" panose="02020603050405020304" pitchFamily="18" charset="0"/>
              </a:rPr>
              <a:t>etc</a:t>
            </a:r>
            <a:r>
              <a:rPr lang="en-US" altLang="en-US" dirty="0">
                <a:latin typeface="Times New Roman" panose="02020603050405020304" pitchFamily="18" charset="0"/>
              </a:rPr>
              <a:t> which SQL has but relational algebra does not.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179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873" indent="-285721" defTabSz="930179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2883" indent="-228577" defTabSz="930179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036" indent="-228577" defTabSz="930179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189" indent="-228577" defTabSz="930179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343" indent="-228577" defTabSz="930179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496" indent="-228577" defTabSz="930179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8649" indent="-228577" defTabSz="930179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5802" indent="-228577" defTabSz="930179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6CB64798-7BD6-4B88-81ED-0C1AFAB11F92}" type="slidenum">
              <a:rPr lang="en-US" altLang="en-US" sz="1300">
                <a:latin typeface="Times New Roman" panose="02020603050405020304" pitchFamily="18" charset="0"/>
              </a:rPr>
              <a:pPr/>
              <a:t>13</a:t>
            </a:fld>
            <a:endParaRPr lang="en-US" altLang="en-US" sz="1300" dirty="0">
              <a:latin typeface="Times New Roman" panose="02020603050405020304" pitchFamily="18" charset="0"/>
            </a:endParaRPr>
          </a:p>
        </p:txBody>
      </p:sp>
      <p:sp>
        <p:nvSpPr>
          <p:cNvPr id="337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379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7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179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873" indent="-285721" defTabSz="930179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2883" indent="-228577" defTabSz="930179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036" indent="-228577" defTabSz="930179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189" indent="-228577" defTabSz="930179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343" indent="-228577" defTabSz="930179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496" indent="-228577" defTabSz="930179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8649" indent="-228577" defTabSz="930179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5802" indent="-228577" defTabSz="930179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133648DA-533A-4CF4-BE6A-7CC0C8DD9180}" type="slidenum">
              <a:rPr lang="en-US" altLang="en-US" sz="1300">
                <a:latin typeface="Times New Roman" panose="02020603050405020304" pitchFamily="18" charset="0"/>
              </a:rPr>
              <a:pPr/>
              <a:t>14</a:t>
            </a:fld>
            <a:endParaRPr lang="en-US" altLang="en-US" sz="1300" dirty="0">
              <a:latin typeface="Times New Roman" panose="02020603050405020304" pitchFamily="18" charset="0"/>
            </a:endParaRPr>
          </a:p>
        </p:txBody>
      </p:sp>
      <p:sp>
        <p:nvSpPr>
          <p:cNvPr id="348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481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7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179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873" indent="-285721" defTabSz="930179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2883" indent="-228577" defTabSz="930179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036" indent="-228577" defTabSz="930179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189" indent="-228577" defTabSz="930179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343" indent="-228577" defTabSz="930179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496" indent="-228577" defTabSz="930179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8649" indent="-228577" defTabSz="930179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5802" indent="-228577" defTabSz="930179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133648DA-533A-4CF4-BE6A-7CC0C8DD9180}" type="slidenum">
              <a:rPr lang="en-US" altLang="en-US" sz="1300">
                <a:latin typeface="Times New Roman" panose="02020603050405020304" pitchFamily="18" charset="0"/>
              </a:rPr>
              <a:pPr/>
              <a:t>15</a:t>
            </a:fld>
            <a:endParaRPr lang="en-US" altLang="en-US" sz="1300" dirty="0">
              <a:latin typeface="Times New Roman" panose="02020603050405020304" pitchFamily="18" charset="0"/>
            </a:endParaRPr>
          </a:p>
        </p:txBody>
      </p:sp>
      <p:sp>
        <p:nvSpPr>
          <p:cNvPr id="348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481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352127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179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873" indent="-285721" defTabSz="930179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2883" indent="-228577" defTabSz="930179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036" indent="-228577" defTabSz="930179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189" indent="-228577" defTabSz="930179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343" indent="-228577" defTabSz="930179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496" indent="-228577" defTabSz="930179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8649" indent="-228577" defTabSz="930179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5802" indent="-228577" defTabSz="930179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1D4AE86D-105E-4E6D-B77F-4AC8A2CFF942}" type="slidenum">
              <a:rPr lang="en-US" altLang="en-US" sz="1300">
                <a:latin typeface="Times New Roman" panose="02020603050405020304" pitchFamily="18" charset="0"/>
              </a:rPr>
              <a:pPr/>
              <a:t>16</a:t>
            </a:fld>
            <a:endParaRPr lang="en-US" altLang="en-US" sz="1300" dirty="0">
              <a:latin typeface="Times New Roman" panose="02020603050405020304" pitchFamily="18" charset="0"/>
            </a:endParaRPr>
          </a:p>
        </p:txBody>
      </p:sp>
      <p:sp>
        <p:nvSpPr>
          <p:cNvPr id="358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179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873" indent="-285721" defTabSz="930179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2883" indent="-228577" defTabSz="930179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036" indent="-228577" defTabSz="930179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189" indent="-228577" defTabSz="930179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343" indent="-228577" defTabSz="930179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496" indent="-228577" defTabSz="930179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8649" indent="-228577" defTabSz="930179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5802" indent="-228577" defTabSz="930179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1D4AE86D-105E-4E6D-B77F-4AC8A2CFF942}" type="slidenum">
              <a:rPr lang="en-US" altLang="en-US" sz="1300">
                <a:latin typeface="Times New Roman" panose="02020603050405020304" pitchFamily="18" charset="0"/>
              </a:rPr>
              <a:pPr/>
              <a:t>17</a:t>
            </a:fld>
            <a:endParaRPr lang="en-US" altLang="en-US" sz="1300" dirty="0">
              <a:latin typeface="Times New Roman" panose="02020603050405020304" pitchFamily="18" charset="0"/>
            </a:endParaRPr>
          </a:p>
        </p:txBody>
      </p:sp>
      <p:sp>
        <p:nvSpPr>
          <p:cNvPr id="358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179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873" indent="-285721" defTabSz="930179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2883" indent="-228577" defTabSz="930179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036" indent="-228577" defTabSz="930179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189" indent="-228577" defTabSz="930179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343" indent="-228577" defTabSz="930179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496" indent="-228577" defTabSz="930179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8649" indent="-228577" defTabSz="930179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5802" indent="-228577" defTabSz="930179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6CB64798-7BD6-4B88-81ED-0C1AFAB11F92}" type="slidenum">
              <a:rPr lang="en-US" altLang="en-US" sz="1300">
                <a:latin typeface="Times New Roman" panose="02020603050405020304" pitchFamily="18" charset="0"/>
              </a:rPr>
              <a:pPr/>
              <a:t>18</a:t>
            </a:fld>
            <a:endParaRPr lang="en-US" altLang="en-US" sz="1300" dirty="0">
              <a:latin typeface="Times New Roman" panose="02020603050405020304" pitchFamily="18" charset="0"/>
            </a:endParaRPr>
          </a:p>
        </p:txBody>
      </p:sp>
      <p:sp>
        <p:nvSpPr>
          <p:cNvPr id="337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379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7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179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873" indent="-285721" defTabSz="930179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2883" indent="-228577" defTabSz="930179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036" indent="-228577" defTabSz="930179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189" indent="-228577" defTabSz="930179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343" indent="-228577" defTabSz="930179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496" indent="-228577" defTabSz="930179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8649" indent="-228577" defTabSz="930179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5802" indent="-228577" defTabSz="930179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E04B7984-B6AD-4D3E-800B-506D1974D9BE}" type="slidenum">
              <a:rPr lang="en-US" altLang="en-US" sz="1300">
                <a:latin typeface="Times New Roman" panose="02020603050405020304" pitchFamily="18" charset="0"/>
              </a:rPr>
              <a:pPr/>
              <a:t>19</a:t>
            </a:fld>
            <a:endParaRPr lang="en-US" altLang="en-US" sz="1300" dirty="0">
              <a:latin typeface="Times New Roman" panose="02020603050405020304" pitchFamily="18" charset="0"/>
            </a:endParaRPr>
          </a:p>
        </p:txBody>
      </p:sp>
      <p:sp>
        <p:nvSpPr>
          <p:cNvPr id="399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993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7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179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873" indent="-285721" defTabSz="930179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2883" indent="-228577" defTabSz="930179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036" indent="-228577" defTabSz="930179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189" indent="-228577" defTabSz="930179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343" indent="-228577" defTabSz="930179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496" indent="-228577" defTabSz="930179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8649" indent="-228577" defTabSz="930179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5802" indent="-228577" defTabSz="930179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E04B7984-B6AD-4D3E-800B-506D1974D9BE}" type="slidenum">
              <a:rPr lang="en-US" altLang="en-US" sz="1300">
                <a:latin typeface="Times New Roman" panose="02020603050405020304" pitchFamily="18" charset="0"/>
              </a:rPr>
              <a:pPr/>
              <a:t>20</a:t>
            </a:fld>
            <a:endParaRPr lang="en-US" altLang="en-US" sz="1300" dirty="0">
              <a:latin typeface="Times New Roman" panose="02020603050405020304" pitchFamily="18" charset="0"/>
            </a:endParaRPr>
          </a:p>
        </p:txBody>
      </p:sp>
      <p:sp>
        <p:nvSpPr>
          <p:cNvPr id="399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993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7690030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179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873" indent="-285721" defTabSz="930179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2883" indent="-228577" defTabSz="930179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036" indent="-228577" defTabSz="930179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189" indent="-228577" defTabSz="930179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343" indent="-228577" defTabSz="930179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496" indent="-228577" defTabSz="930179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8649" indent="-228577" defTabSz="930179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5802" indent="-228577" defTabSz="930179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6CB64798-7BD6-4B88-81ED-0C1AFAB11F92}" type="slidenum">
              <a:rPr lang="en-US" altLang="en-US" sz="1300">
                <a:latin typeface="Times New Roman" panose="02020603050405020304" pitchFamily="18" charset="0"/>
              </a:rPr>
              <a:pPr/>
              <a:t>21</a:t>
            </a:fld>
            <a:endParaRPr lang="en-US" altLang="en-US" sz="1300" dirty="0">
              <a:latin typeface="Times New Roman" panose="02020603050405020304" pitchFamily="18" charset="0"/>
            </a:endParaRPr>
          </a:p>
        </p:txBody>
      </p:sp>
      <p:sp>
        <p:nvSpPr>
          <p:cNvPr id="337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379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179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873" indent="-285721" defTabSz="930179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2883" indent="-228577" defTabSz="930179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036" indent="-228577" defTabSz="930179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189" indent="-228577" defTabSz="930179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343" indent="-228577" defTabSz="930179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496" indent="-228577" defTabSz="930179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8649" indent="-228577" defTabSz="930179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5802" indent="-228577" defTabSz="930179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6CB64798-7BD6-4B88-81ED-0C1AFAB11F92}" type="slidenum">
              <a:rPr lang="en-US" altLang="en-US" sz="1300">
                <a:latin typeface="Times New Roman" panose="02020603050405020304" pitchFamily="18" charset="0"/>
              </a:rPr>
              <a:pPr/>
              <a:t>22</a:t>
            </a:fld>
            <a:endParaRPr lang="en-US" altLang="en-US" sz="1300" dirty="0">
              <a:latin typeface="Times New Roman" panose="02020603050405020304" pitchFamily="18" charset="0"/>
            </a:endParaRPr>
          </a:p>
        </p:txBody>
      </p:sp>
      <p:sp>
        <p:nvSpPr>
          <p:cNvPr id="337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379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179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873" indent="-285721" defTabSz="930179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2883" indent="-228577" defTabSz="930179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036" indent="-228577" defTabSz="930179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189" indent="-228577" defTabSz="930179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343" indent="-228577" defTabSz="930179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496" indent="-228577" defTabSz="930179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8649" indent="-228577" defTabSz="930179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5802" indent="-228577" defTabSz="930179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6CB64798-7BD6-4B88-81ED-0C1AFAB11F92}" type="slidenum">
              <a:rPr lang="en-US" altLang="en-US" sz="1300">
                <a:latin typeface="Times New Roman" panose="02020603050405020304" pitchFamily="18" charset="0"/>
              </a:rPr>
              <a:pPr/>
              <a:t>23</a:t>
            </a:fld>
            <a:endParaRPr lang="en-US" altLang="en-US" sz="1300" dirty="0">
              <a:latin typeface="Times New Roman" panose="02020603050405020304" pitchFamily="18" charset="0"/>
            </a:endParaRPr>
          </a:p>
        </p:txBody>
      </p:sp>
      <p:sp>
        <p:nvSpPr>
          <p:cNvPr id="337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379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179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873" indent="-285721" defTabSz="930179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2883" indent="-228577" defTabSz="930179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036" indent="-228577" defTabSz="930179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189" indent="-228577" defTabSz="930179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343" indent="-228577" defTabSz="930179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496" indent="-228577" defTabSz="930179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8649" indent="-228577" defTabSz="930179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5802" indent="-228577" defTabSz="930179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2E6BB600-5F46-4F6C-928D-3BCCB73D5636}" type="slidenum">
              <a:rPr lang="en-US" altLang="en-US" sz="1300">
                <a:latin typeface="Times New Roman" panose="02020603050405020304" pitchFamily="18" charset="0"/>
              </a:rPr>
              <a:pPr/>
              <a:t>24</a:t>
            </a:fld>
            <a:endParaRPr lang="en-US" altLang="en-US" sz="1300" dirty="0">
              <a:latin typeface="Times New Roman" panose="02020603050405020304" pitchFamily="18" charset="0"/>
            </a:endParaRPr>
          </a:p>
        </p:txBody>
      </p:sp>
      <p:sp>
        <p:nvSpPr>
          <p:cNvPr id="3686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686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179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873" indent="-285721" defTabSz="930179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2883" indent="-228577" defTabSz="930179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036" indent="-228577" defTabSz="930179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189" indent="-228577" defTabSz="930179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343" indent="-228577" defTabSz="930179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496" indent="-228577" defTabSz="930179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8649" indent="-228577" defTabSz="930179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5802" indent="-228577" defTabSz="930179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2E6BB600-5F46-4F6C-928D-3BCCB73D5636}" type="slidenum">
              <a:rPr lang="en-US" altLang="en-US" sz="1300">
                <a:latin typeface="Times New Roman" panose="02020603050405020304" pitchFamily="18" charset="0"/>
              </a:rPr>
              <a:pPr/>
              <a:t>26</a:t>
            </a:fld>
            <a:endParaRPr lang="en-US" altLang="en-US" sz="1300" dirty="0">
              <a:latin typeface="Times New Roman" panose="02020603050405020304" pitchFamily="18" charset="0"/>
            </a:endParaRPr>
          </a:p>
        </p:txBody>
      </p:sp>
      <p:sp>
        <p:nvSpPr>
          <p:cNvPr id="3686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686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179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873" indent="-285721" defTabSz="930179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2883" indent="-228577" defTabSz="930179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036" indent="-228577" defTabSz="930179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189" indent="-228577" defTabSz="930179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343" indent="-228577" defTabSz="930179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496" indent="-228577" defTabSz="930179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8649" indent="-228577" defTabSz="930179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5802" indent="-228577" defTabSz="930179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0351035C-5808-407C-8457-78863416B201}" type="slidenum">
              <a:rPr lang="en-US" altLang="en-US" sz="1300">
                <a:latin typeface="Times New Roman" panose="02020603050405020304" pitchFamily="18" charset="0"/>
              </a:rPr>
              <a:pPr/>
              <a:t>27</a:t>
            </a:fld>
            <a:endParaRPr lang="en-US" altLang="en-US" sz="1300" dirty="0">
              <a:latin typeface="Times New Roman" panose="02020603050405020304" pitchFamily="18" charset="0"/>
            </a:endParaRPr>
          </a:p>
        </p:txBody>
      </p:sp>
      <p:sp>
        <p:nvSpPr>
          <p:cNvPr id="389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891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89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179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873" indent="-285721" defTabSz="930179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2883" indent="-228577" defTabSz="930179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036" indent="-228577" defTabSz="930179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189" indent="-228577" defTabSz="930179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343" indent="-228577" defTabSz="930179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496" indent="-228577" defTabSz="930179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8649" indent="-228577" defTabSz="930179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5802" indent="-228577" defTabSz="930179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6434B2C1-B6FF-4E08-B576-E580E4C742E5}" type="slidenum">
              <a:rPr lang="en-US" altLang="en-US" sz="1300">
                <a:latin typeface="Times New Roman" panose="02020603050405020304" pitchFamily="18" charset="0"/>
              </a:rPr>
              <a:pPr/>
              <a:t>28</a:t>
            </a:fld>
            <a:endParaRPr lang="en-US" altLang="en-US" sz="1300" dirty="0">
              <a:latin typeface="Times New Roman" panose="02020603050405020304" pitchFamily="18" charset="0"/>
            </a:endParaRPr>
          </a:p>
        </p:txBody>
      </p:sp>
      <p:sp>
        <p:nvSpPr>
          <p:cNvPr id="3789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789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179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873" indent="-285721" defTabSz="930179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2883" indent="-228577" defTabSz="930179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036" indent="-228577" defTabSz="930179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189" indent="-228577" defTabSz="930179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343" indent="-228577" defTabSz="930179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496" indent="-228577" defTabSz="930179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8649" indent="-228577" defTabSz="930179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5802" indent="-228577" defTabSz="930179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6CB64798-7BD6-4B88-81ED-0C1AFAB11F92}" type="slidenum">
              <a:rPr lang="en-US" altLang="en-US" sz="1300">
                <a:latin typeface="Times New Roman" panose="02020603050405020304" pitchFamily="18" charset="0"/>
              </a:rPr>
              <a:pPr/>
              <a:t>29</a:t>
            </a:fld>
            <a:endParaRPr lang="en-US" altLang="en-US" sz="1300" dirty="0">
              <a:latin typeface="Times New Roman" panose="02020603050405020304" pitchFamily="18" charset="0"/>
            </a:endParaRPr>
          </a:p>
        </p:txBody>
      </p:sp>
      <p:sp>
        <p:nvSpPr>
          <p:cNvPr id="337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379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179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873" indent="-285721" defTabSz="930179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2883" indent="-228577" defTabSz="930179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036" indent="-228577" defTabSz="930179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189" indent="-228577" defTabSz="930179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343" indent="-228577" defTabSz="930179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496" indent="-228577" defTabSz="930179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8649" indent="-228577" defTabSz="930179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5802" indent="-228577" defTabSz="930179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6CB64798-7BD6-4B88-81ED-0C1AFAB11F92}" type="slidenum">
              <a:rPr lang="en-US" altLang="en-US" sz="1300">
                <a:latin typeface="Times New Roman" panose="02020603050405020304" pitchFamily="18" charset="0"/>
              </a:rPr>
              <a:pPr/>
              <a:t>30</a:t>
            </a:fld>
            <a:endParaRPr lang="en-US" altLang="en-US" sz="1300" dirty="0">
              <a:latin typeface="Times New Roman" panose="02020603050405020304" pitchFamily="18" charset="0"/>
            </a:endParaRPr>
          </a:p>
        </p:txBody>
      </p:sp>
      <p:sp>
        <p:nvSpPr>
          <p:cNvPr id="337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379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49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34863" indent="-282640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30558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582781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35005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48722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39451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391675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4389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6A527C20-D984-443D-9364-8D80E7D14902}" type="slidenum">
              <a:rPr lang="en-US" altLang="en-US" sz="1200"/>
              <a:pPr/>
              <a:t>31</a:t>
            </a:fld>
            <a:endParaRPr lang="en-US" altLang="en-US" sz="1200" dirty="0"/>
          </a:p>
        </p:txBody>
      </p:sp>
      <p:sp>
        <p:nvSpPr>
          <p:cNvPr id="10445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7450" y="703263"/>
            <a:ext cx="4622800" cy="3467100"/>
          </a:xfrm>
          <a:ln/>
        </p:spPr>
      </p:sp>
      <p:sp>
        <p:nvSpPr>
          <p:cNvPr id="10445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146" y="4410702"/>
            <a:ext cx="5135409" cy="4174834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34863" indent="-282640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30558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582781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35005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48722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39451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391675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4389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643D6E09-C3BD-4C9F-8640-BDE33C2397BD}" type="slidenum">
              <a:rPr lang="en-US" altLang="en-US" sz="1200"/>
              <a:pPr/>
              <a:t>32</a:t>
            </a:fld>
            <a:endParaRPr lang="en-US" altLang="en-US" sz="1200" dirty="0"/>
          </a:p>
        </p:txBody>
      </p:sp>
      <p:sp>
        <p:nvSpPr>
          <p:cNvPr id="10547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7450" y="703263"/>
            <a:ext cx="4622800" cy="3467100"/>
          </a:xfrm>
          <a:ln/>
        </p:spPr>
      </p:sp>
      <p:sp>
        <p:nvSpPr>
          <p:cNvPr id="10547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146" y="4410702"/>
            <a:ext cx="5135409" cy="4174834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97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34863" indent="-282640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30558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582781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35005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48722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39451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391675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4389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E8E38463-D7D2-48E0-9845-AEDC12745945}" type="slidenum">
              <a:rPr lang="en-US" altLang="en-US" sz="1200"/>
              <a:pPr/>
              <a:t>33</a:t>
            </a:fld>
            <a:endParaRPr lang="en-US" altLang="en-US" sz="1200" dirty="0"/>
          </a:p>
        </p:txBody>
      </p:sp>
      <p:sp>
        <p:nvSpPr>
          <p:cNvPr id="10649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7450" y="703263"/>
            <a:ext cx="4622800" cy="3467100"/>
          </a:xfrm>
          <a:ln/>
        </p:spPr>
      </p:sp>
      <p:sp>
        <p:nvSpPr>
          <p:cNvPr id="1064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146" y="4410702"/>
            <a:ext cx="5135409" cy="4174834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179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873" indent="-285721" defTabSz="930179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2883" indent="-228577" defTabSz="930179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036" indent="-228577" defTabSz="930179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189" indent="-228577" defTabSz="930179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343" indent="-228577" defTabSz="930179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496" indent="-228577" defTabSz="930179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8649" indent="-228577" defTabSz="930179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5802" indent="-228577" defTabSz="930179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6CB64798-7BD6-4B88-81ED-0C1AFAB11F92}" type="slidenum">
              <a:rPr lang="en-US" altLang="en-US" sz="1300">
                <a:latin typeface="Times New Roman" panose="02020603050405020304" pitchFamily="18" charset="0"/>
              </a:rPr>
              <a:pPr/>
              <a:t>34</a:t>
            </a:fld>
            <a:endParaRPr lang="en-US" altLang="en-US" sz="1300" dirty="0">
              <a:latin typeface="Times New Roman" panose="02020603050405020304" pitchFamily="18" charset="0"/>
            </a:endParaRPr>
          </a:p>
        </p:txBody>
      </p:sp>
      <p:sp>
        <p:nvSpPr>
          <p:cNvPr id="337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379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179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873" indent="-285721" defTabSz="930179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2883" indent="-228577" defTabSz="930179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036" indent="-228577" defTabSz="930179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189" indent="-228577" defTabSz="930179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343" indent="-228577" defTabSz="930179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496" indent="-228577" defTabSz="930179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8649" indent="-228577" defTabSz="930179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5802" indent="-228577" defTabSz="930179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6CB64798-7BD6-4B88-81ED-0C1AFAB11F92}" type="slidenum">
              <a:rPr lang="en-US" altLang="en-US" sz="1300">
                <a:latin typeface="Times New Roman" panose="02020603050405020304" pitchFamily="18" charset="0"/>
              </a:rPr>
              <a:pPr/>
              <a:t>35</a:t>
            </a:fld>
            <a:endParaRPr lang="en-US" altLang="en-US" sz="1300" dirty="0">
              <a:latin typeface="Times New Roman" panose="02020603050405020304" pitchFamily="18" charset="0"/>
            </a:endParaRPr>
          </a:p>
        </p:txBody>
      </p:sp>
      <p:sp>
        <p:nvSpPr>
          <p:cNvPr id="337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379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hyperlink" Target="http://www.db-book.com/" TargetMode="Externa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Box 7">
            <a:extLst>
              <a:ext uri="{FF2B5EF4-FFF2-40B4-BE49-F238E27FC236}">
                <a16:creationId xmlns:a16="http://schemas.microsoft.com/office/drawing/2014/main" id="{A25BB261-D773-4836-B381-7A051175F57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74938" y="5726113"/>
            <a:ext cx="3694112" cy="793750"/>
          </a:xfrm>
          <a:prstGeom prst="rect">
            <a:avLst/>
          </a:prstGeom>
          <a:noFill/>
          <a:ln>
            <a:noFill/>
          </a:ln>
          <a:extLst>
            <a:ext uri="{909E8E84-426E-40dd-AFC4-6F175D3DCCD1}"/>
            <a:ext uri="{91240B29-F687-4f45-9708-019B960494DF}"/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  <a:defRPr/>
            </a:pPr>
            <a:r>
              <a:rPr lang="en-US" altLang="en-US" b="1" dirty="0">
                <a:solidFill>
                  <a:srgbClr val="002060"/>
                </a:solidFill>
              </a:rPr>
              <a:t>Database System Concepts, 7</a:t>
            </a:r>
            <a:r>
              <a:rPr lang="en-US" altLang="en-US" b="1" baseline="30000" dirty="0">
                <a:solidFill>
                  <a:srgbClr val="002060"/>
                </a:solidFill>
              </a:rPr>
              <a:t>th</a:t>
            </a:r>
            <a:r>
              <a:rPr lang="en-US" altLang="en-US" b="1" dirty="0">
                <a:solidFill>
                  <a:srgbClr val="002060"/>
                </a:solidFill>
              </a:rPr>
              <a:t> Ed</a:t>
            </a:r>
            <a:r>
              <a:rPr lang="en-US" altLang="en-US" dirty="0">
                <a:solidFill>
                  <a:srgbClr val="002060"/>
                </a:solidFill>
              </a:rPr>
              <a:t>.</a:t>
            </a:r>
          </a:p>
          <a:p>
            <a:pPr algn="ctr">
              <a:spcBef>
                <a:spcPct val="50000"/>
              </a:spcBef>
              <a:defRPr/>
            </a:pPr>
            <a:r>
              <a:rPr lang="en-US" altLang="en-US" sz="1200" b="1" dirty="0">
                <a:solidFill>
                  <a:srgbClr val="002060"/>
                </a:solidFill>
              </a:rPr>
              <a:t>©Silberschatz, Korth and Sudarshan</a:t>
            </a:r>
            <a:br>
              <a:rPr lang="en-US" altLang="en-US" sz="1200" b="1" dirty="0">
                <a:solidFill>
                  <a:srgbClr val="002060"/>
                </a:solidFill>
              </a:rPr>
            </a:br>
            <a:r>
              <a:rPr lang="en-US" altLang="en-US" sz="1200" b="1" dirty="0">
                <a:solidFill>
                  <a:srgbClr val="002060"/>
                </a:solidFill>
              </a:rPr>
              <a:t>See </a:t>
            </a:r>
            <a:r>
              <a:rPr lang="en-US" altLang="en-US" sz="1200" b="1" dirty="0">
                <a:solidFill>
                  <a:srgbClr val="002060"/>
                </a:solidFill>
                <a:hlinkClick r:id="rId2"/>
              </a:rPr>
              <a:t>www.db-book.com</a:t>
            </a:r>
            <a:r>
              <a:rPr lang="en-US" altLang="en-US" sz="1200" b="1" dirty="0">
                <a:solidFill>
                  <a:srgbClr val="002060"/>
                </a:solidFill>
              </a:rPr>
              <a:t> for conditions on re-use </a:t>
            </a:r>
          </a:p>
        </p:txBody>
      </p:sp>
      <p:sp>
        <p:nvSpPr>
          <p:cNvPr id="513026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2286000"/>
            <a:ext cx="7772400" cy="1143000"/>
          </a:xfrm>
        </p:spPr>
        <p:txBody>
          <a:bodyPr/>
          <a:lstStyle>
            <a:lvl1pPr>
              <a:defRPr>
                <a:solidFill>
                  <a:srgbClr val="002060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B4760F52-45E1-4E1D-A744-2F2290DE90CC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xfrm>
            <a:off x="6596063" y="6218238"/>
            <a:ext cx="1905000" cy="457200"/>
          </a:xfrm>
        </p:spPr>
        <p:txBody>
          <a:bodyPr/>
          <a:lstStyle>
            <a:lvl1pPr>
              <a:defRPr>
                <a:solidFill>
                  <a:srgbClr val="578963"/>
                </a:solidFill>
              </a:defRPr>
            </a:lvl1pPr>
          </a:lstStyle>
          <a:p>
            <a:pPr>
              <a:defRPr/>
            </a:pPr>
            <a:fld id="{3B69BB99-A72A-4470-971F-83530C443C91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pic>
        <p:nvPicPr>
          <p:cNvPr id="9" name="Picture 8" descr="Cover-6Ed"/>
          <p:cNvPicPr>
            <a:picLocks noChangeAspect="1" noChangeArrowheads="1"/>
          </p:cNvPicPr>
          <p:nvPr userDrawn="1"/>
        </p:nvPicPr>
        <p:blipFill>
          <a:blip r:embed="rId3"/>
          <a:stretch>
            <a:fillRect/>
          </a:stretch>
        </p:blipFill>
        <p:spPr bwMode="auto">
          <a:xfrm>
            <a:off x="13858" y="0"/>
            <a:ext cx="1331269" cy="1700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2604871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8350" y="1093788"/>
            <a:ext cx="7707313" cy="4903787"/>
          </a:xfrm>
        </p:spPr>
        <p:txBody>
          <a:bodyPr/>
          <a:lstStyle>
            <a:lvl1pPr marL="342900" indent="-342900">
              <a:buSzPct val="110000"/>
              <a:buFont typeface="Wingdings" panose="05000000000000000000" pitchFamily="2" charset="2"/>
              <a:buChar char="§"/>
              <a:defRPr sz="1700"/>
            </a:lvl1pPr>
            <a:lvl2pPr marL="742950" indent="-285750">
              <a:buSzPct val="110000"/>
              <a:buFont typeface="Arial" panose="020B0604020202020204" pitchFamily="34" charset="0"/>
              <a:buChar char="•"/>
              <a:defRPr sz="1700"/>
            </a:lvl2pPr>
            <a:lvl3pPr marL="1085850" indent="-228600">
              <a:buFont typeface="Wingdings" panose="05000000000000000000" pitchFamily="2" charset="2"/>
              <a:buChar char="§"/>
              <a:defRPr sz="1700"/>
            </a:lvl3pPr>
            <a:lvl4pPr marL="1428750" indent="-228600">
              <a:buFont typeface="Arial" panose="020B0604020202020204" pitchFamily="34" charset="0"/>
              <a:buChar char="•"/>
              <a:defRPr sz="1700"/>
            </a:lvl4pPr>
            <a:lvl5pPr marL="1771650" indent="-228600">
              <a:buFont typeface="Wingdings" panose="05000000000000000000" pitchFamily="2" charset="2"/>
              <a:buChar char="§"/>
              <a:defRPr sz="17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1243719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36F2EBE-FF5F-4F9D-A3C2-A59A92D7809D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47F3CAF-32BF-49A6-93F1-59C9E4B7C957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607090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14388" y="1093788"/>
            <a:ext cx="3754437" cy="4903787"/>
          </a:xfrm>
        </p:spPr>
        <p:txBody>
          <a:bodyPr/>
          <a:lstStyle>
            <a:lvl1pPr>
              <a:defRPr sz="1700"/>
            </a:lvl1pPr>
            <a:lvl2pPr>
              <a:defRPr sz="1700"/>
            </a:lvl2pPr>
            <a:lvl3pPr>
              <a:defRPr sz="1700"/>
            </a:lvl3pPr>
            <a:lvl4pPr>
              <a:defRPr sz="1700"/>
            </a:lvl4pPr>
            <a:lvl5pPr>
              <a:defRPr sz="17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1225" y="1093788"/>
            <a:ext cx="3754438" cy="4903787"/>
          </a:xfrm>
        </p:spPr>
        <p:txBody>
          <a:bodyPr/>
          <a:lstStyle>
            <a:lvl1pPr>
              <a:defRPr sz="1700"/>
            </a:lvl1pPr>
            <a:lvl2pPr>
              <a:defRPr sz="1700"/>
            </a:lvl2pPr>
            <a:lvl3pPr>
              <a:defRPr sz="1700"/>
            </a:lvl3pPr>
            <a:lvl4pPr>
              <a:defRPr sz="1700"/>
            </a:lvl4pPr>
            <a:lvl5pPr>
              <a:defRPr sz="17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A6D4A7F0-1138-4608-80AA-D0A6F5D41187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0852D5F-D37B-4E9D-98AD-511A1ABBD6A9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108020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1700"/>
            </a:lvl1pPr>
            <a:lvl2pPr>
              <a:defRPr sz="1700"/>
            </a:lvl2pPr>
            <a:lvl3pPr>
              <a:defRPr sz="1700"/>
            </a:lvl3pPr>
            <a:lvl4pPr>
              <a:defRPr sz="1700"/>
            </a:lvl4pPr>
            <a:lvl5pPr>
              <a:defRPr sz="17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1700"/>
            </a:lvl1pPr>
            <a:lvl2pPr>
              <a:defRPr sz="1700"/>
            </a:lvl2pPr>
            <a:lvl3pPr>
              <a:defRPr sz="1700"/>
            </a:lvl3pPr>
            <a:lvl4pPr>
              <a:defRPr sz="1700"/>
            </a:lvl4pPr>
            <a:lvl5pPr>
              <a:defRPr sz="17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56DFCFB3-6710-4DD2-8404-7E55A930F352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0191CCC-CC48-429B-87C9-7123B48E52D4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190424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BB431453-8F56-47C4-89BA-3EDF3CD092BA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E9D92F0-DB25-4E6B-A10D-A7937AC7A365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360057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">
            <a:extLst>
              <a:ext uri="{FF2B5EF4-FFF2-40B4-BE49-F238E27FC236}">
                <a16:creationId xmlns:a16="http://schemas.microsoft.com/office/drawing/2014/main" id="{4BE8099E-18A5-481A-9697-216087BE0676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E555C8E-F740-4D28-8DA3-D7B8E0F6F578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321476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1700"/>
            </a:lvl1pPr>
            <a:lvl2pPr>
              <a:defRPr sz="1700"/>
            </a:lvl2pPr>
            <a:lvl3pPr>
              <a:defRPr sz="1700"/>
            </a:lvl3pPr>
            <a:lvl4pPr>
              <a:defRPr sz="1700"/>
            </a:lvl4pPr>
            <a:lvl5pPr>
              <a:defRPr sz="17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97E2C57D-1205-411A-BA90-DF60A810F6DB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BBBE5B0-1186-4DAB-9E97-511F15F5C63C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488098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99EB6957-06EE-46F8-A450-3DB417A1F8A6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291DB2E-7BC4-4C22-ACAE-0B8B3F0C5147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8140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5C950AD-734E-45C7-8042-5795FFAD6750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7E5E31B-1343-4510-8DCD-65E7B6544692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630467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26250" y="117475"/>
            <a:ext cx="2019300" cy="58801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68350" y="117475"/>
            <a:ext cx="5905500" cy="58801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7A7A2CD-B5B0-4CF6-8038-339B0E99E366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33574B0-C055-4E38-82A9-667A1DF1F8D0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9464998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9796C49-4A73-449B-A170-DFFCD45313DF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00D9E99-A0D8-4F2F-B04A-331DF655FEAB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228256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56112478-D9B7-4D0D-ADE5-62D5EFAAFBB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773084" y="1093788"/>
            <a:ext cx="7702579" cy="4903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dirty="0"/>
              <a:t>Click to edit Master text styles</a:t>
            </a:r>
          </a:p>
          <a:p>
            <a:pPr lvl="1"/>
            <a:r>
              <a:rPr lang="en-US" altLang="en-US" dirty="0"/>
              <a:t>Second level</a:t>
            </a:r>
          </a:p>
          <a:p>
            <a:pPr lvl="2"/>
            <a:r>
              <a:rPr lang="en-US" altLang="en-US" dirty="0"/>
              <a:t>Third level</a:t>
            </a:r>
          </a:p>
          <a:p>
            <a:pPr lvl="3"/>
            <a:r>
              <a:rPr lang="en-US" altLang="en-US" dirty="0"/>
              <a:t>Fourth level</a:t>
            </a:r>
          </a:p>
          <a:p>
            <a:pPr lvl="4"/>
            <a:r>
              <a:rPr lang="en-US" altLang="en-US" dirty="0"/>
              <a:t>Fifth level</a:t>
            </a:r>
          </a:p>
        </p:txBody>
      </p:sp>
      <p:sp>
        <p:nvSpPr>
          <p:cNvPr id="512003" name="Rectangle 3">
            <a:extLst>
              <a:ext uri="{FF2B5EF4-FFF2-40B4-BE49-F238E27FC236}">
                <a16:creationId xmlns:a16="http://schemas.microsoft.com/office/drawing/2014/main" id="{D2EB5033-CF44-472B-B77D-FAA18581E631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4008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spcBef>
                <a:spcPct val="50000"/>
              </a:spcBef>
              <a:defRPr sz="1400">
                <a:solidFill>
                  <a:srgbClr val="002060"/>
                </a:solidFill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fld id="{8BECA7E0-09BC-41D3-BD93-B7E81A2ACCB7}" type="slidenum">
              <a:rPr lang="en-US" altLang="en-US" smtClean="0"/>
              <a:pPr>
                <a:defRPr/>
              </a:pPr>
              <a:t>‹#›</a:t>
            </a:fld>
            <a:endParaRPr lang="en-US" altLang="en-US" dirty="0"/>
          </a:p>
        </p:txBody>
      </p:sp>
      <p:sp>
        <p:nvSpPr>
          <p:cNvPr id="1028" name="Text Box 4">
            <a:extLst>
              <a:ext uri="{FF2B5EF4-FFF2-40B4-BE49-F238E27FC236}">
                <a16:creationId xmlns:a16="http://schemas.microsoft.com/office/drawing/2014/main" id="{D0CFC8B2-2C6C-4CA4-9AFC-14298F0DD4E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62750" y="6613525"/>
            <a:ext cx="2381250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/>
            <a:ext uri="{91240B29-F687-4f45-9708-019B960494DF}"/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  <a:defRPr/>
            </a:pPr>
            <a:r>
              <a:rPr lang="en-US" altLang="en-US" sz="1000" b="1" dirty="0">
                <a:solidFill>
                  <a:srgbClr val="002060"/>
                </a:solidFill>
              </a:rPr>
              <a:t>©Silberschatz, Korth and Sudarshan</a:t>
            </a:r>
          </a:p>
        </p:txBody>
      </p:sp>
      <p:sp>
        <p:nvSpPr>
          <p:cNvPr id="512005" name="Text Box 5">
            <a:extLst>
              <a:ext uri="{FF2B5EF4-FFF2-40B4-BE49-F238E27FC236}">
                <a16:creationId xmlns:a16="http://schemas.microsoft.com/office/drawing/2014/main" id="{ED25C836-0663-424A-84A7-5AB803422860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4479984" y="6613525"/>
            <a:ext cx="447559" cy="2462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  <a:defRPr/>
            </a:pPr>
            <a:r>
              <a:rPr lang="en-US" altLang="en-US" sz="1000" b="1" dirty="0">
                <a:solidFill>
                  <a:srgbClr val="002060"/>
                </a:solidFill>
              </a:rPr>
              <a:t>2.</a:t>
            </a:r>
            <a:fld id="{669DE52E-05EC-4487-BE79-3F9A6A9F8797}" type="slidenum">
              <a:rPr lang="en-US" altLang="en-US" sz="1000" b="1" smtClean="0">
                <a:solidFill>
                  <a:srgbClr val="002060"/>
                </a:solidFill>
              </a:rPr>
              <a:pPr algn="ctr">
                <a:spcBef>
                  <a:spcPct val="50000"/>
                </a:spcBef>
                <a:defRPr/>
              </a:pPr>
              <a:t>‹#›</a:t>
            </a:fld>
            <a:endParaRPr lang="en-US" altLang="en-US" sz="1000" b="1" dirty="0">
              <a:solidFill>
                <a:srgbClr val="002060"/>
              </a:solidFill>
            </a:endParaRPr>
          </a:p>
        </p:txBody>
      </p:sp>
      <p:sp>
        <p:nvSpPr>
          <p:cNvPr id="512006" name="Rectangle 6">
            <a:extLst>
              <a:ext uri="{FF2B5EF4-FFF2-40B4-BE49-F238E27FC236}">
                <a16:creationId xmlns:a16="http://schemas.microsoft.com/office/drawing/2014/main" id="{BFAC4B4C-D3C2-4A14-871E-CC7D45F0769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768350" y="117475"/>
            <a:ext cx="8077200" cy="60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1031" name="Text Box 7">
            <a:extLst>
              <a:ext uri="{FF2B5EF4-FFF2-40B4-BE49-F238E27FC236}">
                <a16:creationId xmlns:a16="http://schemas.microsoft.com/office/drawing/2014/main" id="{5472E9A1-C06F-4393-872E-7F8100F9162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6613525"/>
            <a:ext cx="2571750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/>
            <a:ext uri="{91240B29-F687-4f45-9708-019B960494DF}"/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Helvetic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lang="en-US" sz="1000" b="1" dirty="0">
                <a:solidFill>
                  <a:srgbClr val="002060"/>
                </a:solidFill>
              </a:rPr>
              <a:t>Database System Concepts - 7</a:t>
            </a:r>
            <a:r>
              <a:rPr lang="en-US" sz="1000" b="1" baseline="30000" dirty="0">
                <a:solidFill>
                  <a:srgbClr val="002060"/>
                </a:solidFill>
              </a:rPr>
              <a:t>th</a:t>
            </a:r>
            <a:r>
              <a:rPr lang="en-US" sz="1000" b="1" dirty="0">
                <a:solidFill>
                  <a:srgbClr val="002060"/>
                </a:solidFill>
              </a:rPr>
              <a:t> Edition</a:t>
            </a:r>
          </a:p>
        </p:txBody>
      </p:sp>
      <p:sp>
        <p:nvSpPr>
          <p:cNvPr id="1032" name="Freeform 8">
            <a:extLst>
              <a:ext uri="{FF2B5EF4-FFF2-40B4-BE49-F238E27FC236}">
                <a16:creationId xmlns:a16="http://schemas.microsoft.com/office/drawing/2014/main" id="{0362D880-06BD-4D02-876C-3226AC8E6F10}"/>
              </a:ext>
            </a:extLst>
          </p:cNvPr>
          <p:cNvSpPr>
            <a:spLocks/>
          </p:cNvSpPr>
          <p:nvPr/>
        </p:nvSpPr>
        <p:spPr bwMode="auto">
          <a:xfrm>
            <a:off x="8916988" y="5445125"/>
            <a:ext cx="227012" cy="47625"/>
          </a:xfrm>
          <a:custGeom>
            <a:avLst/>
            <a:gdLst>
              <a:gd name="T0" fmla="*/ 0 w 285"/>
              <a:gd name="T1" fmla="*/ 2147483646 h 61"/>
              <a:gd name="T2" fmla="*/ 2147483646 w 285"/>
              <a:gd name="T3" fmla="*/ 2147483646 h 61"/>
              <a:gd name="T4" fmla="*/ 2147483646 w 285"/>
              <a:gd name="T5" fmla="*/ 2147483646 h 61"/>
              <a:gd name="T6" fmla="*/ 2147483646 w 285"/>
              <a:gd name="T7" fmla="*/ 2147483646 h 61"/>
              <a:gd name="T8" fmla="*/ 2147483646 w 285"/>
              <a:gd name="T9" fmla="*/ 2147483646 h 61"/>
              <a:gd name="T10" fmla="*/ 2147483646 w 285"/>
              <a:gd name="T11" fmla="*/ 2147483646 h 61"/>
              <a:gd name="T12" fmla="*/ 2147483646 w 285"/>
              <a:gd name="T13" fmla="*/ 2147483646 h 61"/>
              <a:gd name="T14" fmla="*/ 2147483646 w 285"/>
              <a:gd name="T15" fmla="*/ 2147483646 h 61"/>
              <a:gd name="T16" fmla="*/ 2147483646 w 285"/>
              <a:gd name="T17" fmla="*/ 0 h 61"/>
              <a:gd name="T18" fmla="*/ 2147483646 w 285"/>
              <a:gd name="T19" fmla="*/ 0 h 61"/>
              <a:gd name="T20" fmla="*/ 2147483646 w 285"/>
              <a:gd name="T21" fmla="*/ 0 h 61"/>
              <a:gd name="T22" fmla="*/ 2147483646 w 285"/>
              <a:gd name="T23" fmla="*/ 0 h 61"/>
              <a:gd name="T24" fmla="*/ 2147483646 w 285"/>
              <a:gd name="T25" fmla="*/ 2147483646 h 61"/>
              <a:gd name="T26" fmla="*/ 2147483646 w 285"/>
              <a:gd name="T27" fmla="*/ 2147483646 h 61"/>
              <a:gd name="T28" fmla="*/ 2147483646 w 285"/>
              <a:gd name="T29" fmla="*/ 2147483646 h 61"/>
              <a:gd name="T30" fmla="*/ 2147483646 w 285"/>
              <a:gd name="T31" fmla="*/ 2147483646 h 61"/>
              <a:gd name="T32" fmla="*/ 2147483646 w 285"/>
              <a:gd name="T33" fmla="*/ 2147483646 h 61"/>
              <a:gd name="T34" fmla="*/ 2147483646 w 285"/>
              <a:gd name="T35" fmla="*/ 2147483646 h 61"/>
              <a:gd name="T36" fmla="*/ 2147483646 w 285"/>
              <a:gd name="T37" fmla="*/ 2147483646 h 61"/>
              <a:gd name="T38" fmla="*/ 2147483646 w 285"/>
              <a:gd name="T39" fmla="*/ 2147483646 h 61"/>
              <a:gd name="T40" fmla="*/ 2147483646 w 285"/>
              <a:gd name="T41" fmla="*/ 2147483646 h 61"/>
              <a:gd name="T42" fmla="*/ 2147483646 w 285"/>
              <a:gd name="T43" fmla="*/ 2147483646 h 61"/>
              <a:gd name="T44" fmla="*/ 2147483646 w 285"/>
              <a:gd name="T45" fmla="*/ 2147483646 h 61"/>
              <a:gd name="T46" fmla="*/ 2147483646 w 285"/>
              <a:gd name="T47" fmla="*/ 2147483646 h 61"/>
              <a:gd name="T48" fmla="*/ 2147483646 w 285"/>
              <a:gd name="T49" fmla="*/ 2147483646 h 61"/>
              <a:gd name="T50" fmla="*/ 2147483646 w 285"/>
              <a:gd name="T51" fmla="*/ 2147483646 h 61"/>
              <a:gd name="T52" fmla="*/ 2147483646 w 285"/>
              <a:gd name="T53" fmla="*/ 2147483646 h 61"/>
              <a:gd name="T54" fmla="*/ 2147483646 w 285"/>
              <a:gd name="T55" fmla="*/ 2147483646 h 61"/>
              <a:gd name="T56" fmla="*/ 2147483646 w 285"/>
              <a:gd name="T57" fmla="*/ 2147483646 h 61"/>
              <a:gd name="T58" fmla="*/ 2147483646 w 285"/>
              <a:gd name="T59" fmla="*/ 2147483646 h 61"/>
              <a:gd name="T60" fmla="*/ 2147483646 w 285"/>
              <a:gd name="T61" fmla="*/ 2147483646 h 61"/>
              <a:gd name="T62" fmla="*/ 2147483646 w 285"/>
              <a:gd name="T63" fmla="*/ 2147483646 h 61"/>
              <a:gd name="T64" fmla="*/ 2147483646 w 285"/>
              <a:gd name="T65" fmla="*/ 2147483646 h 61"/>
              <a:gd name="T66" fmla="*/ 2147483646 w 285"/>
              <a:gd name="T67" fmla="*/ 2147483646 h 61"/>
              <a:gd name="T68" fmla="*/ 2147483646 w 285"/>
              <a:gd name="T69" fmla="*/ 2147483646 h 61"/>
              <a:gd name="T70" fmla="*/ 2147483646 w 285"/>
              <a:gd name="T71" fmla="*/ 2147483646 h 61"/>
              <a:gd name="T72" fmla="*/ 2147483646 w 285"/>
              <a:gd name="T73" fmla="*/ 2147483646 h 61"/>
              <a:gd name="T74" fmla="*/ 2147483646 w 285"/>
              <a:gd name="T75" fmla="*/ 2147483646 h 61"/>
              <a:gd name="T76" fmla="*/ 2147483646 w 285"/>
              <a:gd name="T77" fmla="*/ 2147483646 h 61"/>
              <a:gd name="T78" fmla="*/ 2147483646 w 285"/>
              <a:gd name="T79" fmla="*/ 2147483646 h 61"/>
              <a:gd name="T80" fmla="*/ 2147483646 w 285"/>
              <a:gd name="T81" fmla="*/ 2147483646 h 61"/>
              <a:gd name="T82" fmla="*/ 2147483646 w 285"/>
              <a:gd name="T83" fmla="*/ 2147483646 h 61"/>
              <a:gd name="T84" fmla="*/ 2147483646 w 285"/>
              <a:gd name="T85" fmla="*/ 2147483646 h 61"/>
              <a:gd name="T86" fmla="*/ 2147483646 w 285"/>
              <a:gd name="T87" fmla="*/ 2147483646 h 61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</a:gdLst>
            <a:ahLst/>
            <a:cxnLst>
              <a:cxn ang="T88">
                <a:pos x="T0" y="T1"/>
              </a:cxn>
              <a:cxn ang="T89">
                <a:pos x="T2" y="T3"/>
              </a:cxn>
              <a:cxn ang="T90">
                <a:pos x="T4" y="T5"/>
              </a:cxn>
              <a:cxn ang="T91">
                <a:pos x="T6" y="T7"/>
              </a:cxn>
              <a:cxn ang="T92">
                <a:pos x="T8" y="T9"/>
              </a:cxn>
              <a:cxn ang="T93">
                <a:pos x="T10" y="T11"/>
              </a:cxn>
              <a:cxn ang="T94">
                <a:pos x="T12" y="T13"/>
              </a:cxn>
              <a:cxn ang="T95">
                <a:pos x="T14" y="T15"/>
              </a:cxn>
              <a:cxn ang="T96">
                <a:pos x="T16" y="T17"/>
              </a:cxn>
              <a:cxn ang="T97">
                <a:pos x="T18" y="T19"/>
              </a:cxn>
              <a:cxn ang="T98">
                <a:pos x="T20" y="T21"/>
              </a:cxn>
              <a:cxn ang="T99">
                <a:pos x="T22" y="T23"/>
              </a:cxn>
              <a:cxn ang="T100">
                <a:pos x="T24" y="T25"/>
              </a:cxn>
              <a:cxn ang="T101">
                <a:pos x="T26" y="T27"/>
              </a:cxn>
              <a:cxn ang="T102">
                <a:pos x="T28" y="T29"/>
              </a:cxn>
              <a:cxn ang="T103">
                <a:pos x="T30" y="T31"/>
              </a:cxn>
              <a:cxn ang="T104">
                <a:pos x="T32" y="T33"/>
              </a:cxn>
              <a:cxn ang="T105">
                <a:pos x="T34" y="T35"/>
              </a:cxn>
              <a:cxn ang="T106">
                <a:pos x="T36" y="T37"/>
              </a:cxn>
              <a:cxn ang="T107">
                <a:pos x="T38" y="T39"/>
              </a:cxn>
              <a:cxn ang="T108">
                <a:pos x="T40" y="T41"/>
              </a:cxn>
              <a:cxn ang="T109">
                <a:pos x="T42" y="T43"/>
              </a:cxn>
              <a:cxn ang="T110">
                <a:pos x="T44" y="T45"/>
              </a:cxn>
              <a:cxn ang="T111">
                <a:pos x="T46" y="T47"/>
              </a:cxn>
              <a:cxn ang="T112">
                <a:pos x="T48" y="T49"/>
              </a:cxn>
              <a:cxn ang="T113">
                <a:pos x="T50" y="T51"/>
              </a:cxn>
              <a:cxn ang="T114">
                <a:pos x="T52" y="T53"/>
              </a:cxn>
              <a:cxn ang="T115">
                <a:pos x="T54" y="T55"/>
              </a:cxn>
              <a:cxn ang="T116">
                <a:pos x="T56" y="T57"/>
              </a:cxn>
              <a:cxn ang="T117">
                <a:pos x="T58" y="T59"/>
              </a:cxn>
              <a:cxn ang="T118">
                <a:pos x="T60" y="T61"/>
              </a:cxn>
              <a:cxn ang="T119">
                <a:pos x="T62" y="T63"/>
              </a:cxn>
              <a:cxn ang="T120">
                <a:pos x="T64" y="T65"/>
              </a:cxn>
              <a:cxn ang="T121">
                <a:pos x="T66" y="T67"/>
              </a:cxn>
              <a:cxn ang="T122">
                <a:pos x="T68" y="T69"/>
              </a:cxn>
              <a:cxn ang="T123">
                <a:pos x="T70" y="T71"/>
              </a:cxn>
              <a:cxn ang="T124">
                <a:pos x="T72" y="T73"/>
              </a:cxn>
              <a:cxn ang="T125">
                <a:pos x="T74" y="T75"/>
              </a:cxn>
              <a:cxn ang="T126">
                <a:pos x="T76" y="T77"/>
              </a:cxn>
              <a:cxn ang="T127">
                <a:pos x="T78" y="T79"/>
              </a:cxn>
              <a:cxn ang="T128">
                <a:pos x="T80" y="T81"/>
              </a:cxn>
              <a:cxn ang="T129">
                <a:pos x="T82" y="T83"/>
              </a:cxn>
              <a:cxn ang="T130">
                <a:pos x="T84" y="T85"/>
              </a:cxn>
              <a:cxn ang="T131">
                <a:pos x="T86" y="T87"/>
              </a:cxn>
            </a:cxnLst>
            <a:rect l="0" t="0" r="r" b="b"/>
            <a:pathLst>
              <a:path w="285" h="61">
                <a:moveTo>
                  <a:pt x="2" y="61"/>
                </a:moveTo>
                <a:lnTo>
                  <a:pt x="0" y="59"/>
                </a:lnTo>
                <a:lnTo>
                  <a:pt x="0" y="55"/>
                </a:lnTo>
                <a:lnTo>
                  <a:pt x="2" y="48"/>
                </a:lnTo>
                <a:lnTo>
                  <a:pt x="5" y="40"/>
                </a:lnTo>
                <a:lnTo>
                  <a:pt x="9" y="34"/>
                </a:lnTo>
                <a:lnTo>
                  <a:pt x="13" y="31"/>
                </a:lnTo>
                <a:lnTo>
                  <a:pt x="17" y="25"/>
                </a:lnTo>
                <a:lnTo>
                  <a:pt x="24" y="21"/>
                </a:lnTo>
                <a:lnTo>
                  <a:pt x="30" y="17"/>
                </a:lnTo>
                <a:lnTo>
                  <a:pt x="40" y="13"/>
                </a:lnTo>
                <a:lnTo>
                  <a:pt x="45" y="10"/>
                </a:lnTo>
                <a:lnTo>
                  <a:pt x="51" y="8"/>
                </a:lnTo>
                <a:lnTo>
                  <a:pt x="57" y="6"/>
                </a:lnTo>
                <a:lnTo>
                  <a:pt x="64" y="6"/>
                </a:lnTo>
                <a:lnTo>
                  <a:pt x="70" y="2"/>
                </a:lnTo>
                <a:lnTo>
                  <a:pt x="78" y="2"/>
                </a:lnTo>
                <a:lnTo>
                  <a:pt x="85" y="0"/>
                </a:lnTo>
                <a:lnTo>
                  <a:pt x="93" y="0"/>
                </a:lnTo>
                <a:lnTo>
                  <a:pt x="100" y="0"/>
                </a:lnTo>
                <a:lnTo>
                  <a:pt x="110" y="0"/>
                </a:lnTo>
                <a:lnTo>
                  <a:pt x="118" y="0"/>
                </a:lnTo>
                <a:lnTo>
                  <a:pt x="129" y="0"/>
                </a:lnTo>
                <a:lnTo>
                  <a:pt x="137" y="0"/>
                </a:lnTo>
                <a:lnTo>
                  <a:pt x="146" y="2"/>
                </a:lnTo>
                <a:lnTo>
                  <a:pt x="154" y="2"/>
                </a:lnTo>
                <a:lnTo>
                  <a:pt x="163" y="4"/>
                </a:lnTo>
                <a:lnTo>
                  <a:pt x="173" y="6"/>
                </a:lnTo>
                <a:lnTo>
                  <a:pt x="182" y="8"/>
                </a:lnTo>
                <a:lnTo>
                  <a:pt x="192" y="8"/>
                </a:lnTo>
                <a:lnTo>
                  <a:pt x="201" y="12"/>
                </a:lnTo>
                <a:lnTo>
                  <a:pt x="209" y="12"/>
                </a:lnTo>
                <a:lnTo>
                  <a:pt x="216" y="13"/>
                </a:lnTo>
                <a:lnTo>
                  <a:pt x="224" y="15"/>
                </a:lnTo>
                <a:lnTo>
                  <a:pt x="234" y="17"/>
                </a:lnTo>
                <a:lnTo>
                  <a:pt x="239" y="19"/>
                </a:lnTo>
                <a:lnTo>
                  <a:pt x="247" y="21"/>
                </a:lnTo>
                <a:lnTo>
                  <a:pt x="254" y="23"/>
                </a:lnTo>
                <a:lnTo>
                  <a:pt x="260" y="25"/>
                </a:lnTo>
                <a:lnTo>
                  <a:pt x="266" y="25"/>
                </a:lnTo>
                <a:lnTo>
                  <a:pt x="270" y="27"/>
                </a:lnTo>
                <a:lnTo>
                  <a:pt x="273" y="27"/>
                </a:lnTo>
                <a:lnTo>
                  <a:pt x="279" y="29"/>
                </a:lnTo>
                <a:lnTo>
                  <a:pt x="283" y="31"/>
                </a:lnTo>
                <a:lnTo>
                  <a:pt x="285" y="32"/>
                </a:lnTo>
                <a:lnTo>
                  <a:pt x="279" y="44"/>
                </a:lnTo>
                <a:lnTo>
                  <a:pt x="277" y="44"/>
                </a:lnTo>
                <a:lnTo>
                  <a:pt x="273" y="42"/>
                </a:lnTo>
                <a:lnTo>
                  <a:pt x="268" y="42"/>
                </a:lnTo>
                <a:lnTo>
                  <a:pt x="260" y="40"/>
                </a:lnTo>
                <a:lnTo>
                  <a:pt x="251" y="38"/>
                </a:lnTo>
                <a:lnTo>
                  <a:pt x="241" y="36"/>
                </a:lnTo>
                <a:lnTo>
                  <a:pt x="235" y="34"/>
                </a:lnTo>
                <a:lnTo>
                  <a:pt x="230" y="34"/>
                </a:lnTo>
                <a:lnTo>
                  <a:pt x="224" y="32"/>
                </a:lnTo>
                <a:lnTo>
                  <a:pt x="218" y="32"/>
                </a:lnTo>
                <a:lnTo>
                  <a:pt x="213" y="31"/>
                </a:lnTo>
                <a:lnTo>
                  <a:pt x="207" y="31"/>
                </a:lnTo>
                <a:lnTo>
                  <a:pt x="201" y="29"/>
                </a:lnTo>
                <a:lnTo>
                  <a:pt x="196" y="29"/>
                </a:lnTo>
                <a:lnTo>
                  <a:pt x="190" y="27"/>
                </a:lnTo>
                <a:lnTo>
                  <a:pt x="182" y="27"/>
                </a:lnTo>
                <a:lnTo>
                  <a:pt x="178" y="25"/>
                </a:lnTo>
                <a:lnTo>
                  <a:pt x="173" y="25"/>
                </a:lnTo>
                <a:lnTo>
                  <a:pt x="167" y="23"/>
                </a:lnTo>
                <a:lnTo>
                  <a:pt x="163" y="23"/>
                </a:lnTo>
                <a:lnTo>
                  <a:pt x="158" y="21"/>
                </a:lnTo>
                <a:lnTo>
                  <a:pt x="154" y="21"/>
                </a:lnTo>
                <a:lnTo>
                  <a:pt x="148" y="19"/>
                </a:lnTo>
                <a:lnTo>
                  <a:pt x="142" y="19"/>
                </a:lnTo>
                <a:lnTo>
                  <a:pt x="144" y="48"/>
                </a:lnTo>
                <a:lnTo>
                  <a:pt x="110" y="15"/>
                </a:lnTo>
                <a:lnTo>
                  <a:pt x="118" y="48"/>
                </a:lnTo>
                <a:lnTo>
                  <a:pt x="83" y="21"/>
                </a:lnTo>
                <a:lnTo>
                  <a:pt x="91" y="48"/>
                </a:lnTo>
                <a:lnTo>
                  <a:pt x="59" y="29"/>
                </a:lnTo>
                <a:lnTo>
                  <a:pt x="57" y="29"/>
                </a:lnTo>
                <a:lnTo>
                  <a:pt x="53" y="31"/>
                </a:lnTo>
                <a:lnTo>
                  <a:pt x="49" y="31"/>
                </a:lnTo>
                <a:lnTo>
                  <a:pt x="43" y="34"/>
                </a:lnTo>
                <a:lnTo>
                  <a:pt x="38" y="36"/>
                </a:lnTo>
                <a:lnTo>
                  <a:pt x="32" y="38"/>
                </a:lnTo>
                <a:lnTo>
                  <a:pt x="26" y="42"/>
                </a:lnTo>
                <a:lnTo>
                  <a:pt x="23" y="44"/>
                </a:lnTo>
                <a:lnTo>
                  <a:pt x="15" y="50"/>
                </a:lnTo>
                <a:lnTo>
                  <a:pt x="7" y="55"/>
                </a:lnTo>
                <a:lnTo>
                  <a:pt x="4" y="59"/>
                </a:lnTo>
                <a:lnTo>
                  <a:pt x="2" y="6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IN"/>
          </a:p>
        </p:txBody>
      </p:sp>
      <p:pic>
        <p:nvPicPr>
          <p:cNvPr id="10" name="Picture 8" descr="Cover-6Ed"/>
          <p:cNvPicPr>
            <a:picLocks noChangeAspect="1" noChangeArrowheads="1"/>
          </p:cNvPicPr>
          <p:nvPr userDrawn="1"/>
        </p:nvPicPr>
        <p:blipFill>
          <a:blip r:embed="rId14"/>
          <a:stretch>
            <a:fillRect/>
          </a:stretch>
        </p:blipFill>
        <p:spPr bwMode="auto">
          <a:xfrm>
            <a:off x="5546" y="0"/>
            <a:ext cx="742012" cy="9476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61" r:id="rId1"/>
    <p:sldLayoutId id="2147483750" r:id="rId2"/>
    <p:sldLayoutId id="2147483751" r:id="rId3"/>
    <p:sldLayoutId id="2147483752" r:id="rId4"/>
    <p:sldLayoutId id="2147483753" r:id="rId5"/>
    <p:sldLayoutId id="2147483754" r:id="rId6"/>
    <p:sldLayoutId id="2147483755" r:id="rId7"/>
    <p:sldLayoutId id="2147483756" r:id="rId8"/>
    <p:sldLayoutId id="2147483757" r:id="rId9"/>
    <p:sldLayoutId id="2147483758" r:id="rId10"/>
    <p:sldLayoutId id="2147483759" r:id="rId11"/>
    <p:sldLayoutId id="2147483760" r:id="rId12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2800" b="1">
          <a:solidFill>
            <a:srgbClr val="002060"/>
          </a:solidFill>
          <a:effectLst>
            <a:outerShdw blurRad="38100" dist="38100" dir="2700000" algn="tl">
              <a:srgbClr val="DDDDDD"/>
            </a:outerShdw>
          </a:effectLst>
          <a:latin typeface="+mj-lt"/>
          <a:ea typeface="MS PGothic" panose="020B0600070205080204" pitchFamily="34" charset="-128"/>
          <a:cs typeface="ＭＳ Ｐゴシック" charset="0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DDDDDD"/>
            </a:outerShdw>
          </a:effectLst>
          <a:latin typeface="Helvetica" charset="0"/>
          <a:ea typeface="MS PGothic" panose="020B0600070205080204" pitchFamily="34" charset="-128"/>
          <a:cs typeface="ＭＳ Ｐゴシック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DDDDDD"/>
            </a:outerShdw>
          </a:effectLst>
          <a:latin typeface="Helvetica" charset="0"/>
          <a:ea typeface="MS PGothic" panose="020B0600070205080204" pitchFamily="34" charset="-128"/>
          <a:cs typeface="ＭＳ Ｐゴシック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DDDDDD"/>
            </a:outerShdw>
          </a:effectLst>
          <a:latin typeface="Helvetica" charset="0"/>
          <a:ea typeface="MS PGothic" panose="020B0600070205080204" pitchFamily="34" charset="-128"/>
          <a:cs typeface="ＭＳ Ｐゴシック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DDDDDD"/>
            </a:outerShdw>
          </a:effectLst>
          <a:latin typeface="Helvetica" charset="0"/>
          <a:ea typeface="MS PGothic" panose="020B0600070205080204" pitchFamily="34" charset="-128"/>
          <a:cs typeface="ＭＳ Ｐゴシック" charset="0"/>
        </a:defRPr>
      </a:lvl5pPr>
      <a:lvl6pPr marL="457200" algn="ctr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DDDDDD"/>
            </a:outerShdw>
          </a:effectLst>
          <a:latin typeface="Helvetica" charset="0"/>
        </a:defRPr>
      </a:lvl6pPr>
      <a:lvl7pPr marL="914400" algn="ctr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DDDDDD"/>
            </a:outerShdw>
          </a:effectLst>
          <a:latin typeface="Helvetica" charset="0"/>
        </a:defRPr>
      </a:lvl7pPr>
      <a:lvl8pPr marL="1371600" algn="ctr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DDDDDD"/>
            </a:outerShdw>
          </a:effectLst>
          <a:latin typeface="Helvetica" charset="0"/>
        </a:defRPr>
      </a:lvl8pPr>
      <a:lvl9pPr marL="1828800" algn="ctr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DDDDDD"/>
            </a:outerShdw>
          </a:effectLst>
          <a:latin typeface="Helvetica" charset="0"/>
        </a:defRPr>
      </a:lvl9pPr>
    </p:titleStyle>
    <p:bodyStyle>
      <a:lvl1pPr marL="342900" indent="-342900" algn="l" rtl="0" eaLnBrk="0" fontAlgn="base" hangingPunct="0">
        <a:spcBef>
          <a:spcPct val="35000"/>
        </a:spcBef>
        <a:spcAft>
          <a:spcPct val="0"/>
        </a:spcAft>
        <a:buClr>
          <a:srgbClr val="002060"/>
        </a:buClr>
        <a:buSzPct val="100000"/>
        <a:buFont typeface="Monotype Sorts" pitchFamily="-65" charset="2"/>
        <a:buChar char="n"/>
        <a:defRPr kumimoji="1" sz="1700">
          <a:solidFill>
            <a:schemeClr val="tx1"/>
          </a:solidFill>
          <a:latin typeface="+mn-lt"/>
          <a:ea typeface="MS PGothic" panose="020B0600070205080204" pitchFamily="34" charset="-128"/>
          <a:cs typeface="ＭＳ Ｐゴシック" charset="0"/>
        </a:defRPr>
      </a:lvl1pPr>
      <a:lvl2pPr marL="742950" indent="-285750" algn="l" rtl="0" eaLnBrk="0" fontAlgn="base" hangingPunct="0">
        <a:spcBef>
          <a:spcPct val="35000"/>
        </a:spcBef>
        <a:spcAft>
          <a:spcPct val="0"/>
        </a:spcAft>
        <a:buClr>
          <a:schemeClr val="folHlink"/>
        </a:buClr>
        <a:buSzPct val="95000"/>
        <a:buFont typeface="Monotype Sorts" pitchFamily="-65" charset="2"/>
        <a:buChar char="l"/>
        <a:defRPr kumimoji="1" sz="1700">
          <a:solidFill>
            <a:schemeClr val="tx1"/>
          </a:solidFill>
          <a:latin typeface="+mn-lt"/>
          <a:ea typeface="MS PGothic" panose="020B0600070205080204" pitchFamily="34" charset="-128"/>
        </a:defRPr>
      </a:lvl2pPr>
      <a:lvl3pPr marL="1085850" indent="-228600" algn="l" rtl="0" eaLnBrk="0" fontAlgn="base" hangingPunct="0">
        <a:spcBef>
          <a:spcPct val="35000"/>
        </a:spcBef>
        <a:spcAft>
          <a:spcPct val="0"/>
        </a:spcAft>
        <a:buClr>
          <a:srgbClr val="33CC33"/>
        </a:buClr>
        <a:buSzPct val="85000"/>
        <a:buFont typeface="Webdings" panose="05030102010509060703" pitchFamily="18" charset="2"/>
        <a:buChar char="4"/>
        <a:defRPr kumimoji="1" sz="1700">
          <a:solidFill>
            <a:schemeClr val="tx1"/>
          </a:solidFill>
          <a:latin typeface="+mn-lt"/>
          <a:ea typeface="MS PGothic" panose="020B0600070205080204" pitchFamily="34" charset="-128"/>
        </a:defRPr>
      </a:lvl3pPr>
      <a:lvl4pPr marL="1428750" indent="-228600" algn="l" rtl="0" eaLnBrk="0" fontAlgn="base" hangingPunct="0">
        <a:spcBef>
          <a:spcPct val="35000"/>
        </a:spcBef>
        <a:spcAft>
          <a:spcPct val="0"/>
        </a:spcAft>
        <a:buClr>
          <a:schemeClr val="hlink"/>
        </a:buClr>
        <a:buFont typeface="Times New Roman" panose="02020603050405020304" pitchFamily="18" charset="0"/>
        <a:buChar char="–"/>
        <a:defRPr kumimoji="1" sz="1700">
          <a:solidFill>
            <a:schemeClr val="tx1"/>
          </a:solidFill>
          <a:latin typeface="+mn-lt"/>
          <a:ea typeface="MS PGothic" panose="020B0600070205080204" pitchFamily="34" charset="-128"/>
        </a:defRPr>
      </a:lvl4pPr>
      <a:lvl5pPr marL="1771650" indent="-228600" algn="l" rtl="0" eaLnBrk="0" fontAlgn="base" hangingPunct="0">
        <a:spcBef>
          <a:spcPct val="35000"/>
        </a:spcBef>
        <a:spcAft>
          <a:spcPct val="0"/>
        </a:spcAft>
        <a:buClr>
          <a:schemeClr val="tx2"/>
        </a:buClr>
        <a:buSzPct val="75000"/>
        <a:buChar char="»"/>
        <a:defRPr kumimoji="1" sz="1700">
          <a:solidFill>
            <a:schemeClr val="tx1"/>
          </a:solidFill>
          <a:latin typeface="+mn-lt"/>
          <a:ea typeface="MS PGothic" panose="020B0600070205080204" pitchFamily="34" charset="-128"/>
        </a:defRPr>
      </a:lvl5pPr>
      <a:lvl6pPr marL="2228850" indent="-228600" algn="l" rtl="0" eaLnBrk="0" fontAlgn="base" hangingPunct="0">
        <a:spcBef>
          <a:spcPct val="35000"/>
        </a:spcBef>
        <a:spcAft>
          <a:spcPct val="0"/>
        </a:spcAft>
        <a:buClr>
          <a:schemeClr val="tx2"/>
        </a:buClr>
        <a:buSzPct val="75000"/>
        <a:buChar char="»"/>
        <a:defRPr kumimoji="1">
          <a:solidFill>
            <a:schemeClr val="tx1"/>
          </a:solidFill>
          <a:latin typeface="+mn-lt"/>
          <a:ea typeface="ＭＳ Ｐゴシック" charset="-128"/>
        </a:defRPr>
      </a:lvl6pPr>
      <a:lvl7pPr marL="2686050" indent="-228600" algn="l" rtl="0" eaLnBrk="0" fontAlgn="base" hangingPunct="0">
        <a:spcBef>
          <a:spcPct val="35000"/>
        </a:spcBef>
        <a:spcAft>
          <a:spcPct val="0"/>
        </a:spcAft>
        <a:buClr>
          <a:schemeClr val="tx2"/>
        </a:buClr>
        <a:buSzPct val="75000"/>
        <a:buChar char="»"/>
        <a:defRPr kumimoji="1">
          <a:solidFill>
            <a:schemeClr val="tx1"/>
          </a:solidFill>
          <a:latin typeface="+mn-lt"/>
          <a:ea typeface="ＭＳ Ｐゴシック" charset="-128"/>
        </a:defRPr>
      </a:lvl7pPr>
      <a:lvl8pPr marL="3143250" indent="-228600" algn="l" rtl="0" eaLnBrk="0" fontAlgn="base" hangingPunct="0">
        <a:spcBef>
          <a:spcPct val="35000"/>
        </a:spcBef>
        <a:spcAft>
          <a:spcPct val="0"/>
        </a:spcAft>
        <a:buClr>
          <a:schemeClr val="tx2"/>
        </a:buClr>
        <a:buSzPct val="75000"/>
        <a:buChar char="»"/>
        <a:defRPr kumimoji="1">
          <a:solidFill>
            <a:schemeClr val="tx1"/>
          </a:solidFill>
          <a:latin typeface="+mn-lt"/>
          <a:ea typeface="ＭＳ Ｐゴシック" charset="-128"/>
        </a:defRPr>
      </a:lvl8pPr>
      <a:lvl9pPr marL="3600450" indent="-228600" algn="l" rtl="0" eaLnBrk="0" fontAlgn="base" hangingPunct="0">
        <a:spcBef>
          <a:spcPct val="35000"/>
        </a:spcBef>
        <a:spcAft>
          <a:spcPct val="0"/>
        </a:spcAft>
        <a:buClr>
          <a:schemeClr val="tx2"/>
        </a:buClr>
        <a:buSzPct val="75000"/>
        <a:buChar char="»"/>
        <a:defRPr kumimoji="1">
          <a:solidFill>
            <a:schemeClr val="tx1"/>
          </a:solidFill>
          <a:latin typeface="+mn-lt"/>
          <a:ea typeface="ＭＳ Ｐゴシック" charset="-128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.sv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sv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8.png"/><Relationship Id="rId4" Type="http://schemas.openxmlformats.org/officeDocument/2006/relationships/customXml" Target="../ink/ink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10.sv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12.sv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sv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sv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0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sv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sv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sv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9.svg"/><Relationship Id="rId5" Type="http://schemas.openxmlformats.org/officeDocument/2006/relationships/image" Target="../media/image28.png"/><Relationship Id="rId4" Type="http://schemas.openxmlformats.org/officeDocument/2006/relationships/image" Target="../media/image27.svg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0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386" name="Rectangle 2">
            <a:extLst>
              <a:ext uri="{FF2B5EF4-FFF2-40B4-BE49-F238E27FC236}">
                <a16:creationId xmlns:a16="http://schemas.microsoft.com/office/drawing/2014/main" id="{1CB68582-BBE2-4F64-8E5F-7C76410784FB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Chapter 2: Intro to Relational Model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762" name="Rectangle 2"/>
          <p:cNvSpPr>
            <a:spLocks noGrp="1" noChangeArrowheads="1"/>
          </p:cNvSpPr>
          <p:nvPr>
            <p:ph type="title"/>
          </p:nvPr>
        </p:nvSpPr>
        <p:spPr/>
        <p:txBody>
          <a:bodyPr lIns="90488" tIns="44450" rIns="90488" bIns="44450" anchor="ctr"/>
          <a:lstStyle/>
          <a:p>
            <a:r>
              <a:rPr lang="en-US" altLang="en-US" sz="2800" dirty="0"/>
              <a:t>Outline</a:t>
            </a:r>
          </a:p>
        </p:txBody>
      </p:sp>
      <p:sp>
        <p:nvSpPr>
          <p:cNvPr id="512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1" y="1104900"/>
            <a:ext cx="7496760" cy="2772156"/>
          </a:xfrm>
        </p:spPr>
        <p:txBody>
          <a:bodyPr lIns="90488" tIns="44450" rIns="90488" bIns="44450"/>
          <a:lstStyle/>
          <a:p>
            <a:r>
              <a:rPr lang="en-US" altLang="en-US" sz="1700" dirty="0"/>
              <a:t>Structure of Relational Databases</a:t>
            </a:r>
          </a:p>
          <a:p>
            <a:r>
              <a:rPr lang="en-US" altLang="en-US" sz="1700" dirty="0"/>
              <a:t>Database Schema</a:t>
            </a:r>
          </a:p>
          <a:p>
            <a:r>
              <a:rPr lang="en-US" altLang="en-US" sz="1700" dirty="0"/>
              <a:t>Keys</a:t>
            </a:r>
          </a:p>
          <a:p>
            <a:r>
              <a:rPr lang="en-US" altLang="en-US" sz="1700" dirty="0"/>
              <a:t>Schema Diagrams</a:t>
            </a:r>
          </a:p>
          <a:p>
            <a:r>
              <a:rPr lang="en-US" altLang="en-US" sz="1700" dirty="0"/>
              <a:t>Relational Query Languages</a:t>
            </a:r>
          </a:p>
          <a:p>
            <a:r>
              <a:rPr lang="en-US" altLang="en-US" sz="1700" dirty="0"/>
              <a:t>The Relational Algebra</a:t>
            </a:r>
          </a:p>
          <a:p>
            <a:endParaRPr lang="en-US" altLang="en-US" dirty="0"/>
          </a:p>
        </p:txBody>
      </p:sp>
    </p:spTree>
  </p:cSld>
  <p:clrMapOvr>
    <a:masterClrMapping/>
  </p:clrMapOvr>
  <p:transition spd="slow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280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Example of a </a:t>
            </a:r>
            <a:r>
              <a:rPr lang="en-US" altLang="en-US" sz="2800" i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Instructor</a:t>
            </a:r>
            <a:r>
              <a:rPr lang="en-US" altLang="en-US" sz="280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  Relation</a:t>
            </a:r>
          </a:p>
        </p:txBody>
      </p:sp>
      <p:sp>
        <p:nvSpPr>
          <p:cNvPr id="5123" name="Text Box 4"/>
          <p:cNvSpPr txBox="1">
            <a:spLocks noChangeArrowheads="1"/>
          </p:cNvSpPr>
          <p:nvPr/>
        </p:nvSpPr>
        <p:spPr bwMode="auto">
          <a:xfrm>
            <a:off x="7040563" y="1333500"/>
            <a:ext cx="145415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/>
            <a:r>
              <a:rPr lang="en-US" altLang="en-US" sz="1800"/>
              <a:t>attributes</a:t>
            </a:r>
          </a:p>
          <a:p>
            <a:pPr algn="ctr"/>
            <a:r>
              <a:rPr lang="en-US" altLang="en-US" sz="1800"/>
              <a:t>(or columns)</a:t>
            </a:r>
            <a:endParaRPr lang="en-US" altLang="en-US"/>
          </a:p>
        </p:txBody>
      </p:sp>
      <p:sp>
        <p:nvSpPr>
          <p:cNvPr id="5124" name="Line 5"/>
          <p:cNvSpPr>
            <a:spLocks noChangeShapeType="1"/>
          </p:cNvSpPr>
          <p:nvPr/>
        </p:nvSpPr>
        <p:spPr bwMode="auto">
          <a:xfrm flipH="1">
            <a:off x="3238499" y="1565275"/>
            <a:ext cx="3927475" cy="3508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IN"/>
          </a:p>
        </p:txBody>
      </p:sp>
      <p:sp>
        <p:nvSpPr>
          <p:cNvPr id="5125" name="Line 6"/>
          <p:cNvSpPr>
            <a:spLocks noChangeShapeType="1"/>
          </p:cNvSpPr>
          <p:nvPr/>
        </p:nvSpPr>
        <p:spPr bwMode="auto">
          <a:xfrm flipH="1">
            <a:off x="4608513" y="1546225"/>
            <a:ext cx="2557461" cy="3698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IN"/>
          </a:p>
        </p:txBody>
      </p:sp>
      <p:sp>
        <p:nvSpPr>
          <p:cNvPr id="5126" name="Line 7"/>
          <p:cNvSpPr>
            <a:spLocks noChangeShapeType="1"/>
          </p:cNvSpPr>
          <p:nvPr/>
        </p:nvSpPr>
        <p:spPr bwMode="auto">
          <a:xfrm flipH="1">
            <a:off x="5819775" y="1565275"/>
            <a:ext cx="1320800" cy="3603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IN"/>
          </a:p>
        </p:txBody>
      </p:sp>
      <p:sp>
        <p:nvSpPr>
          <p:cNvPr id="5127" name="Text Box 8"/>
          <p:cNvSpPr txBox="1">
            <a:spLocks noChangeArrowheads="1"/>
          </p:cNvSpPr>
          <p:nvPr/>
        </p:nvSpPr>
        <p:spPr bwMode="auto">
          <a:xfrm>
            <a:off x="6988175" y="2522538"/>
            <a:ext cx="108585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/>
            <a:r>
              <a:rPr lang="en-US" altLang="en-US" sz="1800"/>
              <a:t>tuples</a:t>
            </a:r>
          </a:p>
          <a:p>
            <a:pPr algn="ctr"/>
            <a:r>
              <a:rPr lang="en-US" altLang="en-US" sz="1800"/>
              <a:t>(or rows)</a:t>
            </a:r>
            <a:endParaRPr lang="en-US" altLang="en-US"/>
          </a:p>
        </p:txBody>
      </p:sp>
      <p:sp>
        <p:nvSpPr>
          <p:cNvPr id="5128" name="Line 9"/>
          <p:cNvSpPr>
            <a:spLocks noChangeShapeType="1"/>
          </p:cNvSpPr>
          <p:nvPr/>
        </p:nvSpPr>
        <p:spPr bwMode="auto">
          <a:xfrm flipH="1" flipV="1">
            <a:off x="6742113" y="2487613"/>
            <a:ext cx="369887" cy="2206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IN"/>
          </a:p>
        </p:txBody>
      </p:sp>
      <p:sp>
        <p:nvSpPr>
          <p:cNvPr id="5129" name="Line 10"/>
          <p:cNvSpPr>
            <a:spLocks noChangeShapeType="1"/>
          </p:cNvSpPr>
          <p:nvPr/>
        </p:nvSpPr>
        <p:spPr bwMode="auto">
          <a:xfrm flipH="1">
            <a:off x="6729413" y="2706688"/>
            <a:ext cx="369887" cy="1111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IN"/>
          </a:p>
        </p:txBody>
      </p:sp>
      <p:sp>
        <p:nvSpPr>
          <p:cNvPr id="5130" name="Line 11"/>
          <p:cNvSpPr>
            <a:spLocks noChangeShapeType="1"/>
          </p:cNvSpPr>
          <p:nvPr/>
        </p:nvSpPr>
        <p:spPr bwMode="auto">
          <a:xfrm flipH="1">
            <a:off x="6718300" y="2717800"/>
            <a:ext cx="392113" cy="3127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IN"/>
          </a:p>
        </p:txBody>
      </p:sp>
      <p:sp>
        <p:nvSpPr>
          <p:cNvPr id="5131" name="Line 12"/>
          <p:cNvSpPr>
            <a:spLocks noChangeShapeType="1"/>
          </p:cNvSpPr>
          <p:nvPr/>
        </p:nvSpPr>
        <p:spPr bwMode="auto">
          <a:xfrm flipH="1">
            <a:off x="6729413" y="2727325"/>
            <a:ext cx="381000" cy="5556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IN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30151978-E921-4884-8DCD-8A5563064E4B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b="13197"/>
          <a:stretch/>
        </p:blipFill>
        <p:spPr>
          <a:xfrm>
            <a:off x="1680369" y="1756896"/>
            <a:ext cx="5154612" cy="442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762" name="Rectangle 2"/>
          <p:cNvSpPr>
            <a:spLocks noGrp="1" noChangeArrowheads="1"/>
          </p:cNvSpPr>
          <p:nvPr>
            <p:ph type="title"/>
          </p:nvPr>
        </p:nvSpPr>
        <p:spPr/>
        <p:txBody>
          <a:bodyPr lIns="90488" tIns="44450" rIns="90488" bIns="44450" anchor="ctr"/>
          <a:lstStyle/>
          <a:p>
            <a:r>
              <a:rPr lang="en-US" dirty="0"/>
              <a:t>Relation Schema and Instance</a:t>
            </a:r>
            <a:endParaRPr lang="en-US" altLang="en-US" dirty="0"/>
          </a:p>
        </p:txBody>
      </p:sp>
      <p:sp>
        <p:nvSpPr>
          <p:cNvPr id="512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0" y="1104899"/>
            <a:ext cx="7979724" cy="3712197"/>
          </a:xfrm>
        </p:spPr>
        <p:txBody>
          <a:bodyPr lIns="90488" tIns="44450" rIns="90488" bIns="44450"/>
          <a:lstStyle/>
          <a:p>
            <a:r>
              <a:rPr lang="en-US" altLang="en-US" i="1" dirty="0">
                <a:ea typeface="ＭＳ Ｐゴシック" panose="020B0600070205080204" pitchFamily="34" charset="-128"/>
              </a:rPr>
              <a:t>A</a:t>
            </a:r>
            <a:r>
              <a:rPr lang="en-US" altLang="en-US" baseline="-25000" dirty="0">
                <a:ea typeface="ＭＳ Ｐゴシック" panose="020B0600070205080204" pitchFamily="34" charset="-128"/>
              </a:rPr>
              <a:t>1</a:t>
            </a:r>
            <a:r>
              <a:rPr lang="en-US" altLang="en-US" dirty="0">
                <a:ea typeface="ＭＳ Ｐゴシック" panose="020B0600070205080204" pitchFamily="34" charset="-128"/>
              </a:rPr>
              <a:t>, </a:t>
            </a:r>
            <a:r>
              <a:rPr lang="en-US" altLang="en-US" i="1" dirty="0">
                <a:ea typeface="ＭＳ Ｐゴシック" panose="020B0600070205080204" pitchFamily="34" charset="-128"/>
              </a:rPr>
              <a:t>A</a:t>
            </a:r>
            <a:r>
              <a:rPr lang="en-US" altLang="en-US" baseline="-25000" dirty="0">
                <a:ea typeface="ＭＳ Ｐゴシック" panose="020B0600070205080204" pitchFamily="34" charset="-128"/>
              </a:rPr>
              <a:t>2</a:t>
            </a:r>
            <a:r>
              <a:rPr lang="en-US" altLang="en-US" dirty="0">
                <a:ea typeface="ＭＳ Ｐゴシック" panose="020B0600070205080204" pitchFamily="34" charset="-128"/>
              </a:rPr>
              <a:t>, …, </a:t>
            </a:r>
            <a:r>
              <a:rPr lang="en-US" altLang="en-US" i="1" dirty="0">
                <a:ea typeface="ＭＳ Ｐゴシック" panose="020B0600070205080204" pitchFamily="34" charset="-128"/>
              </a:rPr>
              <a:t>A</a:t>
            </a:r>
            <a:r>
              <a:rPr lang="en-US" altLang="en-US" i="1" baseline="-25000" dirty="0">
                <a:ea typeface="ＭＳ Ｐゴシック" panose="020B0600070205080204" pitchFamily="34" charset="-128"/>
              </a:rPr>
              <a:t>n</a:t>
            </a:r>
            <a:r>
              <a:rPr lang="en-US" altLang="en-US" i="1" dirty="0">
                <a:ea typeface="ＭＳ Ｐゴシック" panose="020B0600070205080204" pitchFamily="34" charset="-128"/>
              </a:rPr>
              <a:t> </a:t>
            </a:r>
            <a:r>
              <a:rPr lang="en-US" altLang="en-US" dirty="0">
                <a:ea typeface="ＭＳ Ｐゴシック" panose="020B0600070205080204" pitchFamily="34" charset="-128"/>
              </a:rPr>
              <a:t>are </a:t>
            </a:r>
            <a:r>
              <a:rPr lang="en-US" altLang="en-US" b="1" dirty="0">
                <a:solidFill>
                  <a:srgbClr val="002060"/>
                </a:solidFill>
                <a:ea typeface="ＭＳ Ｐゴシック" panose="020B0600070205080204" pitchFamily="34" charset="-128"/>
              </a:rPr>
              <a:t>attributes</a:t>
            </a:r>
          </a:p>
          <a:p>
            <a:r>
              <a:rPr lang="en-US" altLang="en-US" i="1" dirty="0">
                <a:ea typeface="ＭＳ Ｐゴシック" panose="020B0600070205080204" pitchFamily="34" charset="-128"/>
              </a:rPr>
              <a:t>R</a:t>
            </a:r>
            <a:r>
              <a:rPr lang="en-US" altLang="en-US" dirty="0">
                <a:ea typeface="ＭＳ Ｐゴシック" panose="020B0600070205080204" pitchFamily="34" charset="-128"/>
              </a:rPr>
              <a:t> = (</a:t>
            </a:r>
            <a:r>
              <a:rPr lang="en-US" altLang="en-US" i="1" dirty="0">
                <a:ea typeface="ＭＳ Ｐゴシック" panose="020B0600070205080204" pitchFamily="34" charset="-128"/>
              </a:rPr>
              <a:t>A</a:t>
            </a:r>
            <a:r>
              <a:rPr lang="en-US" altLang="en-US" baseline="-25000" dirty="0">
                <a:ea typeface="ＭＳ Ｐゴシック" panose="020B0600070205080204" pitchFamily="34" charset="-128"/>
              </a:rPr>
              <a:t>1</a:t>
            </a:r>
            <a:r>
              <a:rPr lang="en-US" altLang="en-US" dirty="0">
                <a:ea typeface="ＭＳ Ｐゴシック" panose="020B0600070205080204" pitchFamily="34" charset="-128"/>
              </a:rPr>
              <a:t>, </a:t>
            </a:r>
            <a:r>
              <a:rPr lang="en-US" altLang="en-US" i="1" dirty="0">
                <a:ea typeface="ＭＳ Ｐゴシック" panose="020B0600070205080204" pitchFamily="34" charset="-128"/>
              </a:rPr>
              <a:t>A</a:t>
            </a:r>
            <a:r>
              <a:rPr lang="en-US" altLang="en-US" baseline="-25000" dirty="0">
                <a:ea typeface="ＭＳ Ｐゴシック" panose="020B0600070205080204" pitchFamily="34" charset="-128"/>
              </a:rPr>
              <a:t>2</a:t>
            </a:r>
            <a:r>
              <a:rPr lang="en-US" altLang="en-US" dirty="0">
                <a:ea typeface="ＭＳ Ｐゴシック" panose="020B0600070205080204" pitchFamily="34" charset="-128"/>
              </a:rPr>
              <a:t>, …, </a:t>
            </a:r>
            <a:r>
              <a:rPr lang="en-US" altLang="en-US" i="1" dirty="0">
                <a:ea typeface="ＭＳ Ｐゴシック" panose="020B0600070205080204" pitchFamily="34" charset="-128"/>
              </a:rPr>
              <a:t>A</a:t>
            </a:r>
            <a:r>
              <a:rPr lang="en-US" altLang="en-US" i="1" baseline="-25000" dirty="0">
                <a:ea typeface="ＭＳ Ｐゴシック" panose="020B0600070205080204" pitchFamily="34" charset="-128"/>
              </a:rPr>
              <a:t>n</a:t>
            </a:r>
            <a:r>
              <a:rPr lang="en-US" altLang="en-US" dirty="0">
                <a:ea typeface="ＭＳ Ｐゴシック" panose="020B0600070205080204" pitchFamily="34" charset="-128"/>
              </a:rPr>
              <a:t> ) is a </a:t>
            </a:r>
            <a:r>
              <a:rPr lang="en-US" altLang="en-US" b="1" dirty="0">
                <a:solidFill>
                  <a:srgbClr val="002060"/>
                </a:solidFill>
                <a:ea typeface="ＭＳ Ｐゴシック" panose="020B0600070205080204" pitchFamily="34" charset="-128"/>
              </a:rPr>
              <a:t>relation schema</a:t>
            </a:r>
          </a:p>
          <a:p>
            <a:pPr>
              <a:lnSpc>
                <a:spcPct val="120000"/>
              </a:lnSpc>
              <a:buFont typeface="Monotype Sorts" charset="2"/>
              <a:buNone/>
            </a:pPr>
            <a:r>
              <a:rPr lang="en-US" altLang="en-US" dirty="0">
                <a:ea typeface="ＭＳ Ｐゴシック" panose="020B0600070205080204" pitchFamily="34" charset="-128"/>
              </a:rPr>
              <a:t>	Example:</a:t>
            </a:r>
          </a:p>
          <a:p>
            <a:pPr>
              <a:lnSpc>
                <a:spcPct val="120000"/>
              </a:lnSpc>
              <a:buFont typeface="Monotype Sorts" charset="2"/>
              <a:buNone/>
            </a:pPr>
            <a:r>
              <a:rPr lang="en-US" altLang="en-US" dirty="0">
                <a:ea typeface="ＭＳ Ｐゴシック" panose="020B0600070205080204" pitchFamily="34" charset="-128"/>
              </a:rPr>
              <a:t>	</a:t>
            </a:r>
            <a:r>
              <a:rPr lang="en-US" altLang="en-US" i="1" dirty="0">
                <a:ea typeface="ＭＳ Ｐゴシック" panose="020B0600070205080204" pitchFamily="34" charset="-128"/>
              </a:rPr>
              <a:t>     instructor </a:t>
            </a:r>
            <a:r>
              <a:rPr lang="en-US" altLang="en-US" dirty="0">
                <a:ea typeface="ＭＳ Ｐゴシック" panose="020B0600070205080204" pitchFamily="34" charset="-128"/>
              </a:rPr>
              <a:t> = (</a:t>
            </a:r>
            <a:r>
              <a:rPr lang="en-US" altLang="en-US" i="1" dirty="0">
                <a:ea typeface="ＭＳ Ｐゴシック" panose="020B0600070205080204" pitchFamily="34" charset="-128"/>
              </a:rPr>
              <a:t>ID,  name, dept_name, salary</a:t>
            </a:r>
            <a:r>
              <a:rPr lang="en-US" altLang="en-US" dirty="0">
                <a:ea typeface="ＭＳ Ｐゴシック" panose="020B0600070205080204" pitchFamily="34" charset="-128"/>
              </a:rPr>
              <a:t>)</a:t>
            </a:r>
          </a:p>
          <a:p>
            <a:pPr>
              <a:lnSpc>
                <a:spcPct val="120000"/>
              </a:lnSpc>
            </a:pPr>
            <a:r>
              <a:rPr lang="en-US" altLang="en-US" dirty="0"/>
              <a:t>A </a:t>
            </a:r>
            <a:r>
              <a:rPr lang="en-US" altLang="en-US" b="1" dirty="0">
                <a:solidFill>
                  <a:srgbClr val="002060"/>
                </a:solidFill>
              </a:rPr>
              <a:t>relation instance </a:t>
            </a:r>
            <a:r>
              <a:rPr lang="en-US" altLang="en-US" i="1" dirty="0"/>
              <a:t>r</a:t>
            </a:r>
            <a:r>
              <a:rPr lang="en-US" altLang="en-US" dirty="0"/>
              <a:t> defined over schema </a:t>
            </a:r>
            <a:r>
              <a:rPr lang="en-US" altLang="en-US" i="1" dirty="0"/>
              <a:t>R</a:t>
            </a:r>
            <a:r>
              <a:rPr lang="en-US" altLang="en-US" dirty="0"/>
              <a:t> is denoted  by </a:t>
            </a:r>
            <a:r>
              <a:rPr lang="en-US" altLang="en-US" i="1" dirty="0"/>
              <a:t>r </a:t>
            </a:r>
            <a:r>
              <a:rPr lang="en-US" altLang="en-US" dirty="0"/>
              <a:t>(</a:t>
            </a:r>
            <a:r>
              <a:rPr lang="en-US" altLang="en-US" i="1" dirty="0"/>
              <a:t>R</a:t>
            </a:r>
            <a:r>
              <a:rPr lang="en-US" altLang="en-US" dirty="0"/>
              <a:t>).</a:t>
            </a:r>
          </a:p>
          <a:p>
            <a:pPr>
              <a:lnSpc>
                <a:spcPct val="120000"/>
              </a:lnSpc>
            </a:pPr>
            <a:r>
              <a:rPr lang="en-US" altLang="en-US" dirty="0"/>
              <a:t>The current values a relation are specified by a table</a:t>
            </a:r>
          </a:p>
          <a:p>
            <a:pPr>
              <a:lnSpc>
                <a:spcPct val="120000"/>
              </a:lnSpc>
            </a:pPr>
            <a:r>
              <a:rPr lang="en-US" altLang="en-US" dirty="0"/>
              <a:t>An element </a:t>
            </a:r>
            <a:r>
              <a:rPr lang="en-US" altLang="en-US" b="1" i="1" dirty="0">
                <a:solidFill>
                  <a:srgbClr val="000099"/>
                </a:solidFill>
              </a:rPr>
              <a:t>t</a:t>
            </a:r>
            <a:r>
              <a:rPr lang="en-US" altLang="en-US" b="1" dirty="0">
                <a:solidFill>
                  <a:srgbClr val="000099"/>
                </a:solidFill>
              </a:rPr>
              <a:t> </a:t>
            </a:r>
            <a:r>
              <a:rPr lang="en-US" altLang="en-US" dirty="0"/>
              <a:t>of</a:t>
            </a:r>
            <a:r>
              <a:rPr lang="en-US" altLang="en-US" b="1" dirty="0">
                <a:solidFill>
                  <a:schemeClr val="bg2"/>
                </a:solidFill>
              </a:rPr>
              <a:t> </a:t>
            </a:r>
            <a:r>
              <a:rPr lang="en-US" altLang="en-US" dirty="0"/>
              <a:t>relation</a:t>
            </a:r>
            <a:r>
              <a:rPr lang="en-US" altLang="en-US" b="1" dirty="0">
                <a:solidFill>
                  <a:schemeClr val="bg2"/>
                </a:solidFill>
              </a:rPr>
              <a:t> </a:t>
            </a:r>
            <a:r>
              <a:rPr lang="en-US" altLang="en-US" b="1" i="1" dirty="0">
                <a:solidFill>
                  <a:srgbClr val="000099"/>
                </a:solidFill>
              </a:rPr>
              <a:t>r</a:t>
            </a:r>
            <a:r>
              <a:rPr lang="en-US" altLang="en-US" dirty="0"/>
              <a:t> is called a  </a:t>
            </a:r>
            <a:r>
              <a:rPr lang="en-US" altLang="en-US" b="1" dirty="0">
                <a:solidFill>
                  <a:srgbClr val="002060"/>
                </a:solidFill>
              </a:rPr>
              <a:t>tuple</a:t>
            </a:r>
            <a:r>
              <a:rPr lang="en-US" altLang="en-US" dirty="0"/>
              <a:t> and is represented by a </a:t>
            </a:r>
            <a:r>
              <a:rPr lang="en-US" altLang="en-US" b="1" dirty="0">
                <a:solidFill>
                  <a:srgbClr val="002060"/>
                </a:solidFill>
              </a:rPr>
              <a:t>row</a:t>
            </a:r>
            <a:r>
              <a:rPr lang="en-US" altLang="en-US" i="1" dirty="0"/>
              <a:t> </a:t>
            </a:r>
            <a:r>
              <a:rPr lang="en-US" altLang="en-US" dirty="0"/>
              <a:t>in a table</a:t>
            </a:r>
          </a:p>
          <a:p>
            <a:pPr>
              <a:lnSpc>
                <a:spcPct val="120000"/>
              </a:lnSpc>
            </a:pPr>
            <a:endParaRPr lang="en-US" altLang="en-US" sz="1700" dirty="0"/>
          </a:p>
        </p:txBody>
      </p:sp>
    </p:spTree>
    <p:extLst>
      <p:ext uri="{BB962C8B-B14F-4D97-AF65-F5344CB8AC3E}">
        <p14:creationId xmlns:p14="http://schemas.microsoft.com/office/powerpoint/2010/main" val="273649219"/>
      </p:ext>
    </p:extLst>
  </p:cSld>
  <p:clrMapOvr>
    <a:masterClrMapping/>
  </p:clrMapOvr>
  <p:transition spd="slow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8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280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Attributes</a:t>
            </a:r>
          </a:p>
        </p:txBody>
      </p:sp>
      <p:sp>
        <p:nvSpPr>
          <p:cNvPr id="614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1" y="1219200"/>
            <a:ext cx="7656558" cy="4230624"/>
          </a:xfrm>
        </p:spPr>
        <p:txBody>
          <a:bodyPr/>
          <a:lstStyle/>
          <a:p>
            <a:r>
              <a:rPr lang="en-US" altLang="en-US" sz="1700" dirty="0"/>
              <a:t>The set of allowed values for each attribute is called the </a:t>
            </a:r>
            <a:r>
              <a:rPr lang="en-US" altLang="en-US" sz="1700" b="1" dirty="0">
                <a:solidFill>
                  <a:srgbClr val="002060"/>
                </a:solidFill>
              </a:rPr>
              <a:t>domain</a:t>
            </a:r>
            <a:r>
              <a:rPr lang="en-US" altLang="en-US" sz="1700" dirty="0">
                <a:solidFill>
                  <a:srgbClr val="002060"/>
                </a:solidFill>
              </a:rPr>
              <a:t> </a:t>
            </a:r>
            <a:r>
              <a:rPr lang="en-US" altLang="en-US" sz="1700" dirty="0"/>
              <a:t>of the attribute</a:t>
            </a:r>
          </a:p>
          <a:p>
            <a:r>
              <a:rPr lang="en-US" altLang="en-US" sz="1700" dirty="0"/>
              <a:t>Attribute values are (normally) required to be </a:t>
            </a:r>
            <a:r>
              <a:rPr lang="en-US" altLang="en-US" sz="1700" b="1" dirty="0">
                <a:solidFill>
                  <a:srgbClr val="002060"/>
                </a:solidFill>
              </a:rPr>
              <a:t>atomic</a:t>
            </a:r>
            <a:r>
              <a:rPr lang="en-US" altLang="en-US" sz="1700" dirty="0"/>
              <a:t>; that is, indivisible</a:t>
            </a:r>
          </a:p>
          <a:p>
            <a:r>
              <a:rPr lang="en-US" altLang="en-US" sz="1700" dirty="0"/>
              <a:t>The special value</a:t>
            </a:r>
            <a:r>
              <a:rPr lang="en-US" altLang="en-US" sz="1700" b="1" dirty="0">
                <a:solidFill>
                  <a:schemeClr val="tx2"/>
                </a:solidFill>
              </a:rPr>
              <a:t> </a:t>
            </a:r>
            <a:r>
              <a:rPr lang="en-US" altLang="en-US" sz="1700" b="1" i="1" dirty="0">
                <a:solidFill>
                  <a:srgbClr val="000000"/>
                </a:solidFill>
              </a:rPr>
              <a:t>null</a:t>
            </a:r>
            <a:r>
              <a:rPr lang="en-US" altLang="en-US" sz="1700" dirty="0"/>
              <a:t>  is a member of every domain. Indicated that the value is “unknown”</a:t>
            </a:r>
          </a:p>
          <a:p>
            <a:r>
              <a:rPr lang="en-US" altLang="en-US" sz="1700" dirty="0"/>
              <a:t>The null value causes complications in the definition of many operations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8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280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Relations are Unordered</a:t>
            </a:r>
          </a:p>
        </p:txBody>
      </p:sp>
      <p:sp>
        <p:nvSpPr>
          <p:cNvPr id="614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0" y="1219200"/>
            <a:ext cx="7621047" cy="1048512"/>
          </a:xfrm>
        </p:spPr>
        <p:txBody>
          <a:bodyPr/>
          <a:lstStyle/>
          <a:p>
            <a:r>
              <a:rPr lang="en-US" altLang="en-US" sz="1700" dirty="0"/>
              <a:t>Order of tuples is irrelevant (tuples may be stored in an arbitrary order)</a:t>
            </a:r>
          </a:p>
          <a:p>
            <a:r>
              <a:rPr lang="en-US" altLang="en-US" sz="1700" dirty="0"/>
              <a:t>Example: </a:t>
            </a:r>
            <a:r>
              <a:rPr lang="en-US" altLang="en-US" sz="1700" i="1" dirty="0"/>
              <a:t>instructor</a:t>
            </a:r>
            <a:r>
              <a:rPr lang="en-US" altLang="en-US" sz="1700" dirty="0"/>
              <a:t>  relation with unordered tuples</a:t>
            </a:r>
          </a:p>
          <a:p>
            <a:endParaRPr lang="en-US" altLang="en-US" dirty="0"/>
          </a:p>
          <a:p>
            <a:endParaRPr lang="en-US" altLang="en-US" dirty="0"/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422967B4-430E-442F-B611-B9DC46ED7A2B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t="-1" b="12197"/>
          <a:stretch/>
        </p:blipFill>
        <p:spPr>
          <a:xfrm>
            <a:off x="1948917" y="2188304"/>
            <a:ext cx="4702738" cy="3713582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280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Database Schema</a:t>
            </a:r>
          </a:p>
        </p:txBody>
      </p:sp>
      <p:sp>
        <p:nvSpPr>
          <p:cNvPr id="921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1" y="1102297"/>
            <a:ext cx="7594414" cy="2055431"/>
          </a:xfrm>
        </p:spPr>
        <p:txBody>
          <a:bodyPr/>
          <a:lstStyle/>
          <a:p>
            <a:r>
              <a:rPr lang="en-US" altLang="en-US" sz="1700" b="1" dirty="0">
                <a:solidFill>
                  <a:srgbClr val="002060"/>
                </a:solidFill>
                <a:sym typeface="Symbol" panose="05050102010706020507" pitchFamily="18" charset="2"/>
              </a:rPr>
              <a:t>Database schema </a:t>
            </a:r>
            <a:r>
              <a:rPr lang="en-US" altLang="en-US" sz="1700" dirty="0">
                <a:sym typeface="Symbol" panose="05050102010706020507" pitchFamily="18" charset="2"/>
              </a:rPr>
              <a:t>-- is the logical structure of the database.</a:t>
            </a:r>
          </a:p>
          <a:p>
            <a:r>
              <a:rPr lang="en-US" altLang="en-US" sz="1700" b="1" dirty="0">
                <a:solidFill>
                  <a:srgbClr val="002060"/>
                </a:solidFill>
                <a:sym typeface="Symbol" panose="05050102010706020507" pitchFamily="18" charset="2"/>
              </a:rPr>
              <a:t>Database instance --</a:t>
            </a:r>
            <a:r>
              <a:rPr lang="en-US" altLang="en-US" sz="1700" dirty="0">
                <a:sym typeface="Symbol" panose="05050102010706020507" pitchFamily="18" charset="2"/>
              </a:rPr>
              <a:t> is a snapshot of the data in the database at a given instant in time. </a:t>
            </a:r>
          </a:p>
          <a:p>
            <a:r>
              <a:rPr lang="en-US" altLang="en-US" sz="1700" dirty="0">
                <a:sym typeface="Symbol" panose="05050102010706020507" pitchFamily="18" charset="2"/>
              </a:rPr>
              <a:t>Example:</a:t>
            </a:r>
          </a:p>
          <a:p>
            <a:pPr lvl="1"/>
            <a:r>
              <a:rPr lang="en-US" altLang="en-US" sz="1700" dirty="0">
                <a:sym typeface="Symbol" panose="05050102010706020507" pitchFamily="18" charset="2"/>
              </a:rPr>
              <a:t>schema:   i</a:t>
            </a:r>
            <a:r>
              <a:rPr lang="en-US" altLang="en-US" sz="1700" i="1" dirty="0">
                <a:sym typeface="Symbol" panose="05050102010706020507" pitchFamily="18" charset="2"/>
              </a:rPr>
              <a:t>nstructor</a:t>
            </a:r>
            <a:r>
              <a:rPr lang="en-US" altLang="en-US" sz="1700" dirty="0">
                <a:sym typeface="Symbol" panose="05050102010706020507" pitchFamily="18" charset="2"/>
              </a:rPr>
              <a:t> (</a:t>
            </a:r>
            <a:r>
              <a:rPr lang="en-US" altLang="en-US" sz="1700" i="1" dirty="0">
                <a:sym typeface="Symbol" panose="05050102010706020507" pitchFamily="18" charset="2"/>
              </a:rPr>
              <a:t>ID, name, dept_name, salary</a:t>
            </a:r>
            <a:r>
              <a:rPr lang="en-US" altLang="en-US" sz="1700" dirty="0">
                <a:sym typeface="Symbol" panose="05050102010706020507" pitchFamily="18" charset="2"/>
              </a:rPr>
              <a:t>)</a:t>
            </a:r>
          </a:p>
          <a:p>
            <a:pPr lvl="1"/>
            <a:r>
              <a:rPr lang="en-US" altLang="en-US" sz="1700" dirty="0">
                <a:sym typeface="Symbol" panose="05050102010706020507" pitchFamily="18" charset="2"/>
              </a:rPr>
              <a:t>Instance: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BD43850F-C798-4B0C-AB3F-7891AC78428F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t="-1" b="12197"/>
          <a:stretch/>
        </p:blipFill>
        <p:spPr>
          <a:xfrm>
            <a:off x="2589387" y="2909279"/>
            <a:ext cx="4483051" cy="3540103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02" name="Rectangle 2"/>
          <p:cNvSpPr>
            <a:spLocks noGrp="1" noChangeArrowheads="1"/>
          </p:cNvSpPr>
          <p:nvPr>
            <p:ph type="title"/>
          </p:nvPr>
        </p:nvSpPr>
        <p:spPr>
          <a:xfrm>
            <a:off x="903215" y="117475"/>
            <a:ext cx="8077200" cy="609600"/>
          </a:xfrm>
        </p:spPr>
        <p:txBody>
          <a:bodyPr/>
          <a:lstStyle/>
          <a:p>
            <a:r>
              <a:rPr lang="en-US" altLang="en-US" sz="280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Keys</a:t>
            </a:r>
          </a:p>
        </p:txBody>
      </p:sp>
      <p:sp>
        <p:nvSpPr>
          <p:cNvPr id="921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03215" y="825686"/>
            <a:ext cx="7647680" cy="4896167"/>
          </a:xfrm>
        </p:spPr>
        <p:txBody>
          <a:bodyPr/>
          <a:lstStyle/>
          <a:p>
            <a:r>
              <a:rPr lang="en-US" altLang="en-US" sz="1700" dirty="0"/>
              <a:t>Let K </a:t>
            </a:r>
            <a:r>
              <a:rPr lang="en-US" altLang="en-US" sz="1700" dirty="0">
                <a:sym typeface="Symbol" panose="05050102010706020507" pitchFamily="18" charset="2"/>
              </a:rPr>
              <a:t> R</a:t>
            </a:r>
          </a:p>
          <a:p>
            <a:r>
              <a:rPr lang="en-US" altLang="en-US" sz="1700" i="1" dirty="0">
                <a:sym typeface="Symbol" panose="05050102010706020507" pitchFamily="18" charset="2"/>
              </a:rPr>
              <a:t>K </a:t>
            </a:r>
            <a:r>
              <a:rPr lang="en-US" altLang="en-US" sz="1700" dirty="0">
                <a:sym typeface="Symbol" panose="05050102010706020507" pitchFamily="18" charset="2"/>
              </a:rPr>
              <a:t>is a </a:t>
            </a:r>
            <a:r>
              <a:rPr lang="en-US" altLang="en-US" sz="1700" b="1" dirty="0" err="1">
                <a:solidFill>
                  <a:srgbClr val="002060"/>
                </a:solidFill>
                <a:sym typeface="Symbol" panose="05050102010706020507" pitchFamily="18" charset="2"/>
              </a:rPr>
              <a:t>superkey</a:t>
            </a:r>
            <a:r>
              <a:rPr lang="en-US" altLang="en-US" sz="1700" b="1" dirty="0">
                <a:solidFill>
                  <a:schemeClr val="tx2"/>
                </a:solidFill>
                <a:sym typeface="Symbol" panose="05050102010706020507" pitchFamily="18" charset="2"/>
              </a:rPr>
              <a:t> </a:t>
            </a:r>
            <a:r>
              <a:rPr lang="en-US" altLang="en-US" sz="1700" dirty="0">
                <a:sym typeface="Symbol" panose="05050102010706020507" pitchFamily="18" charset="2"/>
              </a:rPr>
              <a:t>of </a:t>
            </a:r>
            <a:r>
              <a:rPr lang="en-US" altLang="en-US" sz="1700" i="1" dirty="0">
                <a:sym typeface="Symbol" panose="05050102010706020507" pitchFamily="18" charset="2"/>
              </a:rPr>
              <a:t>R</a:t>
            </a:r>
            <a:r>
              <a:rPr lang="en-US" altLang="en-US" sz="1700" dirty="0">
                <a:sym typeface="Symbol" panose="05050102010706020507" pitchFamily="18" charset="2"/>
              </a:rPr>
              <a:t> if values for </a:t>
            </a:r>
            <a:r>
              <a:rPr lang="en-US" altLang="en-US" sz="1700" i="1" dirty="0">
                <a:sym typeface="Symbol" panose="05050102010706020507" pitchFamily="18" charset="2"/>
              </a:rPr>
              <a:t>K</a:t>
            </a:r>
            <a:r>
              <a:rPr lang="en-US" altLang="en-US" sz="1700" dirty="0">
                <a:sym typeface="Symbol" panose="05050102010706020507" pitchFamily="18" charset="2"/>
              </a:rPr>
              <a:t> are sufficient to identify a unique tuple of each possible relation </a:t>
            </a:r>
            <a:r>
              <a:rPr lang="en-US" altLang="en-US" sz="1700" i="1" dirty="0">
                <a:sym typeface="Symbol" panose="05050102010706020507" pitchFamily="18" charset="2"/>
              </a:rPr>
              <a:t>r(R)</a:t>
            </a:r>
            <a:r>
              <a:rPr lang="en-US" altLang="en-US" sz="1700" dirty="0">
                <a:sym typeface="Symbol" panose="05050102010706020507" pitchFamily="18" charset="2"/>
              </a:rPr>
              <a:t> </a:t>
            </a:r>
          </a:p>
          <a:p>
            <a:pPr lvl="1">
              <a:lnSpc>
                <a:spcPct val="130000"/>
              </a:lnSpc>
            </a:pPr>
            <a:r>
              <a:rPr lang="en-US" altLang="en-US" sz="1700" dirty="0">
                <a:sym typeface="Symbol" panose="05050102010706020507" pitchFamily="18" charset="2"/>
              </a:rPr>
              <a:t>Example:  {</a:t>
            </a:r>
            <a:r>
              <a:rPr lang="en-US" altLang="en-US" sz="1700" i="1" dirty="0">
                <a:sym typeface="Symbol" panose="05050102010706020507" pitchFamily="18" charset="2"/>
              </a:rPr>
              <a:t>ID</a:t>
            </a:r>
            <a:r>
              <a:rPr lang="en-US" altLang="en-US" sz="1700" dirty="0">
                <a:sym typeface="Symbol" panose="05050102010706020507" pitchFamily="18" charset="2"/>
              </a:rPr>
              <a:t>} and {ID, name} are both super-keys of </a:t>
            </a:r>
            <a:r>
              <a:rPr lang="en-US" altLang="en-US" sz="1700" i="1" dirty="0">
                <a:sym typeface="Symbol" panose="05050102010706020507" pitchFamily="18" charset="2"/>
              </a:rPr>
              <a:t>instructor.</a:t>
            </a:r>
            <a:endParaRPr lang="en-US" altLang="en-US" sz="1700" dirty="0">
              <a:sym typeface="Symbol" panose="05050102010706020507" pitchFamily="18" charset="2"/>
            </a:endParaRPr>
          </a:p>
          <a:p>
            <a:pPr>
              <a:lnSpc>
                <a:spcPct val="120000"/>
              </a:lnSpc>
            </a:pPr>
            <a:r>
              <a:rPr lang="en-US" altLang="en-US" sz="1700" dirty="0" err="1">
                <a:sym typeface="Symbol" panose="05050102010706020507" pitchFamily="18" charset="2"/>
              </a:rPr>
              <a:t>Superkey</a:t>
            </a:r>
            <a:r>
              <a:rPr lang="en-US" altLang="en-US" sz="1700" dirty="0">
                <a:sym typeface="Symbol" panose="05050102010706020507" pitchFamily="18" charset="2"/>
              </a:rPr>
              <a:t> </a:t>
            </a:r>
            <a:r>
              <a:rPr lang="en-US" altLang="en-US" sz="1700" i="1" dirty="0">
                <a:sym typeface="Symbol" panose="05050102010706020507" pitchFamily="18" charset="2"/>
              </a:rPr>
              <a:t>K</a:t>
            </a:r>
            <a:r>
              <a:rPr lang="en-US" altLang="en-US" sz="1700" dirty="0">
                <a:sym typeface="Symbol" panose="05050102010706020507" pitchFamily="18" charset="2"/>
              </a:rPr>
              <a:t> is a </a:t>
            </a:r>
            <a:r>
              <a:rPr lang="en-US" altLang="en-US" sz="1700" b="1" dirty="0">
                <a:solidFill>
                  <a:srgbClr val="002060"/>
                </a:solidFill>
                <a:sym typeface="Symbol" panose="05050102010706020507" pitchFamily="18" charset="2"/>
              </a:rPr>
              <a:t>candidate key</a:t>
            </a:r>
            <a:r>
              <a:rPr lang="en-US" altLang="en-US" sz="1700" dirty="0">
                <a:sym typeface="Symbol" panose="05050102010706020507" pitchFamily="18" charset="2"/>
              </a:rPr>
              <a:t> if </a:t>
            </a:r>
            <a:r>
              <a:rPr lang="en-US" altLang="en-US" sz="1700" i="1" dirty="0">
                <a:sym typeface="Symbol" panose="05050102010706020507" pitchFamily="18" charset="2"/>
              </a:rPr>
              <a:t>K</a:t>
            </a:r>
            <a:r>
              <a:rPr lang="en-US" altLang="en-US" sz="1700" dirty="0">
                <a:sym typeface="Symbol" panose="05050102010706020507" pitchFamily="18" charset="2"/>
              </a:rPr>
              <a:t> is minimal</a:t>
            </a:r>
            <a:br>
              <a:rPr lang="en-US" altLang="en-US" sz="1700" dirty="0">
                <a:sym typeface="Symbol" panose="05050102010706020507" pitchFamily="18" charset="2"/>
              </a:rPr>
            </a:br>
            <a:r>
              <a:rPr lang="en-US" altLang="en-US" sz="1700" dirty="0">
                <a:sym typeface="Symbol" panose="05050102010706020507" pitchFamily="18" charset="2"/>
              </a:rPr>
              <a:t>Example:  {</a:t>
            </a:r>
            <a:r>
              <a:rPr lang="en-US" altLang="en-US" sz="1700" i="1" dirty="0">
                <a:sym typeface="Symbol" panose="05050102010706020507" pitchFamily="18" charset="2"/>
              </a:rPr>
              <a:t>ID</a:t>
            </a:r>
            <a:r>
              <a:rPr lang="en-US" altLang="en-US" sz="1700" dirty="0">
                <a:sym typeface="Symbol" panose="05050102010706020507" pitchFamily="18" charset="2"/>
              </a:rPr>
              <a:t>} is a candidate key for </a:t>
            </a:r>
            <a:r>
              <a:rPr lang="en-US" altLang="en-US" sz="1700" i="1" dirty="0">
                <a:sym typeface="Symbol" panose="05050102010706020507" pitchFamily="18" charset="2"/>
              </a:rPr>
              <a:t>Instructor</a:t>
            </a:r>
            <a:endParaRPr lang="en-US" altLang="en-US" sz="1700" dirty="0">
              <a:sym typeface="Symbol" panose="05050102010706020507" pitchFamily="18" charset="2"/>
            </a:endParaRPr>
          </a:p>
          <a:p>
            <a:pPr>
              <a:lnSpc>
                <a:spcPct val="120000"/>
              </a:lnSpc>
            </a:pPr>
            <a:r>
              <a:rPr lang="en-US" altLang="en-US" sz="1700" dirty="0">
                <a:sym typeface="Symbol" panose="05050102010706020507" pitchFamily="18" charset="2"/>
              </a:rPr>
              <a:t>One of the candidate keys is selected to be the </a:t>
            </a:r>
            <a:r>
              <a:rPr lang="en-US" altLang="en-US" sz="1700" b="1" dirty="0">
                <a:solidFill>
                  <a:srgbClr val="002060"/>
                </a:solidFill>
                <a:sym typeface="Symbol" panose="05050102010706020507" pitchFamily="18" charset="2"/>
              </a:rPr>
              <a:t>primary key</a:t>
            </a:r>
            <a:r>
              <a:rPr lang="en-US" altLang="en-US" sz="1700" dirty="0">
                <a:sym typeface="Symbol" panose="05050102010706020507" pitchFamily="18" charset="2"/>
              </a:rPr>
              <a:t>.</a:t>
            </a:r>
          </a:p>
          <a:p>
            <a:pPr lvl="1"/>
            <a:r>
              <a:rPr lang="en-US" b="1" dirty="0"/>
              <a:t>Uniqueness</a:t>
            </a:r>
            <a:r>
              <a:rPr lang="en-US" dirty="0"/>
              <a:t>: No two tuples can have the same primary key value.</a:t>
            </a:r>
          </a:p>
          <a:p>
            <a:pPr lvl="1"/>
            <a:r>
              <a:rPr lang="en-US" b="1" dirty="0">
                <a:highlight>
                  <a:srgbClr val="FFFF00"/>
                </a:highlight>
              </a:rPr>
              <a:t>Non-null</a:t>
            </a:r>
            <a:r>
              <a:rPr lang="en-US" dirty="0">
                <a:highlight>
                  <a:srgbClr val="FFFF00"/>
                </a:highlight>
              </a:rPr>
              <a:t>: A primary key cannot contain NULL. If a </a:t>
            </a:r>
            <a:r>
              <a:rPr lang="en-US" b="1" dirty="0">
                <a:highlight>
                  <a:srgbClr val="FFFF00"/>
                </a:highlight>
              </a:rPr>
              <a:t>primary key is composite (4 attributes)</a:t>
            </a:r>
            <a:r>
              <a:rPr lang="en-US" dirty="0">
                <a:highlight>
                  <a:srgbClr val="FFFF00"/>
                </a:highlight>
              </a:rPr>
              <a:t>, then </a:t>
            </a:r>
            <a:r>
              <a:rPr lang="en-US" b="1" dirty="0">
                <a:highlight>
                  <a:srgbClr val="FFFF00"/>
                </a:highlight>
              </a:rPr>
              <a:t>every single attribute in that key must be NOT NULL</a:t>
            </a:r>
            <a:r>
              <a:rPr lang="en-US" dirty="0">
                <a:highlight>
                  <a:srgbClr val="FFFF00"/>
                </a:highlight>
              </a:rPr>
              <a:t>.</a:t>
            </a:r>
          </a:p>
          <a:p>
            <a:pPr lvl="1"/>
            <a:r>
              <a:rPr lang="en-US" b="1" dirty="0"/>
              <a:t>Minimal</a:t>
            </a:r>
            <a:r>
              <a:rPr lang="en-US" dirty="0"/>
              <a:t>: No proper subset of it is also unique.</a:t>
            </a:r>
            <a:endParaRPr lang="en-US" altLang="en-US" b="1" dirty="0">
              <a:solidFill>
                <a:srgbClr val="002060"/>
              </a:solidFill>
            </a:endParaRPr>
          </a:p>
          <a:p>
            <a:r>
              <a:rPr lang="en-US" altLang="en-US" sz="1700" b="1" dirty="0">
                <a:solidFill>
                  <a:srgbClr val="002060"/>
                </a:solidFill>
              </a:rPr>
              <a:t>Foreign key</a:t>
            </a:r>
            <a:r>
              <a:rPr lang="en-US" altLang="en-US" sz="1700" dirty="0">
                <a:solidFill>
                  <a:srgbClr val="002060"/>
                </a:solidFill>
              </a:rPr>
              <a:t> </a:t>
            </a:r>
            <a:r>
              <a:rPr lang="en-US" altLang="en-US" sz="1700" dirty="0"/>
              <a:t>constraint: Value in one relation must appear in another</a:t>
            </a:r>
          </a:p>
          <a:p>
            <a:pPr lvl="1"/>
            <a:r>
              <a:rPr lang="en-US" altLang="en-US" sz="1700" b="1" dirty="0">
                <a:solidFill>
                  <a:srgbClr val="002060"/>
                </a:solidFill>
              </a:rPr>
              <a:t>Referencing</a:t>
            </a:r>
            <a:r>
              <a:rPr lang="en-US" altLang="en-US" sz="1700" dirty="0"/>
              <a:t> relation</a:t>
            </a:r>
          </a:p>
          <a:p>
            <a:pPr lvl="1"/>
            <a:r>
              <a:rPr lang="en-US" altLang="en-US" sz="1700" b="1" dirty="0">
                <a:solidFill>
                  <a:srgbClr val="002060"/>
                </a:solidFill>
              </a:rPr>
              <a:t>Referenced</a:t>
            </a:r>
            <a:r>
              <a:rPr lang="en-US" altLang="en-US" sz="1700" dirty="0"/>
              <a:t> relation</a:t>
            </a:r>
          </a:p>
          <a:p>
            <a:pPr lvl="1"/>
            <a:r>
              <a:rPr lang="en-US" altLang="en-US" sz="1700" dirty="0">
                <a:sym typeface="Symbol" panose="05050102010706020507" pitchFamily="18" charset="2"/>
              </a:rPr>
              <a:t>Example: </a:t>
            </a:r>
            <a:r>
              <a:rPr lang="en-US" altLang="en-US" sz="1700" i="1" dirty="0">
                <a:sym typeface="Symbol" panose="05050102010706020507" pitchFamily="18" charset="2"/>
              </a:rPr>
              <a:t>dept_name</a:t>
            </a:r>
            <a:r>
              <a:rPr lang="en-US" altLang="en-US" sz="1700" dirty="0">
                <a:sym typeface="Symbol" panose="05050102010706020507" pitchFamily="18" charset="2"/>
              </a:rPr>
              <a:t> in i</a:t>
            </a:r>
            <a:r>
              <a:rPr lang="en-US" altLang="en-US" sz="1700" i="1" dirty="0">
                <a:sym typeface="Symbol" panose="05050102010706020507" pitchFamily="18" charset="2"/>
              </a:rPr>
              <a:t>nstructor</a:t>
            </a:r>
            <a:r>
              <a:rPr lang="en-US" altLang="en-US" sz="1700" dirty="0">
                <a:sym typeface="Symbol" panose="05050102010706020507" pitchFamily="18" charset="2"/>
              </a:rPr>
              <a:t>  is a foreign key from </a:t>
            </a:r>
            <a:r>
              <a:rPr lang="en-US" altLang="en-US" sz="1700" i="1" dirty="0">
                <a:sym typeface="Symbol" panose="05050102010706020507" pitchFamily="18" charset="2"/>
              </a:rPr>
              <a:t>instructor</a:t>
            </a:r>
            <a:r>
              <a:rPr lang="en-US" altLang="en-US" sz="1700" dirty="0">
                <a:sym typeface="Symbol" panose="05050102010706020507" pitchFamily="18" charset="2"/>
              </a:rPr>
              <a:t> referencing </a:t>
            </a:r>
            <a:r>
              <a:rPr lang="en-US" altLang="en-US" sz="1700" i="1" dirty="0">
                <a:sym typeface="Symbol" panose="05050102010706020507" pitchFamily="18" charset="2"/>
              </a:rPr>
              <a:t>department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C9911B-DFFF-DEFF-A842-CEF2570B19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Foreign</a:t>
            </a:r>
            <a:r>
              <a:rPr lang="en-IN" dirty="0"/>
              <a:t> Key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40991B-8839-F565-870D-389BEF4D89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</a:t>
            </a:r>
            <a:r>
              <a:rPr lang="en-US" b="1" dirty="0"/>
              <a:t>foreign key (FK)</a:t>
            </a:r>
            <a:r>
              <a:rPr lang="en-US" dirty="0"/>
              <a:t> is a </a:t>
            </a:r>
            <a:r>
              <a:rPr lang="en-US" b="1" dirty="0"/>
              <a:t>set of attributes in one relation</a:t>
            </a:r>
            <a:r>
              <a:rPr lang="en-US" dirty="0"/>
              <a:t> whose values </a:t>
            </a:r>
            <a:r>
              <a:rPr lang="en-US" b="1" dirty="0"/>
              <a:t>must match a candidate key (usually the primary key)</a:t>
            </a:r>
            <a:r>
              <a:rPr lang="en-US" dirty="0"/>
              <a:t> of another relation.</a:t>
            </a:r>
          </a:p>
          <a:p>
            <a:r>
              <a:rPr lang="en-US" dirty="0"/>
              <a:t>A foreign key enforces that a value in one table </a:t>
            </a:r>
            <a:r>
              <a:rPr lang="en-US" b="1" dirty="0"/>
              <a:t>must already exist</a:t>
            </a:r>
            <a:r>
              <a:rPr lang="en-US" dirty="0"/>
              <a:t> in another table.</a:t>
            </a:r>
          </a:p>
          <a:p>
            <a:r>
              <a:rPr lang="en-US" b="1" dirty="0"/>
              <a:t>Formal definition (important)</a:t>
            </a:r>
          </a:p>
          <a:p>
            <a:pPr lvl="1"/>
            <a:r>
              <a:rPr lang="en-US" dirty="0"/>
              <a:t>Let:</a:t>
            </a:r>
          </a:p>
          <a:p>
            <a:pPr lvl="2"/>
            <a:r>
              <a:rPr lang="en-US" dirty="0"/>
              <a:t>Relation </a:t>
            </a:r>
            <a:r>
              <a:rPr lang="en-US" b="1" dirty="0"/>
              <a:t>R</a:t>
            </a:r>
            <a:r>
              <a:rPr lang="en-US" dirty="0"/>
              <a:t> have attributes </a:t>
            </a:r>
            <a:r>
              <a:rPr lang="en-US" b="1" dirty="0"/>
              <a:t>FK</a:t>
            </a:r>
            <a:endParaRPr lang="en-US" dirty="0"/>
          </a:p>
          <a:p>
            <a:pPr lvl="2"/>
            <a:r>
              <a:rPr lang="en-US" dirty="0"/>
              <a:t>Relation </a:t>
            </a:r>
            <a:r>
              <a:rPr lang="en-US" b="1" dirty="0"/>
              <a:t>S</a:t>
            </a:r>
            <a:r>
              <a:rPr lang="en-US" dirty="0"/>
              <a:t> have attributes </a:t>
            </a:r>
            <a:r>
              <a:rPr lang="en-US" b="1" dirty="0"/>
              <a:t>K</a:t>
            </a:r>
            <a:r>
              <a:rPr lang="en-US" dirty="0"/>
              <a:t>, where </a:t>
            </a:r>
            <a:r>
              <a:rPr lang="en-US" b="1" dirty="0"/>
              <a:t>K</a:t>
            </a:r>
            <a:r>
              <a:rPr lang="en-US" dirty="0"/>
              <a:t> is a </a:t>
            </a:r>
            <a:r>
              <a:rPr lang="en-US" b="1" dirty="0"/>
              <a:t>candidate key</a:t>
            </a:r>
            <a:r>
              <a:rPr lang="en-US" dirty="0"/>
              <a:t> of S</a:t>
            </a:r>
          </a:p>
          <a:p>
            <a:pPr lvl="1"/>
            <a:r>
              <a:rPr lang="en-US" dirty="0"/>
              <a:t>Then:</a:t>
            </a:r>
          </a:p>
          <a:p>
            <a:pPr lvl="2"/>
            <a:r>
              <a:rPr lang="en-US" dirty="0"/>
              <a:t>R.FK ⊆ S.K</a:t>
            </a:r>
          </a:p>
          <a:p>
            <a:pPr lvl="1"/>
            <a:r>
              <a:rPr lang="en-US" dirty="0"/>
              <a:t>This is called </a:t>
            </a:r>
            <a:r>
              <a:rPr lang="en-US" b="1" dirty="0"/>
              <a:t>referential integrity</a:t>
            </a:r>
            <a:r>
              <a:rPr lang="en-US" dirty="0"/>
              <a:t>.</a:t>
            </a:r>
          </a:p>
          <a:p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1460781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584D9D-D8AD-E884-68A7-3F90CCE85A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Foreign Key (2)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567AD5-D229-5622-661F-F1606CF1E2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Composite foreign keys (pay attention)</a:t>
            </a:r>
          </a:p>
          <a:p>
            <a:pPr lvl="1"/>
            <a:r>
              <a:rPr lang="en-US" dirty="0"/>
              <a:t>If the referenced key is composite, the foreign key </a:t>
            </a:r>
            <a:r>
              <a:rPr lang="en-US" b="1" dirty="0"/>
              <a:t>must match it exactly</a:t>
            </a:r>
            <a:r>
              <a:rPr lang="en-US" dirty="0"/>
              <a:t>.</a:t>
            </a:r>
          </a:p>
          <a:p>
            <a:pPr lvl="2"/>
            <a:r>
              <a:rPr lang="en-US" sz="1100" dirty="0">
                <a:solidFill>
                  <a:schemeClr val="bg1">
                    <a:lumMod val="50000"/>
                  </a:schemeClr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COURSE_OFFERING(</a:t>
            </a:r>
            <a:r>
              <a:rPr lang="en-US" sz="1100" dirty="0" err="1">
                <a:solidFill>
                  <a:schemeClr val="bg1">
                    <a:lumMod val="50000"/>
                  </a:schemeClr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course_id</a:t>
            </a:r>
            <a:r>
              <a:rPr lang="en-US" sz="1100" dirty="0">
                <a:solidFill>
                  <a:schemeClr val="bg1">
                    <a:lumMod val="50000"/>
                  </a:schemeClr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, semester, section, PK)</a:t>
            </a:r>
          </a:p>
          <a:p>
            <a:pPr lvl="2"/>
            <a:r>
              <a:rPr lang="en-US" sz="1100" dirty="0">
                <a:solidFill>
                  <a:srgbClr val="92D05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ENROLLMENT(</a:t>
            </a:r>
            <a:r>
              <a:rPr lang="en-US" sz="1100" dirty="0" err="1">
                <a:solidFill>
                  <a:srgbClr val="92D05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student_id</a:t>
            </a:r>
            <a:r>
              <a:rPr lang="en-US" sz="1100" dirty="0">
                <a:solidFill>
                  <a:srgbClr val="92D05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, </a:t>
            </a:r>
            <a:r>
              <a:rPr lang="en-US" sz="1100" dirty="0" err="1">
                <a:solidFill>
                  <a:srgbClr val="92D05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course_id</a:t>
            </a:r>
            <a:r>
              <a:rPr lang="en-US" sz="1100" dirty="0">
                <a:solidFill>
                  <a:srgbClr val="92D05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, semester, section)</a:t>
            </a:r>
          </a:p>
          <a:p>
            <a:pPr lvl="2"/>
            <a:r>
              <a:rPr lang="en-US" sz="1100" dirty="0">
                <a:solidFill>
                  <a:srgbClr val="92D05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FK (</a:t>
            </a:r>
            <a:r>
              <a:rPr lang="en-US" sz="1100" dirty="0" err="1">
                <a:solidFill>
                  <a:srgbClr val="92D05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course_id</a:t>
            </a:r>
            <a:r>
              <a:rPr lang="en-US" sz="1100" dirty="0">
                <a:solidFill>
                  <a:srgbClr val="92D05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, semester, section)</a:t>
            </a:r>
          </a:p>
          <a:p>
            <a:pPr lvl="2"/>
            <a:r>
              <a:rPr lang="en-US" sz="1100" dirty="0">
                <a:solidFill>
                  <a:srgbClr val="92D05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→ COURSE_OFFERING(</a:t>
            </a:r>
            <a:r>
              <a:rPr lang="en-US" sz="1100" dirty="0" err="1">
                <a:solidFill>
                  <a:srgbClr val="92D05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course_id</a:t>
            </a:r>
            <a:r>
              <a:rPr lang="en-US" sz="1100" dirty="0">
                <a:solidFill>
                  <a:srgbClr val="92D05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, semester, section)</a:t>
            </a:r>
          </a:p>
          <a:p>
            <a:pPr lvl="1"/>
            <a:r>
              <a:rPr lang="en-US" dirty="0"/>
              <a:t>Rules:</a:t>
            </a:r>
          </a:p>
          <a:p>
            <a:pPr lvl="2"/>
            <a:r>
              <a:rPr lang="en-US" dirty="0"/>
              <a:t>Same number of attributes</a:t>
            </a:r>
          </a:p>
          <a:p>
            <a:pPr lvl="2"/>
            <a:r>
              <a:rPr lang="en-US" dirty="0"/>
              <a:t>Same order</a:t>
            </a:r>
          </a:p>
          <a:p>
            <a:pPr lvl="2"/>
            <a:r>
              <a:rPr lang="en-US" dirty="0"/>
              <a:t>Compatible domains</a:t>
            </a:r>
          </a:p>
          <a:p>
            <a:pPr lvl="2"/>
            <a:r>
              <a:rPr lang="en-US" dirty="0"/>
              <a:t>Values must match as a </a:t>
            </a:r>
            <a:r>
              <a:rPr lang="en-US" b="1" dirty="0"/>
              <a:t>tuple</a:t>
            </a:r>
            <a:endParaRPr lang="en-US" dirty="0"/>
          </a:p>
          <a:p>
            <a:pPr lvl="2"/>
            <a:r>
              <a:rPr lang="en-US" dirty="0"/>
              <a:t>Partial matching is illegal.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3475799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0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280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Schema Diagram for University Database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D6B8FF63-5393-4696-8B56-06CDA84E94A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06002" y="1383738"/>
            <a:ext cx="8131996" cy="4871953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3245BF95-4C37-C549-6160-CCFE409FCD5D}"/>
                  </a:ext>
                </a:extLst>
              </p14:cNvPr>
              <p14:cNvContentPartPr/>
              <p14:nvPr/>
            </p14:nvContentPartPr>
            <p14:xfrm>
              <a:off x="2453100" y="3577560"/>
              <a:ext cx="434520" cy="49644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3245BF95-4C37-C549-6160-CCFE409FCD5D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446980" y="3571440"/>
                <a:ext cx="446760" cy="50868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0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280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Relational Query Languages</a:t>
            </a:r>
          </a:p>
        </p:txBody>
      </p:sp>
      <p:sp>
        <p:nvSpPr>
          <p:cNvPr id="1126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49" y="1084263"/>
            <a:ext cx="7692069" cy="3555047"/>
          </a:xfrm>
        </p:spPr>
        <p:txBody>
          <a:bodyPr/>
          <a:lstStyle/>
          <a:p>
            <a:r>
              <a:rPr lang="en-US" altLang="en-US" sz="1700" dirty="0"/>
              <a:t>Procedural versus non-procedural, or declarative</a:t>
            </a:r>
          </a:p>
          <a:p>
            <a:r>
              <a:rPr lang="en-US" altLang="en-US" dirty="0"/>
              <a:t>Procedural =&gt; you specify how to get the result. ex: Relational Algebra</a:t>
            </a:r>
          </a:p>
          <a:p>
            <a:r>
              <a:rPr lang="en-US" altLang="en-US" sz="1700" dirty="0"/>
              <a:t>Non</a:t>
            </a:r>
            <a:r>
              <a:rPr lang="en-US" altLang="en-US" dirty="0"/>
              <a:t>-</a:t>
            </a:r>
            <a:r>
              <a:rPr lang="en-US" altLang="en-US" sz="1700" dirty="0"/>
              <a:t>Procedural (declarative) =&gt; you specify what you want. ex: Relational Calculus</a:t>
            </a:r>
          </a:p>
          <a:p>
            <a:r>
              <a:rPr lang="en-US" altLang="en-US" sz="1700" dirty="0"/>
              <a:t>“Pure” languages (in terms of side effects):</a:t>
            </a:r>
          </a:p>
          <a:p>
            <a:pPr lvl="1"/>
            <a:r>
              <a:rPr lang="en-US" altLang="en-US" sz="1700" dirty="0"/>
              <a:t>Relational algebra</a:t>
            </a:r>
          </a:p>
          <a:p>
            <a:pPr lvl="1"/>
            <a:r>
              <a:rPr lang="en-US" altLang="en-US" sz="1700" dirty="0"/>
              <a:t>Tuple relational calculus</a:t>
            </a:r>
          </a:p>
          <a:p>
            <a:pPr lvl="1"/>
            <a:r>
              <a:rPr lang="en-US" altLang="en-US" sz="1700" dirty="0"/>
              <a:t>Domain relational calculus</a:t>
            </a:r>
          </a:p>
          <a:p>
            <a:r>
              <a:rPr lang="en-US" altLang="en-US" sz="1700" dirty="0"/>
              <a:t>The above 3 pure languages are equivalent in computing power</a:t>
            </a:r>
          </a:p>
          <a:p>
            <a:r>
              <a:rPr lang="en-US" altLang="en-US" sz="1700" dirty="0"/>
              <a:t>We will concentrate in this chapter on relational algebra</a:t>
            </a:r>
          </a:p>
          <a:p>
            <a:pPr lvl="1"/>
            <a:endParaRPr lang="en-US" altLang="en-US" dirty="0"/>
          </a:p>
          <a:p>
            <a:endParaRPr lang="en-US" altLang="en-US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8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2800" dirty="0"/>
              <a:t>Relational Algebra</a:t>
            </a:r>
          </a:p>
        </p:txBody>
      </p:sp>
      <p:sp>
        <p:nvSpPr>
          <p:cNvPr id="717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0" y="1077913"/>
            <a:ext cx="7558903" cy="4876800"/>
          </a:xfrm>
        </p:spPr>
        <p:txBody>
          <a:bodyPr/>
          <a:lstStyle/>
          <a:p>
            <a:r>
              <a:rPr lang="en-US" altLang="en-US" sz="1700" dirty="0"/>
              <a:t>An algebraic language consisting  of a set of operations that take one or two relations as input and produce a new relation as their result. </a:t>
            </a:r>
          </a:p>
          <a:p>
            <a:r>
              <a:rPr lang="en-US" altLang="en-US" sz="1700" dirty="0"/>
              <a:t>Six basic operators</a:t>
            </a:r>
          </a:p>
          <a:p>
            <a:pPr lvl="1"/>
            <a:r>
              <a:rPr lang="en-US" altLang="en-US" sz="1700" dirty="0"/>
              <a:t>select: </a:t>
            </a:r>
            <a:r>
              <a:rPr kumimoji="0" lang="en-US" altLang="en-US" sz="1700" dirty="0">
                <a:sym typeface="Symbol" panose="05050102010706020507" pitchFamily="18" charset="2"/>
              </a:rPr>
              <a:t></a:t>
            </a:r>
            <a:endParaRPr lang="en-US" altLang="en-US" sz="1700" dirty="0"/>
          </a:p>
          <a:p>
            <a:pPr lvl="1"/>
            <a:r>
              <a:rPr lang="en-US" altLang="en-US" sz="1700" dirty="0"/>
              <a:t>project: </a:t>
            </a:r>
            <a:r>
              <a:rPr lang="en-US" altLang="en-US" sz="1700" dirty="0">
                <a:sym typeface="Symbol" panose="05050102010706020507" pitchFamily="18" charset="2"/>
              </a:rPr>
              <a:t></a:t>
            </a:r>
            <a:endParaRPr lang="en-US" altLang="en-US" sz="1700" dirty="0"/>
          </a:p>
          <a:p>
            <a:pPr lvl="1"/>
            <a:r>
              <a:rPr lang="en-US" altLang="en-US" sz="1700" dirty="0"/>
              <a:t>union: </a:t>
            </a:r>
            <a:r>
              <a:rPr lang="en-US" altLang="en-US" sz="1700" dirty="0">
                <a:sym typeface="Symbol" panose="05050102010706020507" pitchFamily="18" charset="2"/>
              </a:rPr>
              <a:t></a:t>
            </a:r>
            <a:endParaRPr lang="en-US" altLang="en-US" sz="1700" dirty="0"/>
          </a:p>
          <a:p>
            <a:pPr lvl="1"/>
            <a:r>
              <a:rPr lang="en-US" altLang="en-US" sz="1700" dirty="0"/>
              <a:t>set difference: </a:t>
            </a:r>
            <a:r>
              <a:rPr lang="en-US" altLang="en-US" sz="1700" i="1" dirty="0"/>
              <a:t>–</a:t>
            </a:r>
            <a:r>
              <a:rPr lang="en-US" altLang="en-US" sz="1700" dirty="0"/>
              <a:t> </a:t>
            </a:r>
          </a:p>
          <a:p>
            <a:pPr lvl="1"/>
            <a:r>
              <a:rPr lang="en-US" altLang="en-US" sz="1700" dirty="0"/>
              <a:t>Cartesian product: x</a:t>
            </a:r>
          </a:p>
          <a:p>
            <a:pPr lvl="1"/>
            <a:r>
              <a:rPr lang="en-US" altLang="en-US" sz="1700" dirty="0"/>
              <a:t>rename: </a:t>
            </a:r>
            <a:r>
              <a:rPr lang="en-US" altLang="en-US" sz="1700" i="1" dirty="0">
                <a:sym typeface="Symbol" panose="05050102010706020507" pitchFamily="18" charset="2"/>
              </a:rPr>
              <a:t></a:t>
            </a:r>
          </a:p>
          <a:p>
            <a:pPr lvl="1"/>
            <a:endParaRPr lang="en-US" altLang="en-US" sz="2000" i="1" dirty="0">
              <a:sym typeface="Symbol" panose="05050102010706020507" pitchFamily="18" charset="2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09753" y="966181"/>
            <a:ext cx="7612170" cy="2462819"/>
          </a:xfrm>
        </p:spPr>
        <p:txBody>
          <a:bodyPr/>
          <a:lstStyle/>
          <a:p>
            <a:pPr>
              <a:lnSpc>
                <a:spcPct val="90000"/>
              </a:lnSpc>
              <a:tabLst>
                <a:tab pos="1658938" algn="l"/>
                <a:tab pos="3149600" algn="ctr"/>
                <a:tab pos="3425825" algn="l"/>
              </a:tabLst>
            </a:pPr>
            <a:r>
              <a:rPr lang="en-US" altLang="en-US" sz="1700" dirty="0"/>
              <a:t>The  </a:t>
            </a:r>
            <a:r>
              <a:rPr lang="en-US" altLang="en-US" sz="1700" b="1" dirty="0"/>
              <a:t>selec</a:t>
            </a:r>
            <a:r>
              <a:rPr lang="en-US" altLang="en-US" sz="1700" dirty="0"/>
              <a:t>t operation selects tuples that satisfy a given predicate.</a:t>
            </a:r>
          </a:p>
          <a:p>
            <a:pPr>
              <a:lnSpc>
                <a:spcPct val="90000"/>
              </a:lnSpc>
              <a:tabLst>
                <a:tab pos="1658938" algn="l"/>
                <a:tab pos="3149600" algn="ctr"/>
                <a:tab pos="3425825" algn="l"/>
              </a:tabLst>
            </a:pPr>
            <a:r>
              <a:rPr lang="en-US" altLang="en-US" sz="1700" dirty="0"/>
              <a:t>Notation:  </a:t>
            </a:r>
            <a:r>
              <a:rPr lang="en-US" altLang="en-US" i="1" dirty="0">
                <a:sym typeface="Symbol" panose="05050102010706020507" pitchFamily="18" charset="2"/>
              </a:rPr>
              <a:t></a:t>
            </a:r>
            <a:r>
              <a:rPr lang="en-US" altLang="en-US" dirty="0">
                <a:sym typeface="Symbol" panose="05050102010706020507" pitchFamily="18" charset="2"/>
              </a:rPr>
              <a:t> </a:t>
            </a:r>
            <a:r>
              <a:rPr lang="en-US" altLang="en-US" i="1" baseline="-25000" dirty="0">
                <a:sym typeface="Symbol" panose="05050102010706020507" pitchFamily="18" charset="2"/>
              </a:rPr>
              <a:t>p </a:t>
            </a:r>
            <a:r>
              <a:rPr lang="en-US" altLang="en-US" sz="1700" dirty="0">
                <a:sym typeface="Symbol" panose="05050102010706020507" pitchFamily="18" charset="2"/>
              </a:rPr>
              <a:t>(</a:t>
            </a:r>
            <a:r>
              <a:rPr lang="en-US" altLang="en-US" sz="1700" i="1" dirty="0">
                <a:sym typeface="Symbol" panose="05050102010706020507" pitchFamily="18" charset="2"/>
              </a:rPr>
              <a:t>r</a:t>
            </a:r>
            <a:r>
              <a:rPr lang="en-US" altLang="en-US" sz="1700" dirty="0">
                <a:sym typeface="Symbol" panose="05050102010706020507" pitchFamily="18" charset="2"/>
              </a:rPr>
              <a:t>)</a:t>
            </a:r>
          </a:p>
          <a:p>
            <a:pPr>
              <a:lnSpc>
                <a:spcPct val="90000"/>
              </a:lnSpc>
              <a:tabLst>
                <a:tab pos="1658938" algn="l"/>
                <a:tab pos="3149600" algn="ctr"/>
                <a:tab pos="3425825" algn="l"/>
              </a:tabLst>
            </a:pPr>
            <a:r>
              <a:rPr lang="en-US" altLang="en-US" sz="1700" i="1" dirty="0">
                <a:sym typeface="Symbol" panose="05050102010706020507" pitchFamily="18" charset="2"/>
              </a:rPr>
              <a:t>p</a:t>
            </a:r>
            <a:r>
              <a:rPr lang="en-US" altLang="en-US" sz="1700" dirty="0">
                <a:sym typeface="Symbol" panose="05050102010706020507" pitchFamily="18" charset="2"/>
              </a:rPr>
              <a:t> is called the </a:t>
            </a:r>
            <a:r>
              <a:rPr lang="en-US" altLang="en-US" sz="1700" b="1" dirty="0">
                <a:solidFill>
                  <a:srgbClr val="002060"/>
                </a:solidFill>
                <a:sym typeface="Symbol" panose="05050102010706020507" pitchFamily="18" charset="2"/>
              </a:rPr>
              <a:t>selection predicate</a:t>
            </a:r>
          </a:p>
          <a:p>
            <a:pPr>
              <a:lnSpc>
                <a:spcPct val="90000"/>
              </a:lnSpc>
              <a:tabLst>
                <a:tab pos="1658938" algn="l"/>
                <a:tab pos="3149600" algn="ctr"/>
                <a:tab pos="3425825" algn="l"/>
              </a:tabLst>
            </a:pPr>
            <a:r>
              <a:rPr lang="en-US" altLang="en-US" sz="1700" dirty="0">
                <a:sym typeface="Symbol" panose="05050102010706020507" pitchFamily="18" charset="2"/>
              </a:rPr>
              <a:t>Example: select those tuples of the </a:t>
            </a:r>
            <a:r>
              <a:rPr lang="en-US" altLang="en-US" sz="1700" i="1" dirty="0">
                <a:sym typeface="Symbol" panose="05050102010706020507" pitchFamily="18" charset="2"/>
              </a:rPr>
              <a:t>instructor</a:t>
            </a:r>
            <a:r>
              <a:rPr lang="en-US" altLang="en-US" sz="1700" dirty="0">
                <a:sym typeface="Symbol" panose="05050102010706020507" pitchFamily="18" charset="2"/>
              </a:rPr>
              <a:t>  relation where the instructor is in the “Physics” department.</a:t>
            </a:r>
          </a:p>
          <a:p>
            <a:pPr lvl="1">
              <a:lnSpc>
                <a:spcPct val="90000"/>
              </a:lnSpc>
              <a:tabLst>
                <a:tab pos="1658938" algn="l"/>
                <a:tab pos="3149600" algn="ctr"/>
                <a:tab pos="3425825" algn="l"/>
              </a:tabLst>
            </a:pPr>
            <a:r>
              <a:rPr lang="en-US" altLang="en-US" sz="1700" dirty="0">
                <a:sym typeface="Symbol" panose="05050102010706020507" pitchFamily="18" charset="2"/>
              </a:rPr>
              <a:t>Query</a:t>
            </a:r>
          </a:p>
          <a:p>
            <a:pPr marL="457200" lvl="1" indent="0">
              <a:lnSpc>
                <a:spcPct val="90000"/>
              </a:lnSpc>
              <a:buNone/>
              <a:tabLst>
                <a:tab pos="1658938" algn="l"/>
                <a:tab pos="3149600" algn="ctr"/>
                <a:tab pos="3425825" algn="l"/>
              </a:tabLst>
            </a:pPr>
            <a:r>
              <a:rPr lang="en-US" altLang="en-US" sz="800" dirty="0">
                <a:sym typeface="Symbol" panose="05050102010706020507" pitchFamily="18" charset="2"/>
              </a:rPr>
              <a:t> </a:t>
            </a:r>
            <a:br>
              <a:rPr lang="en-US" altLang="en-US" sz="1700" dirty="0">
                <a:sym typeface="Symbol" panose="05050102010706020507" pitchFamily="18" charset="2"/>
              </a:rPr>
            </a:br>
            <a:r>
              <a:rPr lang="en-US" altLang="en-US" sz="1700" dirty="0">
                <a:sym typeface="Symbol" panose="05050102010706020507" pitchFamily="18" charset="2"/>
              </a:rPr>
              <a:t>  	</a:t>
            </a:r>
            <a:r>
              <a:rPr lang="en-US" altLang="en-US" sz="1900" i="1" dirty="0">
                <a:sym typeface="Symbol" panose="05050102010706020507" pitchFamily="18" charset="2"/>
              </a:rPr>
              <a:t></a:t>
            </a:r>
            <a:r>
              <a:rPr lang="en-US" altLang="en-US" sz="1900" dirty="0">
                <a:sym typeface="Symbol" panose="05050102010706020507" pitchFamily="18" charset="2"/>
              </a:rPr>
              <a:t> </a:t>
            </a:r>
            <a:r>
              <a:rPr lang="en-US" altLang="en-US" sz="1900" i="1" baseline="-25000" dirty="0">
                <a:sym typeface="Symbol" panose="05050102010706020507" pitchFamily="18" charset="2"/>
              </a:rPr>
              <a:t>dept_name=</a:t>
            </a:r>
            <a:r>
              <a:rPr lang="ja-JP" altLang="en-US" sz="1900" i="1" baseline="-25000" dirty="0">
                <a:sym typeface="Symbol" panose="05050102010706020507" pitchFamily="18" charset="2"/>
              </a:rPr>
              <a:t>“</a:t>
            </a:r>
            <a:r>
              <a:rPr lang="en-US" altLang="ja-JP" sz="1900" i="1" baseline="-25000" dirty="0">
                <a:sym typeface="Symbol" panose="05050102010706020507" pitchFamily="18" charset="2"/>
              </a:rPr>
              <a:t>Physics” </a:t>
            </a:r>
            <a:r>
              <a:rPr lang="en-US" altLang="ja-JP" sz="1700" dirty="0">
                <a:sym typeface="Symbol" panose="05050102010706020507" pitchFamily="18" charset="2"/>
              </a:rPr>
              <a:t>(</a:t>
            </a:r>
            <a:r>
              <a:rPr lang="en-US" altLang="ja-JP" sz="1700" i="1" dirty="0">
                <a:sym typeface="Symbol" panose="05050102010706020507" pitchFamily="18" charset="2"/>
              </a:rPr>
              <a:t>instructor</a:t>
            </a:r>
            <a:r>
              <a:rPr lang="en-US" altLang="ja-JP" sz="1700" dirty="0">
                <a:sym typeface="Symbol" panose="05050102010706020507" pitchFamily="18" charset="2"/>
              </a:rPr>
              <a:t>)</a:t>
            </a:r>
            <a:endParaRPr lang="en-US" altLang="en-US" sz="800" dirty="0">
              <a:sym typeface="Symbol" panose="05050102010706020507" pitchFamily="18" charset="2"/>
            </a:endParaRPr>
          </a:p>
          <a:p>
            <a:pPr marL="457200" lvl="1" indent="0">
              <a:lnSpc>
                <a:spcPct val="90000"/>
              </a:lnSpc>
              <a:buNone/>
              <a:tabLst>
                <a:tab pos="1658938" algn="l"/>
                <a:tab pos="3149600" algn="ctr"/>
                <a:tab pos="3425825" algn="l"/>
              </a:tabLst>
            </a:pPr>
            <a:r>
              <a:rPr lang="en-US" altLang="en-US" sz="1700" dirty="0">
                <a:sym typeface="Symbol" panose="05050102010706020507" pitchFamily="18" charset="2"/>
              </a:rPr>
              <a:t>                                                        </a:t>
            </a:r>
          </a:p>
          <a:p>
            <a:pPr marL="457200" lvl="1" indent="0">
              <a:lnSpc>
                <a:spcPct val="90000"/>
              </a:lnSpc>
              <a:buNone/>
              <a:tabLst>
                <a:tab pos="1658938" algn="l"/>
                <a:tab pos="3149600" algn="ctr"/>
                <a:tab pos="3425825" algn="l"/>
              </a:tabLst>
            </a:pPr>
            <a:r>
              <a:rPr lang="en-US" altLang="en-US" dirty="0">
                <a:sym typeface="Symbol" panose="05050102010706020507" pitchFamily="18" charset="2"/>
              </a:rPr>
              <a:t>                                                                               </a:t>
            </a:r>
            <a:endParaRPr lang="en-US" altLang="en-US" sz="1700" b="1" dirty="0">
              <a:sym typeface="Symbol" panose="05050102010706020507" pitchFamily="18" charset="2"/>
            </a:endParaRPr>
          </a:p>
        </p:txBody>
      </p:sp>
      <p:sp>
        <p:nvSpPr>
          <p:cNvPr id="6850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2800" dirty="0"/>
              <a:t>Select Operation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D0EA259D-031F-4208-A7F2-A15AE51650DB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b="31858"/>
          <a:stretch/>
        </p:blipFill>
        <p:spPr>
          <a:xfrm>
            <a:off x="4288017" y="4479908"/>
            <a:ext cx="4932139" cy="1223136"/>
          </a:xfrm>
          <a:prstGeom prst="rect">
            <a:avLst/>
          </a:prstGeom>
        </p:spPr>
      </p:pic>
      <p:pic>
        <p:nvPicPr>
          <p:cNvPr id="5" name="Graphic 4">
            <a:extLst>
              <a:ext uri="{FF2B5EF4-FFF2-40B4-BE49-F238E27FC236}">
                <a16:creationId xmlns:a16="http://schemas.microsoft.com/office/drawing/2014/main" id="{E2451228-C4A0-4098-B1BE-3ABB5C8680C0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 t="-1" b="12197"/>
          <a:stretch/>
        </p:blipFill>
        <p:spPr>
          <a:xfrm>
            <a:off x="0" y="3546337"/>
            <a:ext cx="3913411" cy="3090279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F50EBADB-F658-DB77-1554-BC04BB2011C1}"/>
              </a:ext>
            </a:extLst>
          </p:cNvPr>
          <p:cNvSpPr txBox="1"/>
          <p:nvPr/>
        </p:nvSpPr>
        <p:spPr>
          <a:xfrm>
            <a:off x="6213763" y="3865418"/>
            <a:ext cx="185997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en-US" b="1" dirty="0">
                <a:sym typeface="Symbol" panose="05050102010706020507" pitchFamily="18" charset="2"/>
              </a:rPr>
              <a:t>Result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50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2800" dirty="0"/>
              <a:t>Select Operation (Cont.)</a:t>
            </a:r>
          </a:p>
        </p:txBody>
      </p:sp>
      <p:sp>
        <p:nvSpPr>
          <p:cNvPr id="819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0" y="1138873"/>
            <a:ext cx="7656559" cy="4810823"/>
          </a:xfrm>
        </p:spPr>
        <p:txBody>
          <a:bodyPr/>
          <a:lstStyle/>
          <a:p>
            <a:pPr>
              <a:lnSpc>
                <a:spcPct val="90000"/>
              </a:lnSpc>
              <a:tabLst>
                <a:tab pos="1658938" algn="l"/>
                <a:tab pos="3149600" algn="ctr"/>
                <a:tab pos="3425825" algn="l"/>
              </a:tabLst>
            </a:pPr>
            <a:r>
              <a:rPr lang="en-US" altLang="en-US" sz="1700" dirty="0">
                <a:sym typeface="Symbol" panose="05050102010706020507" pitchFamily="18" charset="2"/>
              </a:rPr>
              <a:t>We allow comparisons using </a:t>
            </a:r>
          </a:p>
          <a:p>
            <a:pPr>
              <a:lnSpc>
                <a:spcPct val="90000"/>
              </a:lnSpc>
              <a:buNone/>
              <a:tabLst>
                <a:tab pos="1658938" algn="l"/>
                <a:tab pos="3149600" algn="ctr"/>
                <a:tab pos="3425825" algn="l"/>
              </a:tabLst>
            </a:pPr>
            <a:r>
              <a:rPr lang="en-US" altLang="en-US" sz="1700" dirty="0">
                <a:sym typeface="Symbol" panose="05050102010706020507" pitchFamily="18" charset="2"/>
              </a:rPr>
              <a:t>                     =, , &gt;, . &lt;. </a:t>
            </a:r>
          </a:p>
          <a:p>
            <a:pPr>
              <a:lnSpc>
                <a:spcPct val="90000"/>
              </a:lnSpc>
              <a:buNone/>
              <a:tabLst>
                <a:tab pos="1658938" algn="l"/>
                <a:tab pos="3149600" algn="ctr"/>
                <a:tab pos="3425825" algn="l"/>
              </a:tabLst>
            </a:pPr>
            <a:r>
              <a:rPr lang="en-US" altLang="en-US" sz="1700" dirty="0">
                <a:sym typeface="Symbol" panose="05050102010706020507" pitchFamily="18" charset="2"/>
              </a:rPr>
              <a:t>       in the selection predicate. </a:t>
            </a:r>
          </a:p>
          <a:p>
            <a:pPr>
              <a:lnSpc>
                <a:spcPct val="90000"/>
              </a:lnSpc>
              <a:tabLst>
                <a:tab pos="1658938" algn="l"/>
                <a:tab pos="3149600" algn="ctr"/>
                <a:tab pos="3425825" algn="l"/>
              </a:tabLst>
            </a:pPr>
            <a:r>
              <a:rPr lang="en-US" altLang="en-US" sz="1700" dirty="0">
                <a:sym typeface="Symbol" panose="05050102010706020507" pitchFamily="18" charset="2"/>
              </a:rPr>
              <a:t>We can combine several predicates into a larger predicate by using the connectives:</a:t>
            </a:r>
          </a:p>
          <a:p>
            <a:pPr>
              <a:lnSpc>
                <a:spcPct val="90000"/>
              </a:lnSpc>
              <a:buNone/>
              <a:tabLst>
                <a:tab pos="1658938" algn="l"/>
                <a:tab pos="3149600" algn="ctr"/>
                <a:tab pos="3425825" algn="l"/>
              </a:tabLst>
            </a:pPr>
            <a:r>
              <a:rPr lang="en-US" altLang="en-US" sz="1700" dirty="0">
                <a:sym typeface="Symbol" panose="05050102010706020507" pitchFamily="18" charset="2"/>
              </a:rPr>
              <a:t>                    (</a:t>
            </a:r>
            <a:r>
              <a:rPr lang="en-US" altLang="en-US" sz="1700" b="1" dirty="0">
                <a:sym typeface="Symbol" panose="05050102010706020507" pitchFamily="18" charset="2"/>
              </a:rPr>
              <a:t>and</a:t>
            </a:r>
            <a:r>
              <a:rPr lang="en-US" altLang="en-US" sz="1700" dirty="0">
                <a:sym typeface="Symbol" panose="05050102010706020507" pitchFamily="18" charset="2"/>
              </a:rPr>
              <a:t>),  (</a:t>
            </a:r>
            <a:r>
              <a:rPr lang="en-US" altLang="en-US" sz="1700" b="1" dirty="0">
                <a:sym typeface="Symbol" panose="05050102010706020507" pitchFamily="18" charset="2"/>
              </a:rPr>
              <a:t>or</a:t>
            </a:r>
            <a:r>
              <a:rPr lang="en-US" altLang="en-US" sz="1700" dirty="0">
                <a:sym typeface="Symbol" panose="05050102010706020507" pitchFamily="18" charset="2"/>
              </a:rPr>
              <a:t>),  (</a:t>
            </a:r>
            <a:r>
              <a:rPr lang="en-US" altLang="en-US" sz="1700" b="1" dirty="0">
                <a:sym typeface="Symbol" panose="05050102010706020507" pitchFamily="18" charset="2"/>
              </a:rPr>
              <a:t>not</a:t>
            </a:r>
            <a:r>
              <a:rPr lang="en-US" altLang="en-US" sz="1700" dirty="0">
                <a:sym typeface="Symbol" panose="05050102010706020507" pitchFamily="18" charset="2"/>
              </a:rPr>
              <a:t>)</a:t>
            </a:r>
          </a:p>
          <a:p>
            <a:pPr>
              <a:lnSpc>
                <a:spcPct val="90000"/>
              </a:lnSpc>
              <a:tabLst>
                <a:tab pos="1658938" algn="l"/>
                <a:tab pos="3149600" algn="ctr"/>
                <a:tab pos="3425825" algn="l"/>
              </a:tabLst>
            </a:pPr>
            <a:r>
              <a:rPr lang="en-US" altLang="en-US" sz="1700" dirty="0">
                <a:sym typeface="Symbol" panose="05050102010706020507" pitchFamily="18" charset="2"/>
              </a:rPr>
              <a:t>Example: Find the instructors in Physics with a salary greater $90,000, we write:</a:t>
            </a:r>
          </a:p>
          <a:p>
            <a:pPr marL="0" indent="0">
              <a:lnSpc>
                <a:spcPct val="90000"/>
              </a:lnSpc>
              <a:buNone/>
              <a:tabLst>
                <a:tab pos="1658938" algn="l"/>
                <a:tab pos="3149600" algn="ctr"/>
                <a:tab pos="3425825" algn="l"/>
              </a:tabLst>
            </a:pPr>
            <a:r>
              <a:rPr lang="en-US" altLang="en-US" sz="800" dirty="0">
                <a:sym typeface="Symbol" panose="05050102010706020507" pitchFamily="18" charset="2"/>
              </a:rPr>
              <a:t> </a:t>
            </a:r>
            <a:br>
              <a:rPr lang="en-US" altLang="en-US" sz="1700" dirty="0">
                <a:sym typeface="Symbol" panose="05050102010706020507" pitchFamily="18" charset="2"/>
              </a:rPr>
            </a:br>
            <a:r>
              <a:rPr lang="en-US" altLang="en-US" sz="1700" dirty="0">
                <a:sym typeface="Symbol" panose="05050102010706020507" pitchFamily="18" charset="2"/>
              </a:rPr>
              <a:t>          </a:t>
            </a:r>
            <a:r>
              <a:rPr lang="en-US" altLang="en-US" i="1" dirty="0">
                <a:sym typeface="Symbol" panose="05050102010706020507" pitchFamily="18" charset="2"/>
              </a:rPr>
              <a:t></a:t>
            </a:r>
            <a:r>
              <a:rPr lang="en-US" altLang="en-US" dirty="0">
                <a:sym typeface="Symbol" panose="05050102010706020507" pitchFamily="18" charset="2"/>
              </a:rPr>
              <a:t> </a:t>
            </a:r>
            <a:r>
              <a:rPr lang="en-US" altLang="en-US" i="1" baseline="-25000" dirty="0">
                <a:sym typeface="Symbol" panose="05050102010706020507" pitchFamily="18" charset="2"/>
              </a:rPr>
              <a:t>dept_name=</a:t>
            </a:r>
            <a:r>
              <a:rPr lang="ja-JP" altLang="en-US" i="1" baseline="-25000" dirty="0">
                <a:sym typeface="Symbol" panose="05050102010706020507" pitchFamily="18" charset="2"/>
              </a:rPr>
              <a:t>“</a:t>
            </a:r>
            <a:r>
              <a:rPr lang="en-US" altLang="ja-JP" i="1" baseline="-25000" dirty="0">
                <a:sym typeface="Symbol" panose="05050102010706020507" pitchFamily="18" charset="2"/>
              </a:rPr>
              <a:t>Physics</a:t>
            </a:r>
            <a:r>
              <a:rPr lang="ja-JP" altLang="en-US" i="1" baseline="-25000" dirty="0">
                <a:sym typeface="Symbol" panose="05050102010706020507" pitchFamily="18" charset="2"/>
              </a:rPr>
              <a:t>” </a:t>
            </a:r>
            <a:r>
              <a:rPr lang="en-US" altLang="en-US" dirty="0">
                <a:sym typeface="Symbol" panose="05050102010706020507" pitchFamily="18" charset="2"/>
              </a:rPr>
              <a:t></a:t>
            </a:r>
            <a:r>
              <a:rPr lang="ja-JP" altLang="en-US" i="1" baseline="-25000" dirty="0">
                <a:sym typeface="Symbol" panose="05050102010706020507" pitchFamily="18" charset="2"/>
              </a:rPr>
              <a:t> </a:t>
            </a:r>
            <a:r>
              <a:rPr lang="en-US" altLang="ja-JP" i="1" baseline="-25000" dirty="0">
                <a:sym typeface="Symbol" panose="05050102010706020507" pitchFamily="18" charset="2"/>
              </a:rPr>
              <a:t>salary </a:t>
            </a:r>
            <a:r>
              <a:rPr lang="en-US" altLang="ja-JP" sz="1700" i="1" baseline="-25000" dirty="0">
                <a:sym typeface="Symbol" panose="05050102010706020507" pitchFamily="18" charset="2"/>
              </a:rPr>
              <a:t>&gt;</a:t>
            </a:r>
            <a:r>
              <a:rPr lang="en-US" altLang="ja-JP" sz="1700" i="1" dirty="0">
                <a:sym typeface="Symbol" panose="05050102010706020507" pitchFamily="18" charset="2"/>
              </a:rPr>
              <a:t> </a:t>
            </a:r>
            <a:r>
              <a:rPr lang="en-US" altLang="ja-JP" sz="1700" i="1" baseline="-25000" dirty="0">
                <a:sym typeface="Symbol" panose="05050102010706020507" pitchFamily="18" charset="2"/>
              </a:rPr>
              <a:t>90,000</a:t>
            </a:r>
            <a:r>
              <a:rPr lang="en-US" altLang="ja-JP" sz="1700" i="1" dirty="0">
                <a:sym typeface="Symbol" panose="05050102010706020507" pitchFamily="18" charset="2"/>
              </a:rPr>
              <a:t> </a:t>
            </a:r>
            <a:r>
              <a:rPr lang="en-US" altLang="ja-JP" sz="1700" dirty="0">
                <a:sym typeface="Symbol" panose="05050102010706020507" pitchFamily="18" charset="2"/>
              </a:rPr>
              <a:t>(</a:t>
            </a:r>
            <a:r>
              <a:rPr lang="en-US" altLang="ja-JP" sz="1700" i="1" dirty="0">
                <a:sym typeface="Symbol" panose="05050102010706020507" pitchFamily="18" charset="2"/>
              </a:rPr>
              <a:t>instructor</a:t>
            </a:r>
            <a:r>
              <a:rPr lang="en-US" altLang="ja-JP" sz="1700" dirty="0">
                <a:sym typeface="Symbol" panose="05050102010706020507" pitchFamily="18" charset="2"/>
              </a:rPr>
              <a:t>)</a:t>
            </a:r>
          </a:p>
          <a:p>
            <a:pPr marL="0" indent="0">
              <a:lnSpc>
                <a:spcPct val="90000"/>
              </a:lnSpc>
              <a:buNone/>
              <a:tabLst>
                <a:tab pos="1658938" algn="l"/>
                <a:tab pos="3149600" algn="ctr"/>
                <a:tab pos="3425825" algn="l"/>
              </a:tabLst>
            </a:pPr>
            <a:r>
              <a:rPr lang="en-US" altLang="ja-JP" sz="800" i="1" dirty="0">
                <a:sym typeface="Symbol" panose="05050102010706020507" pitchFamily="18" charset="2"/>
              </a:rPr>
              <a:t> </a:t>
            </a:r>
          </a:p>
          <a:p>
            <a:pPr>
              <a:lnSpc>
                <a:spcPct val="90000"/>
              </a:lnSpc>
              <a:tabLst>
                <a:tab pos="1658938" algn="l"/>
                <a:tab pos="3149600" algn="ctr"/>
                <a:tab pos="3425825" algn="l"/>
              </a:tabLst>
            </a:pPr>
            <a:r>
              <a:rPr lang="en-US" altLang="en-US" sz="1700" dirty="0">
                <a:sym typeface="Symbol" panose="05050102010706020507" pitchFamily="18" charset="2"/>
              </a:rPr>
              <a:t>The select predicate may  include comparisons between two attributes. </a:t>
            </a:r>
          </a:p>
          <a:p>
            <a:pPr lvl="1">
              <a:lnSpc>
                <a:spcPct val="90000"/>
              </a:lnSpc>
              <a:tabLst>
                <a:tab pos="1658938" algn="l"/>
                <a:tab pos="3149600" algn="ctr"/>
                <a:tab pos="3425825" algn="l"/>
              </a:tabLst>
            </a:pPr>
            <a:r>
              <a:rPr lang="en-US" altLang="en-US" sz="1700" dirty="0">
                <a:sym typeface="Symbol" panose="05050102010706020507" pitchFamily="18" charset="2"/>
              </a:rPr>
              <a:t>Example, find all departments whose name is the same as their building name:</a:t>
            </a:r>
          </a:p>
          <a:p>
            <a:pPr lvl="1">
              <a:lnSpc>
                <a:spcPct val="90000"/>
              </a:lnSpc>
              <a:tabLst>
                <a:tab pos="1658938" algn="l"/>
                <a:tab pos="3149600" algn="ctr"/>
                <a:tab pos="3425825" algn="l"/>
              </a:tabLst>
            </a:pPr>
            <a:r>
              <a:rPr lang="en-US" altLang="en-US" sz="1700" i="1" dirty="0">
                <a:sym typeface="Symbol" panose="05050102010706020507" pitchFamily="18" charset="2"/>
              </a:rPr>
              <a:t> </a:t>
            </a:r>
            <a:r>
              <a:rPr lang="en-US" altLang="en-US" sz="1900" i="1" dirty="0">
                <a:sym typeface="Symbol" panose="05050102010706020507" pitchFamily="18" charset="2"/>
              </a:rPr>
              <a:t></a:t>
            </a:r>
            <a:r>
              <a:rPr lang="en-US" altLang="en-US" sz="1900" dirty="0">
                <a:sym typeface="Symbol" panose="05050102010706020507" pitchFamily="18" charset="2"/>
              </a:rPr>
              <a:t> </a:t>
            </a:r>
            <a:r>
              <a:rPr lang="en-US" altLang="en-US" sz="1900" i="1" baseline="-25000" dirty="0">
                <a:sym typeface="Symbol" panose="05050102010706020507" pitchFamily="18" charset="2"/>
              </a:rPr>
              <a:t>dept_name=</a:t>
            </a:r>
            <a:r>
              <a:rPr lang="en-US" altLang="ja-JP" sz="1900" i="1" baseline="-25000" dirty="0">
                <a:sym typeface="Symbol" panose="05050102010706020507" pitchFamily="18" charset="2"/>
              </a:rPr>
              <a:t>building</a:t>
            </a:r>
            <a:r>
              <a:rPr lang="en-US" altLang="ja-JP" sz="1900" i="1" dirty="0">
                <a:sym typeface="Symbol" panose="05050102010706020507" pitchFamily="18" charset="2"/>
              </a:rPr>
              <a:t> </a:t>
            </a:r>
            <a:r>
              <a:rPr lang="ja-JP" altLang="en-US" sz="1900" i="1" baseline="-25000" dirty="0">
                <a:sym typeface="Symbol" panose="05050102010706020507" pitchFamily="18" charset="2"/>
              </a:rPr>
              <a:t> </a:t>
            </a:r>
            <a:r>
              <a:rPr lang="en-US" altLang="ja-JP" sz="1700" dirty="0">
                <a:sym typeface="Symbol" panose="05050102010706020507" pitchFamily="18" charset="2"/>
              </a:rPr>
              <a:t>(</a:t>
            </a:r>
            <a:r>
              <a:rPr lang="en-US" altLang="ja-JP" sz="1700" i="1" dirty="0">
                <a:sym typeface="Symbol" panose="05050102010706020507" pitchFamily="18" charset="2"/>
              </a:rPr>
              <a:t>department</a:t>
            </a:r>
            <a:r>
              <a:rPr lang="en-US" altLang="ja-JP" sz="1700" dirty="0">
                <a:sym typeface="Symbol" panose="05050102010706020507" pitchFamily="18" charset="2"/>
              </a:rPr>
              <a:t>)</a:t>
            </a:r>
            <a:endParaRPr lang="en-US" altLang="en-US" sz="1700" dirty="0">
              <a:sym typeface="Symbol" panose="05050102010706020507" pitchFamily="18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215083158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71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2800" dirty="0"/>
              <a:t>Project Operation Example</a:t>
            </a:r>
          </a:p>
        </p:txBody>
      </p:sp>
      <p:sp>
        <p:nvSpPr>
          <p:cNvPr id="102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0" y="1077914"/>
            <a:ext cx="7912353" cy="1218478"/>
          </a:xfrm>
        </p:spPr>
        <p:txBody>
          <a:bodyPr/>
          <a:lstStyle/>
          <a:p>
            <a:pPr>
              <a:tabLst>
                <a:tab pos="3257550" algn="ctr"/>
              </a:tabLst>
            </a:pPr>
            <a:r>
              <a:rPr lang="en-US" altLang="en-US" sz="1700" dirty="0"/>
              <a:t>Example: eliminate the </a:t>
            </a:r>
            <a:r>
              <a:rPr lang="en-US" altLang="en-US" sz="1700" i="1" dirty="0"/>
              <a:t>dept_name</a:t>
            </a:r>
            <a:r>
              <a:rPr lang="en-US" altLang="en-US" sz="1700" dirty="0"/>
              <a:t> attribute of </a:t>
            </a:r>
            <a:r>
              <a:rPr lang="en-US" altLang="en-US" sz="1700" i="1" dirty="0"/>
              <a:t>instructor</a:t>
            </a:r>
          </a:p>
          <a:p>
            <a:pPr>
              <a:tabLst>
                <a:tab pos="3257550" algn="ctr"/>
              </a:tabLst>
            </a:pPr>
            <a:r>
              <a:rPr lang="en-US" altLang="en-US" sz="1700" dirty="0"/>
              <a:t>Query</a:t>
            </a:r>
            <a:r>
              <a:rPr lang="en-US" altLang="en-US" sz="1700" i="1" dirty="0"/>
              <a:t>:</a:t>
            </a:r>
            <a:br>
              <a:rPr lang="en-US" altLang="en-US" sz="1700" dirty="0"/>
            </a:br>
            <a:r>
              <a:rPr lang="en-US" altLang="en-US" sz="800" dirty="0"/>
              <a:t> </a:t>
            </a:r>
            <a:br>
              <a:rPr lang="en-US" altLang="en-US" sz="1700" dirty="0"/>
            </a:br>
            <a:r>
              <a:rPr lang="en-US" altLang="en-US" sz="1700" dirty="0"/>
              <a:t>         	 </a:t>
            </a:r>
            <a:r>
              <a:rPr lang="en-US" altLang="en-US" dirty="0">
                <a:sym typeface="Symbol" panose="05050102010706020507" pitchFamily="18" charset="2"/>
              </a:rPr>
              <a:t></a:t>
            </a:r>
            <a:r>
              <a:rPr lang="en-US" altLang="en-US" i="1" baseline="-25000" dirty="0"/>
              <a:t>ID, name, salary</a:t>
            </a:r>
            <a:r>
              <a:rPr lang="en-US" altLang="en-US" dirty="0"/>
              <a:t> </a:t>
            </a:r>
            <a:r>
              <a:rPr lang="en-US" altLang="en-US" sz="1700" dirty="0"/>
              <a:t>(</a:t>
            </a:r>
            <a:r>
              <a:rPr lang="en-US" altLang="en-US" sz="1700" i="1" dirty="0"/>
              <a:t>instructor</a:t>
            </a:r>
            <a:r>
              <a:rPr lang="en-US" altLang="en-US" sz="1700" dirty="0"/>
              <a:t>)</a:t>
            </a:r>
            <a:br>
              <a:rPr lang="en-US" altLang="en-US" sz="1700" dirty="0"/>
            </a:br>
            <a:endParaRPr lang="en-US" altLang="en-US" sz="1700" dirty="0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78A827ED-B175-4A55-B05F-235A354E778B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b="9823"/>
          <a:stretch/>
        </p:blipFill>
        <p:spPr>
          <a:xfrm>
            <a:off x="4304453" y="2695944"/>
            <a:ext cx="4341298" cy="3860720"/>
          </a:xfrm>
          <a:prstGeom prst="rect">
            <a:avLst/>
          </a:prstGeom>
        </p:spPr>
      </p:pic>
      <p:pic>
        <p:nvPicPr>
          <p:cNvPr id="5" name="Graphic 4">
            <a:extLst>
              <a:ext uri="{FF2B5EF4-FFF2-40B4-BE49-F238E27FC236}">
                <a16:creationId xmlns:a16="http://schemas.microsoft.com/office/drawing/2014/main" id="{406F03F5-EEB3-4734-AF97-8A665F30C480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 t="-1" b="12197"/>
          <a:stretch/>
        </p:blipFill>
        <p:spPr>
          <a:xfrm>
            <a:off x="109913" y="2774373"/>
            <a:ext cx="4550077" cy="3593031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DBC1F8A4-0927-1AAE-EBA2-3FC4F096FCF0}"/>
              </a:ext>
            </a:extLst>
          </p:cNvPr>
          <p:cNvSpPr txBox="1"/>
          <p:nvPr/>
        </p:nvSpPr>
        <p:spPr>
          <a:xfrm>
            <a:off x="5216237" y="2366105"/>
            <a:ext cx="264968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en-US" b="1" dirty="0">
                <a:sym typeface="Symbol" panose="05050102010706020507" pitchFamily="18" charset="2"/>
              </a:rPr>
              <a:t>Result </a:t>
            </a:r>
            <a:r>
              <a:rPr lang="en-US" altLang="en-US" dirty="0">
                <a:sym typeface="Symbol" panose="05050102010706020507" pitchFamily="18" charset="2"/>
              </a:rPr>
              <a:t>(order is irrelevant)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71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2800" dirty="0"/>
              <a:t>Project Operation</a:t>
            </a:r>
          </a:p>
        </p:txBody>
      </p:sp>
      <p:sp>
        <p:nvSpPr>
          <p:cNvPr id="102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0" y="1077913"/>
            <a:ext cx="7683192" cy="4876800"/>
          </a:xfrm>
        </p:spPr>
        <p:txBody>
          <a:bodyPr/>
          <a:lstStyle/>
          <a:p>
            <a:pPr>
              <a:lnSpc>
                <a:spcPct val="120000"/>
              </a:lnSpc>
              <a:tabLst>
                <a:tab pos="3257550" algn="ctr"/>
              </a:tabLst>
            </a:pPr>
            <a:r>
              <a:rPr lang="en-US" altLang="en-US" sz="1700" dirty="0"/>
              <a:t>A unary operation that returns its argument relation, with certain attributes left out.  </a:t>
            </a:r>
          </a:p>
          <a:p>
            <a:pPr>
              <a:lnSpc>
                <a:spcPct val="120000"/>
              </a:lnSpc>
              <a:tabLst>
                <a:tab pos="3257550" algn="ctr"/>
              </a:tabLst>
            </a:pPr>
            <a:r>
              <a:rPr lang="en-US" altLang="en-US" sz="1700" dirty="0"/>
              <a:t>Notation:</a:t>
            </a:r>
          </a:p>
          <a:p>
            <a:pPr>
              <a:lnSpc>
                <a:spcPct val="120000"/>
              </a:lnSpc>
              <a:buNone/>
              <a:tabLst>
                <a:tab pos="3257550" algn="ctr"/>
              </a:tabLst>
            </a:pPr>
            <a:r>
              <a:rPr lang="en-US" altLang="en-US" dirty="0">
                <a:sym typeface="Symbol" panose="05050102010706020507" pitchFamily="18" charset="2"/>
              </a:rPr>
              <a:t>                   </a:t>
            </a:r>
            <a:r>
              <a:rPr lang="en-US" altLang="en-US" i="1" baseline="-25000" dirty="0">
                <a:sym typeface="Symbol" panose="05050102010706020507" pitchFamily="18" charset="2"/>
              </a:rPr>
              <a:t>A</a:t>
            </a:r>
            <a:r>
              <a:rPr lang="en-US" altLang="en-US" i="1" baseline="-50000" dirty="0">
                <a:sym typeface="Symbol" panose="05050102010706020507" pitchFamily="18" charset="2"/>
              </a:rPr>
              <a:t>1</a:t>
            </a:r>
            <a:r>
              <a:rPr lang="en-US" altLang="en-US" i="1" baseline="-25000" dirty="0">
                <a:sym typeface="Symbol" panose="05050102010706020507" pitchFamily="18" charset="2"/>
              </a:rPr>
              <a:t>,A</a:t>
            </a:r>
            <a:r>
              <a:rPr lang="en-US" altLang="en-US" i="1" baseline="-50000" dirty="0">
                <a:sym typeface="Symbol" panose="05050102010706020507" pitchFamily="18" charset="2"/>
              </a:rPr>
              <a:t>2</a:t>
            </a:r>
            <a:r>
              <a:rPr lang="en-US" altLang="en-US" i="1" baseline="-25000" dirty="0">
                <a:sym typeface="Symbol" panose="05050102010706020507" pitchFamily="18" charset="2"/>
              </a:rPr>
              <a:t>,A</a:t>
            </a:r>
            <a:r>
              <a:rPr lang="en-US" altLang="en-US" i="1" baseline="-50000" dirty="0">
                <a:sym typeface="Symbol" panose="05050102010706020507" pitchFamily="18" charset="2"/>
              </a:rPr>
              <a:t>3</a:t>
            </a:r>
            <a:r>
              <a:rPr lang="en-US" altLang="en-US" i="1" baseline="-25000" dirty="0">
                <a:sym typeface="Symbol" panose="05050102010706020507" pitchFamily="18" charset="2"/>
              </a:rPr>
              <a:t> ….</a:t>
            </a:r>
            <a:r>
              <a:rPr lang="en-US" altLang="en-US" i="1" baseline="-25000" dirty="0" err="1">
                <a:sym typeface="Symbol" panose="05050102010706020507" pitchFamily="18" charset="2"/>
              </a:rPr>
              <a:t>A</a:t>
            </a:r>
            <a:r>
              <a:rPr lang="en-US" altLang="en-US" i="1" baseline="-50000" dirty="0" err="1">
                <a:sym typeface="Symbol" panose="05050102010706020507" pitchFamily="18" charset="2"/>
              </a:rPr>
              <a:t>k</a:t>
            </a:r>
            <a:r>
              <a:rPr lang="en-US" altLang="en-US" i="1" baseline="-25000" dirty="0">
                <a:sym typeface="Symbol" panose="05050102010706020507" pitchFamily="18" charset="2"/>
              </a:rPr>
              <a:t> </a:t>
            </a:r>
            <a:r>
              <a:rPr lang="en-US" altLang="en-US" baseline="-25000" dirty="0"/>
              <a:t> </a:t>
            </a:r>
            <a:r>
              <a:rPr lang="en-US" altLang="en-US" sz="1700" dirty="0"/>
              <a:t>(</a:t>
            </a:r>
            <a:r>
              <a:rPr lang="en-US" altLang="en-US" sz="1700" i="1" dirty="0"/>
              <a:t>r</a:t>
            </a:r>
            <a:r>
              <a:rPr lang="en-US" altLang="ja-JP" sz="1700" dirty="0">
                <a:sym typeface="Symbol" panose="05050102010706020507" pitchFamily="18" charset="2"/>
              </a:rPr>
              <a:t>)</a:t>
            </a:r>
            <a:r>
              <a:rPr lang="en-US" altLang="en-US" sz="1700" dirty="0">
                <a:solidFill>
                  <a:schemeClr val="bg1">
                    <a:lumMod val="50000"/>
                  </a:schemeClr>
                </a:solidFill>
              </a:rPr>
              <a:t>	</a:t>
            </a:r>
          </a:p>
          <a:p>
            <a:pPr>
              <a:lnSpc>
                <a:spcPct val="120000"/>
              </a:lnSpc>
              <a:buFont typeface="Monotype Sorts" charset="2"/>
              <a:buNone/>
              <a:tabLst>
                <a:tab pos="3257550" algn="ctr"/>
              </a:tabLst>
            </a:pPr>
            <a:r>
              <a:rPr lang="en-US" altLang="en-US" sz="1700" dirty="0"/>
              <a:t>	where </a:t>
            </a:r>
            <a:r>
              <a:rPr lang="en-US" altLang="en-US" sz="1700" i="1" dirty="0"/>
              <a:t>A</a:t>
            </a:r>
            <a:r>
              <a:rPr lang="en-US" altLang="en-US" sz="1700" i="1" baseline="-25000" dirty="0"/>
              <a:t>1</a:t>
            </a:r>
            <a:r>
              <a:rPr lang="en-US" altLang="en-US" sz="1700" i="1" dirty="0"/>
              <a:t>, A</a:t>
            </a:r>
            <a:r>
              <a:rPr lang="en-US" altLang="en-US" sz="1700" i="1" baseline="-25000" dirty="0"/>
              <a:t>2</a:t>
            </a:r>
            <a:r>
              <a:rPr lang="en-US" altLang="en-US" sz="1700" dirty="0"/>
              <a:t>,  …, </a:t>
            </a:r>
            <a:r>
              <a:rPr lang="en-US" altLang="en-US" i="1" dirty="0" err="1"/>
              <a:t>A</a:t>
            </a:r>
            <a:r>
              <a:rPr lang="en-US" altLang="en-US" i="1" baseline="-25000" dirty="0" err="1"/>
              <a:t>k</a:t>
            </a:r>
            <a:r>
              <a:rPr lang="en-US" altLang="en-US" sz="1700" dirty="0"/>
              <a:t>  are attribute names and </a:t>
            </a:r>
            <a:r>
              <a:rPr lang="en-US" altLang="en-US" sz="1700" i="1" dirty="0"/>
              <a:t>r</a:t>
            </a:r>
            <a:r>
              <a:rPr lang="en-US" altLang="en-US" sz="1700" dirty="0"/>
              <a:t> is a relation name.</a:t>
            </a:r>
          </a:p>
          <a:p>
            <a:pPr>
              <a:tabLst>
                <a:tab pos="3257550" algn="ctr"/>
              </a:tabLst>
            </a:pPr>
            <a:r>
              <a:rPr lang="en-US" altLang="en-US" sz="1700" dirty="0"/>
              <a:t>The result is defined as the relation of </a:t>
            </a:r>
            <a:r>
              <a:rPr lang="en-US" altLang="en-US" sz="1700" i="1" dirty="0"/>
              <a:t>k</a:t>
            </a:r>
            <a:r>
              <a:rPr lang="en-US" altLang="en-US" sz="1700" dirty="0"/>
              <a:t> columns obtained by erasing the columns that are not listed</a:t>
            </a:r>
          </a:p>
          <a:p>
            <a:pPr>
              <a:tabLst>
                <a:tab pos="3257550" algn="ctr"/>
              </a:tabLst>
            </a:pPr>
            <a:r>
              <a:rPr lang="en-US" altLang="en-US" sz="1700" b="1" dirty="0"/>
              <a:t>Duplicate rows removed from result</a:t>
            </a:r>
            <a:r>
              <a:rPr lang="en-US" altLang="en-US" sz="1700" dirty="0"/>
              <a:t>, since relations are sets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8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2800" dirty="0"/>
              <a:t>Composition of Relational Operations</a:t>
            </a:r>
          </a:p>
        </p:txBody>
      </p:sp>
      <p:sp>
        <p:nvSpPr>
          <p:cNvPr id="717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1" y="1242035"/>
            <a:ext cx="7558786" cy="3720109"/>
          </a:xfrm>
        </p:spPr>
        <p:txBody>
          <a:bodyPr/>
          <a:lstStyle/>
          <a:p>
            <a:r>
              <a:rPr lang="en-US" altLang="en-US" sz="1700" dirty="0"/>
              <a:t>The result of a relational-algebra operation is relation  and therefore of relational-algebra operations can be composed together into a </a:t>
            </a:r>
            <a:r>
              <a:rPr lang="en-US" altLang="en-US" sz="1700" b="1" dirty="0"/>
              <a:t>relational-algebra expression</a:t>
            </a:r>
            <a:r>
              <a:rPr lang="en-US" altLang="en-US" sz="1700" dirty="0"/>
              <a:t>.</a:t>
            </a:r>
          </a:p>
          <a:p>
            <a:r>
              <a:rPr lang="en-US" altLang="en-US" sz="1700" dirty="0"/>
              <a:t>Consider  the query -- Find the names of all instructors in the Physics department.</a:t>
            </a:r>
          </a:p>
          <a:p>
            <a:pPr>
              <a:buNone/>
            </a:pPr>
            <a:r>
              <a:rPr lang="en-US" altLang="ja-JP" sz="800" dirty="0">
                <a:sym typeface="Symbol" panose="05050102010706020507" pitchFamily="18" charset="2"/>
              </a:rPr>
              <a:t> </a:t>
            </a:r>
          </a:p>
          <a:p>
            <a:pPr>
              <a:buNone/>
            </a:pPr>
            <a:r>
              <a:rPr lang="en-US" altLang="en-US" sz="1700" dirty="0">
                <a:sym typeface="Symbol" panose="05050102010706020507" pitchFamily="18" charset="2"/>
              </a:rPr>
              <a:t>             </a:t>
            </a:r>
            <a:r>
              <a:rPr lang="en-US" altLang="en-US" dirty="0">
                <a:sym typeface="Symbol" panose="05050102010706020507" pitchFamily="18" charset="2"/>
              </a:rPr>
              <a:t></a:t>
            </a:r>
            <a:r>
              <a:rPr lang="en-US" altLang="en-US" i="1" baseline="-25000" dirty="0">
                <a:sym typeface="Symbol" panose="05050102010706020507" pitchFamily="18" charset="2"/>
              </a:rPr>
              <a:t>name</a:t>
            </a:r>
            <a:r>
              <a:rPr lang="en-US" altLang="en-US" dirty="0"/>
              <a:t>(</a:t>
            </a:r>
            <a:r>
              <a:rPr lang="en-US" altLang="en-US" i="1" dirty="0">
                <a:sym typeface="Symbol" panose="05050102010706020507" pitchFamily="18" charset="2"/>
              </a:rPr>
              <a:t></a:t>
            </a:r>
            <a:r>
              <a:rPr lang="en-US" altLang="en-US" dirty="0">
                <a:sym typeface="Symbol" panose="05050102010706020507" pitchFamily="18" charset="2"/>
              </a:rPr>
              <a:t> </a:t>
            </a:r>
            <a:r>
              <a:rPr lang="en-US" altLang="en-US" i="1" baseline="-25000" dirty="0">
                <a:sym typeface="Symbol" panose="05050102010706020507" pitchFamily="18" charset="2"/>
              </a:rPr>
              <a:t>dept_name</a:t>
            </a:r>
            <a:r>
              <a:rPr lang="en-US" altLang="en-US" i="1" dirty="0">
                <a:sym typeface="Symbol" panose="05050102010706020507" pitchFamily="18" charset="2"/>
              </a:rPr>
              <a:t> </a:t>
            </a:r>
            <a:r>
              <a:rPr lang="en-US" altLang="en-US" i="1" baseline="-25000" dirty="0">
                <a:sym typeface="Symbol" panose="05050102010706020507" pitchFamily="18" charset="2"/>
              </a:rPr>
              <a:t>=</a:t>
            </a:r>
            <a:r>
              <a:rPr lang="ja-JP" altLang="en-US" i="1" baseline="-25000" dirty="0">
                <a:sym typeface="Symbol" panose="05050102010706020507" pitchFamily="18" charset="2"/>
              </a:rPr>
              <a:t>“</a:t>
            </a:r>
            <a:r>
              <a:rPr lang="en-US" altLang="ja-JP" i="1" baseline="-25000" dirty="0">
                <a:sym typeface="Symbol" panose="05050102010706020507" pitchFamily="18" charset="2"/>
              </a:rPr>
              <a:t>Physics</a:t>
            </a:r>
            <a:r>
              <a:rPr lang="ja-JP" altLang="en-US" i="1" baseline="-25000" dirty="0">
                <a:sym typeface="Symbol" panose="05050102010706020507" pitchFamily="18" charset="2"/>
              </a:rPr>
              <a:t>”</a:t>
            </a:r>
            <a:r>
              <a:rPr lang="en-US" altLang="ja-JP" i="1" baseline="-25000" dirty="0">
                <a:sym typeface="Symbol" panose="05050102010706020507" pitchFamily="18" charset="2"/>
              </a:rPr>
              <a:t> </a:t>
            </a:r>
            <a:r>
              <a:rPr lang="en-US" altLang="ja-JP" i="1" dirty="0">
                <a:sym typeface="Symbol" panose="05050102010706020507" pitchFamily="18" charset="2"/>
              </a:rPr>
              <a:t> </a:t>
            </a:r>
            <a:r>
              <a:rPr lang="en-US" altLang="ja-JP" sz="1700" dirty="0">
                <a:sym typeface="Symbol" panose="05050102010706020507" pitchFamily="18" charset="2"/>
              </a:rPr>
              <a:t>(</a:t>
            </a:r>
            <a:r>
              <a:rPr lang="en-US" altLang="ja-JP" sz="1700" i="1" dirty="0">
                <a:sym typeface="Symbol" panose="05050102010706020507" pitchFamily="18" charset="2"/>
              </a:rPr>
              <a:t>instructor</a:t>
            </a:r>
            <a:r>
              <a:rPr lang="en-US" altLang="ja-JP" sz="1700" dirty="0">
                <a:sym typeface="Symbol" panose="05050102010706020507" pitchFamily="18" charset="2"/>
              </a:rPr>
              <a:t>))</a:t>
            </a:r>
          </a:p>
          <a:p>
            <a:pPr>
              <a:buNone/>
            </a:pPr>
            <a:r>
              <a:rPr lang="en-US" altLang="ja-JP" sz="800" dirty="0">
                <a:sym typeface="Symbol" panose="05050102010706020507" pitchFamily="18" charset="2"/>
              </a:rPr>
              <a:t> </a:t>
            </a:r>
          </a:p>
          <a:p>
            <a:pPr>
              <a:lnSpc>
                <a:spcPct val="90000"/>
              </a:lnSpc>
              <a:tabLst>
                <a:tab pos="1658938" algn="l"/>
                <a:tab pos="3149600" algn="ctr"/>
                <a:tab pos="3425825" algn="l"/>
              </a:tabLst>
            </a:pPr>
            <a:r>
              <a:rPr lang="en-US" altLang="en-US" sz="1700" dirty="0">
                <a:sym typeface="Symbol" panose="05050102010706020507" pitchFamily="18" charset="2"/>
              </a:rPr>
              <a:t>Instead of giving the name of a relation as the argument of the projection operation, we give an expression that evaluates to a relation.</a:t>
            </a:r>
          </a:p>
          <a:p>
            <a:pPr>
              <a:lnSpc>
                <a:spcPct val="90000"/>
              </a:lnSpc>
              <a:tabLst>
                <a:tab pos="1658938" algn="l"/>
                <a:tab pos="3149600" algn="ctr"/>
                <a:tab pos="3425825" algn="l"/>
              </a:tabLst>
            </a:pPr>
            <a:endParaRPr lang="en-US" altLang="en-US" dirty="0">
              <a:sym typeface="Symbol" panose="05050102010706020507" pitchFamily="18" charset="2"/>
            </a:endParaRPr>
          </a:p>
          <a:p>
            <a:pPr>
              <a:lnSpc>
                <a:spcPct val="90000"/>
              </a:lnSpc>
              <a:tabLst>
                <a:tab pos="1658938" algn="l"/>
                <a:tab pos="3149600" algn="ctr"/>
                <a:tab pos="3425825" algn="l"/>
              </a:tabLst>
            </a:pPr>
            <a:endParaRPr lang="en-US" altLang="en-US" dirty="0">
              <a:sym typeface="Symbol" panose="05050102010706020507" pitchFamily="18" charset="2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73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2800" dirty="0"/>
              <a:t>Cartesian-Product Operation</a:t>
            </a:r>
          </a:p>
        </p:txBody>
      </p:sp>
      <p:sp>
        <p:nvSpPr>
          <p:cNvPr id="1229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0" y="1065721"/>
            <a:ext cx="7709825" cy="4876800"/>
          </a:xfrm>
        </p:spPr>
        <p:txBody>
          <a:bodyPr/>
          <a:lstStyle/>
          <a:p>
            <a:pPr>
              <a:tabLst>
                <a:tab pos="3149600" algn="ctr"/>
              </a:tabLst>
            </a:pPr>
            <a:r>
              <a:rPr lang="en-US" altLang="en-US" sz="1700" dirty="0"/>
              <a:t>The Cartesian-product operation (denoted by X)  allows us to combine information from any two relations.  </a:t>
            </a:r>
          </a:p>
          <a:p>
            <a:pPr>
              <a:tabLst>
                <a:tab pos="3149600" algn="ctr"/>
              </a:tabLst>
            </a:pPr>
            <a:r>
              <a:rPr lang="en-US" altLang="en-US" sz="1700" dirty="0"/>
              <a:t>Example: the Cartesian product of the relations </a:t>
            </a:r>
            <a:r>
              <a:rPr lang="en-US" altLang="en-US" sz="1700" i="1" dirty="0"/>
              <a:t>instructor</a:t>
            </a:r>
            <a:r>
              <a:rPr lang="en-US" altLang="en-US" sz="1700" dirty="0"/>
              <a:t> and t</a:t>
            </a:r>
            <a:r>
              <a:rPr lang="en-US" altLang="en-US" sz="1700" i="1" dirty="0"/>
              <a:t>eaches</a:t>
            </a:r>
            <a:r>
              <a:rPr lang="en-US" altLang="en-US" sz="1700" dirty="0"/>
              <a:t> is written  as:</a:t>
            </a:r>
          </a:p>
          <a:p>
            <a:pPr>
              <a:buNone/>
              <a:tabLst>
                <a:tab pos="3149600" algn="ctr"/>
              </a:tabLst>
            </a:pPr>
            <a:r>
              <a:rPr lang="en-US" altLang="en-US" sz="1700" i="1" dirty="0"/>
              <a:t>                instructor</a:t>
            </a:r>
            <a:r>
              <a:rPr lang="en-US" altLang="en-US" sz="1700" dirty="0"/>
              <a:t>  X  </a:t>
            </a:r>
            <a:r>
              <a:rPr lang="en-US" altLang="en-US" sz="1700" i="1" dirty="0"/>
              <a:t>teaches</a:t>
            </a:r>
          </a:p>
          <a:p>
            <a:pPr>
              <a:tabLst>
                <a:tab pos="3149600" algn="ctr"/>
              </a:tabLst>
            </a:pPr>
            <a:r>
              <a:rPr lang="en-US" altLang="en-US" sz="1700" dirty="0"/>
              <a:t>We construct a tuple of the result out of each possible pair of tuples: one from the </a:t>
            </a:r>
            <a:r>
              <a:rPr lang="en-US" altLang="en-US" sz="1700" i="1" dirty="0"/>
              <a:t>instructor</a:t>
            </a:r>
            <a:r>
              <a:rPr lang="en-US" altLang="en-US" sz="1700" dirty="0"/>
              <a:t> relation and one from the </a:t>
            </a:r>
            <a:r>
              <a:rPr lang="en-US" altLang="en-US" sz="1700" i="1" dirty="0"/>
              <a:t>teaches</a:t>
            </a:r>
            <a:r>
              <a:rPr lang="en-US" altLang="en-US" sz="1700" dirty="0"/>
              <a:t> relation (see next slide)</a:t>
            </a:r>
          </a:p>
          <a:p>
            <a:pPr>
              <a:tabLst>
                <a:tab pos="3149600" algn="ctr"/>
              </a:tabLst>
            </a:pPr>
            <a:r>
              <a:rPr lang="en-US" altLang="en-US" sz="1700" dirty="0"/>
              <a:t>Since the instructor</a:t>
            </a:r>
            <a:r>
              <a:rPr lang="en-US" altLang="en-US" sz="1700" i="1" dirty="0"/>
              <a:t> ID </a:t>
            </a:r>
            <a:r>
              <a:rPr lang="en-US" altLang="en-US" sz="1700" dirty="0"/>
              <a:t>appears in both relations we distinguish between these attribute by attaching to the attribute the name of the relation from which the attribute originally came.</a:t>
            </a:r>
          </a:p>
          <a:p>
            <a:pPr lvl="1">
              <a:tabLst>
                <a:tab pos="3149600" algn="ctr"/>
              </a:tabLst>
            </a:pPr>
            <a:r>
              <a:rPr lang="en-US" altLang="en-US" sz="1700" i="1" dirty="0"/>
              <a:t>instructor.ID</a:t>
            </a:r>
          </a:p>
          <a:p>
            <a:pPr lvl="1">
              <a:tabLst>
                <a:tab pos="3149600" algn="ctr"/>
              </a:tabLst>
            </a:pPr>
            <a:r>
              <a:rPr lang="en-US" altLang="en-US" sz="1700" i="1" dirty="0"/>
              <a:t>teaches.ID</a:t>
            </a:r>
          </a:p>
          <a:p>
            <a:pPr lvl="1">
              <a:tabLst>
                <a:tab pos="3149600" algn="ctr"/>
              </a:tabLst>
            </a:pPr>
            <a:endParaRPr lang="en-US" altLang="en-US" dirty="0"/>
          </a:p>
          <a:p>
            <a:pPr>
              <a:buNone/>
              <a:tabLst>
                <a:tab pos="3149600" algn="ctr"/>
              </a:tabLst>
            </a:pPr>
            <a:endParaRPr lang="en-US" altLang="en-US" dirty="0">
              <a:sym typeface="Symbol" panose="05050102010706020507" pitchFamily="18" charset="2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73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2800" dirty="0"/>
              <a:t>The</a:t>
            </a:r>
            <a:r>
              <a:rPr lang="en-US" altLang="en-US" sz="2800" i="1" dirty="0"/>
              <a:t>  instructor</a:t>
            </a:r>
            <a:r>
              <a:rPr lang="en-US" altLang="en-US" sz="2800" dirty="0"/>
              <a:t>  </a:t>
            </a:r>
            <a:r>
              <a:rPr lang="en-US" altLang="en-US" sz="2400" dirty="0"/>
              <a:t>X</a:t>
            </a:r>
            <a:r>
              <a:rPr lang="en-US" altLang="en-US" sz="2800" dirty="0"/>
              <a:t>  </a:t>
            </a:r>
            <a:r>
              <a:rPr lang="en-US" altLang="en-US" sz="2800" i="1" dirty="0"/>
              <a:t>teaches  table</a:t>
            </a:r>
            <a:endParaRPr lang="en-US" altLang="en-US" sz="2800" dirty="0"/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E425A146-DF78-4629-A7BE-AFD775427152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t="-2" b="6551"/>
          <a:stretch/>
        </p:blipFill>
        <p:spPr>
          <a:xfrm>
            <a:off x="1669591" y="727075"/>
            <a:ext cx="5459492" cy="59649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11396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8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2800" dirty="0"/>
              <a:t>Join Operation</a:t>
            </a:r>
          </a:p>
        </p:txBody>
      </p:sp>
      <p:sp>
        <p:nvSpPr>
          <p:cNvPr id="717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1" y="1126681"/>
            <a:ext cx="7631938" cy="4664519"/>
          </a:xfrm>
        </p:spPr>
        <p:txBody>
          <a:bodyPr/>
          <a:lstStyle/>
          <a:p>
            <a:pPr>
              <a:tabLst>
                <a:tab pos="3149600" algn="ctr"/>
              </a:tabLst>
            </a:pPr>
            <a:r>
              <a:rPr lang="en-US" altLang="en-US" sz="1700" dirty="0"/>
              <a:t>The Cartesian-Product </a:t>
            </a:r>
          </a:p>
          <a:p>
            <a:pPr>
              <a:buNone/>
              <a:tabLst>
                <a:tab pos="3149600" algn="ctr"/>
              </a:tabLst>
            </a:pPr>
            <a:r>
              <a:rPr lang="en-US" altLang="en-US" sz="1700" i="1" dirty="0"/>
              <a:t>                    instructor</a:t>
            </a:r>
            <a:r>
              <a:rPr lang="en-US" altLang="en-US" sz="1700" dirty="0"/>
              <a:t>  X  </a:t>
            </a:r>
            <a:r>
              <a:rPr lang="en-US" altLang="en-US" sz="1700" i="1" dirty="0"/>
              <a:t>teaches</a:t>
            </a:r>
            <a:endParaRPr lang="en-US" altLang="en-US" sz="1700" dirty="0"/>
          </a:p>
          <a:p>
            <a:pPr>
              <a:buNone/>
              <a:tabLst>
                <a:tab pos="3149600" algn="ctr"/>
              </a:tabLst>
            </a:pPr>
            <a:r>
              <a:rPr lang="en-US" altLang="en-US" sz="1700" dirty="0"/>
              <a:t>      associates every  tuple of  instructor with every tuple of teaches.</a:t>
            </a:r>
          </a:p>
          <a:p>
            <a:pPr lvl="1"/>
            <a:r>
              <a:rPr lang="en-US" altLang="en-US" sz="1700" dirty="0"/>
              <a:t>Most of the resulting rows have information about instructors who did NOT teach a particular course. </a:t>
            </a:r>
          </a:p>
          <a:p>
            <a:r>
              <a:rPr lang="en-US" altLang="en-US" sz="1700" dirty="0"/>
              <a:t>To get only those tuples of  “</a:t>
            </a:r>
            <a:r>
              <a:rPr lang="en-US" altLang="en-US" sz="1700" i="1" dirty="0"/>
              <a:t>instructor</a:t>
            </a:r>
            <a:r>
              <a:rPr lang="en-US" altLang="en-US" sz="1700" dirty="0"/>
              <a:t>  X  </a:t>
            </a:r>
            <a:r>
              <a:rPr lang="en-US" altLang="en-US" sz="1700" i="1" dirty="0"/>
              <a:t>teaches</a:t>
            </a:r>
            <a:r>
              <a:rPr lang="en-US" altLang="en-US" sz="1700" dirty="0"/>
              <a:t> “ that pertain to instructors and the courses that they taught, we write:</a:t>
            </a:r>
          </a:p>
          <a:p>
            <a:pPr>
              <a:buNone/>
            </a:pPr>
            <a:r>
              <a:rPr lang="en-US" altLang="en-US" sz="1700" dirty="0">
                <a:solidFill>
                  <a:schemeClr val="bg1">
                    <a:lumMod val="50000"/>
                  </a:schemeClr>
                </a:solidFill>
                <a:sym typeface="Symbol" panose="05050102010706020507" pitchFamily="18" charset="2"/>
              </a:rPr>
              <a:t>            </a:t>
            </a:r>
            <a:r>
              <a:rPr lang="en-US" altLang="en-US" i="1" dirty="0">
                <a:sym typeface="Symbol" panose="05050102010706020507" pitchFamily="18" charset="2"/>
              </a:rPr>
              <a:t></a:t>
            </a:r>
            <a:r>
              <a:rPr lang="en-US" altLang="en-US" dirty="0">
                <a:sym typeface="Symbol" panose="05050102010706020507" pitchFamily="18" charset="2"/>
              </a:rPr>
              <a:t> </a:t>
            </a:r>
            <a:r>
              <a:rPr lang="en-US" altLang="en-US" i="1" baseline="-25000" dirty="0">
                <a:sym typeface="Symbol" panose="05050102010706020507" pitchFamily="18" charset="2"/>
              </a:rPr>
              <a:t>instructor.id =  teaches.id</a:t>
            </a:r>
            <a:r>
              <a:rPr lang="en-US" altLang="ja-JP" i="1" baseline="-25000" dirty="0">
                <a:sym typeface="Symbol" panose="05050102010706020507" pitchFamily="18" charset="2"/>
              </a:rPr>
              <a:t> </a:t>
            </a:r>
            <a:r>
              <a:rPr lang="en-US" altLang="ja-JP" i="1" dirty="0">
                <a:sym typeface="Symbol" panose="05050102010706020507" pitchFamily="18" charset="2"/>
              </a:rPr>
              <a:t> </a:t>
            </a:r>
            <a:r>
              <a:rPr lang="en-US" altLang="ja-JP" sz="1700" dirty="0">
                <a:sym typeface="Symbol" panose="05050102010706020507" pitchFamily="18" charset="2"/>
              </a:rPr>
              <a:t>(</a:t>
            </a:r>
            <a:r>
              <a:rPr lang="en-US" altLang="ja-JP" sz="1700" i="1" dirty="0">
                <a:sym typeface="Symbol" panose="05050102010706020507" pitchFamily="18" charset="2"/>
              </a:rPr>
              <a:t>instructor  </a:t>
            </a:r>
            <a:r>
              <a:rPr lang="en-US" altLang="ja-JP" sz="1700" dirty="0">
                <a:sym typeface="Symbol" panose="05050102010706020507" pitchFamily="18" charset="2"/>
              </a:rPr>
              <a:t>x</a:t>
            </a:r>
            <a:r>
              <a:rPr lang="en-US" altLang="ja-JP" sz="1700" i="1" dirty="0">
                <a:sym typeface="Symbol" panose="05050102010706020507" pitchFamily="18" charset="2"/>
              </a:rPr>
              <a:t> teaches </a:t>
            </a:r>
            <a:r>
              <a:rPr lang="en-US" altLang="ja-JP" sz="1700" dirty="0">
                <a:sym typeface="Symbol" panose="05050102010706020507" pitchFamily="18" charset="2"/>
              </a:rPr>
              <a:t>))</a:t>
            </a:r>
          </a:p>
          <a:p>
            <a:pPr>
              <a:buNone/>
            </a:pPr>
            <a:r>
              <a:rPr lang="en-US" altLang="ja-JP" sz="800" dirty="0">
                <a:sym typeface="Symbol" panose="05050102010706020507" pitchFamily="18" charset="2"/>
              </a:rPr>
              <a:t> </a:t>
            </a:r>
          </a:p>
          <a:p>
            <a:pPr lvl="1"/>
            <a:r>
              <a:rPr lang="en-US" altLang="ja-JP" sz="1700" dirty="0">
                <a:sym typeface="Symbol" panose="05050102010706020507" pitchFamily="18" charset="2"/>
              </a:rPr>
              <a:t>We get only those tuples of “</a:t>
            </a:r>
            <a:r>
              <a:rPr lang="en-US" altLang="en-US" sz="1700" i="1" dirty="0"/>
              <a:t>instructor</a:t>
            </a:r>
            <a:r>
              <a:rPr lang="en-US" altLang="en-US" sz="1700" dirty="0"/>
              <a:t>  X  </a:t>
            </a:r>
            <a:r>
              <a:rPr lang="en-US" altLang="en-US" sz="1700" i="1" dirty="0"/>
              <a:t>teaches” </a:t>
            </a:r>
            <a:r>
              <a:rPr lang="en-US" altLang="ja-JP" sz="1700" dirty="0">
                <a:sym typeface="Symbol" panose="05050102010706020507" pitchFamily="18" charset="2"/>
              </a:rPr>
              <a:t>that pertain to instructors and the courses that they taught.</a:t>
            </a:r>
          </a:p>
          <a:p>
            <a:r>
              <a:rPr lang="en-US" altLang="ja-JP" sz="1700" dirty="0">
                <a:sym typeface="Symbol" panose="05050102010706020507" pitchFamily="18" charset="2"/>
              </a:rPr>
              <a:t>The result of this expression, shown in the next slide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8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2800" dirty="0"/>
              <a:t>Join Operation (Cont.)</a:t>
            </a:r>
          </a:p>
        </p:txBody>
      </p:sp>
      <p:sp>
        <p:nvSpPr>
          <p:cNvPr id="717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1" y="1077913"/>
            <a:ext cx="7436866" cy="848423"/>
          </a:xfrm>
        </p:spPr>
        <p:txBody>
          <a:bodyPr/>
          <a:lstStyle/>
          <a:p>
            <a:r>
              <a:rPr lang="en-US" altLang="en-US" sz="1700" dirty="0"/>
              <a:t>The</a:t>
            </a:r>
            <a:r>
              <a:rPr lang="en-US" altLang="en-US" sz="1700" dirty="0">
                <a:sym typeface="Symbol" panose="05050102010706020507" pitchFamily="18" charset="2"/>
              </a:rPr>
              <a:t>  table corresponding to:</a:t>
            </a:r>
          </a:p>
          <a:p>
            <a:pPr>
              <a:buNone/>
            </a:pPr>
            <a:r>
              <a:rPr lang="en-US" altLang="en-US" sz="1700" i="1" dirty="0">
                <a:solidFill>
                  <a:schemeClr val="bg1">
                    <a:lumMod val="50000"/>
                  </a:schemeClr>
                </a:solidFill>
                <a:sym typeface="Symbol" panose="05050102010706020507" pitchFamily="18" charset="2"/>
              </a:rPr>
              <a:t>            </a:t>
            </a:r>
            <a:r>
              <a:rPr lang="en-US" altLang="en-US" i="1" dirty="0">
                <a:sym typeface="Symbol" panose="05050102010706020507" pitchFamily="18" charset="2"/>
              </a:rPr>
              <a:t></a:t>
            </a:r>
            <a:r>
              <a:rPr lang="en-US" altLang="en-US" dirty="0">
                <a:sym typeface="Symbol" panose="05050102010706020507" pitchFamily="18" charset="2"/>
              </a:rPr>
              <a:t> </a:t>
            </a:r>
            <a:r>
              <a:rPr lang="en-US" altLang="en-US" i="1" baseline="-25000" dirty="0">
                <a:sym typeface="Symbol" panose="05050102010706020507" pitchFamily="18" charset="2"/>
              </a:rPr>
              <a:t>instructor.id =  teaches.id</a:t>
            </a:r>
            <a:r>
              <a:rPr lang="en-US" altLang="ja-JP" i="1" baseline="-25000" dirty="0">
                <a:sym typeface="Symbol" panose="05050102010706020507" pitchFamily="18" charset="2"/>
              </a:rPr>
              <a:t> </a:t>
            </a:r>
            <a:r>
              <a:rPr lang="en-US" altLang="ja-JP" sz="1700" dirty="0">
                <a:sym typeface="Symbol" panose="05050102010706020507" pitchFamily="18" charset="2"/>
              </a:rPr>
              <a:t>(</a:t>
            </a:r>
            <a:r>
              <a:rPr lang="en-US" altLang="ja-JP" sz="1700" i="1" dirty="0">
                <a:sym typeface="Symbol" panose="05050102010706020507" pitchFamily="18" charset="2"/>
              </a:rPr>
              <a:t>instructor  </a:t>
            </a:r>
            <a:r>
              <a:rPr lang="en-US" altLang="ja-JP" sz="1700" dirty="0">
                <a:sym typeface="Symbol" panose="05050102010706020507" pitchFamily="18" charset="2"/>
              </a:rPr>
              <a:t>x</a:t>
            </a:r>
            <a:r>
              <a:rPr lang="en-US" altLang="ja-JP" sz="1700" i="1" dirty="0">
                <a:sym typeface="Symbol" panose="05050102010706020507" pitchFamily="18" charset="2"/>
              </a:rPr>
              <a:t> teaches</a:t>
            </a:r>
            <a:r>
              <a:rPr lang="en-US" altLang="ja-JP" sz="1700" dirty="0">
                <a:sym typeface="Symbol" panose="05050102010706020507" pitchFamily="18" charset="2"/>
              </a:rPr>
              <a:t>))</a:t>
            </a:r>
            <a:r>
              <a:rPr lang="en-US" altLang="en-US" sz="1700" dirty="0"/>
              <a:t> </a:t>
            </a:r>
          </a:p>
          <a:p>
            <a:pPr>
              <a:buNone/>
            </a:pPr>
            <a:endParaRPr lang="en-US" altLang="en-US" dirty="0">
              <a:solidFill>
                <a:schemeClr val="bg1">
                  <a:lumMod val="50000"/>
                </a:schemeClr>
              </a:solidFill>
            </a:endParaRP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54514E8B-ADB7-4B47-B765-99E7784E865C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t="-1" b="12878"/>
          <a:stretch/>
        </p:blipFill>
        <p:spPr>
          <a:xfrm>
            <a:off x="938783" y="1926336"/>
            <a:ext cx="7416310" cy="4134599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8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2800" dirty="0"/>
              <a:t>Join Operation (Cont.)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170" name="Rectangle 3"/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768350" y="1138873"/>
                <a:ext cx="7644131" cy="4823015"/>
              </a:xfrm>
            </p:spPr>
            <p:txBody>
              <a:bodyPr/>
              <a:lstStyle/>
              <a:p>
                <a:pPr>
                  <a:tabLst>
                    <a:tab pos="3149600" algn="ctr"/>
                  </a:tabLst>
                </a:pPr>
                <a:r>
                  <a:rPr lang="en-US" altLang="en-US" sz="1700" dirty="0"/>
                  <a:t>The </a:t>
                </a:r>
                <a:r>
                  <a:rPr lang="en-US" altLang="en-US" sz="1700" b="1" dirty="0"/>
                  <a:t>join </a:t>
                </a:r>
                <a:r>
                  <a:rPr lang="en-US" altLang="en-US" sz="1700" dirty="0"/>
                  <a:t>operation allows us to combine  a select operation and a  </a:t>
                </a:r>
                <a:r>
                  <a:rPr lang="en-US" altLang="en-US" sz="1700" b="1" dirty="0"/>
                  <a:t> </a:t>
                </a:r>
                <a:r>
                  <a:rPr lang="en-US" altLang="en-US" sz="1700" dirty="0"/>
                  <a:t>Cartesian-Product  operation into a single operation.</a:t>
                </a:r>
              </a:p>
              <a:p>
                <a:pPr>
                  <a:tabLst>
                    <a:tab pos="3149600" algn="ctr"/>
                  </a:tabLst>
                </a:pPr>
                <a:r>
                  <a:rPr lang="en-US" altLang="en-US" sz="1700" dirty="0"/>
                  <a:t>Consider relations </a:t>
                </a:r>
                <a:r>
                  <a:rPr lang="en-US" altLang="en-US" sz="1700" i="1" dirty="0"/>
                  <a:t>r </a:t>
                </a:r>
                <a:r>
                  <a:rPr lang="en-US" altLang="en-US" sz="1700" dirty="0"/>
                  <a:t>(</a:t>
                </a:r>
                <a:r>
                  <a:rPr lang="en-US" altLang="en-US" sz="1700" i="1" dirty="0"/>
                  <a:t>R</a:t>
                </a:r>
                <a:r>
                  <a:rPr lang="en-US" altLang="en-US" sz="1700" dirty="0"/>
                  <a:t>) and </a:t>
                </a:r>
                <a:r>
                  <a:rPr lang="en-US" altLang="en-US" sz="1700" i="1" dirty="0"/>
                  <a:t>s </a:t>
                </a:r>
                <a:r>
                  <a:rPr lang="en-US" altLang="en-US" sz="1700" dirty="0"/>
                  <a:t>(</a:t>
                </a:r>
                <a:r>
                  <a:rPr lang="en-US" altLang="en-US" sz="1700" i="1" dirty="0"/>
                  <a:t>S</a:t>
                </a:r>
                <a:r>
                  <a:rPr lang="en-US" altLang="en-US" sz="1700" dirty="0"/>
                  <a:t>)</a:t>
                </a:r>
              </a:p>
              <a:p>
                <a:r>
                  <a:rPr lang="en-US" altLang="en-US" sz="1700" dirty="0"/>
                  <a:t>Let  “theta” be a predicate on attributes in the schema R “union” S. The join operation  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7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700" i="1">
                            <a:latin typeface="Cambria Math" panose="02040503050406030204" pitchFamily="18" charset="0"/>
                          </a:rPr>
                          <m:t>⋈</m:t>
                        </m:r>
                      </m:e>
                      <m:sub>
                        <m:r>
                          <a:rPr lang="en-US" sz="1700" i="1">
                            <a:latin typeface="Cambria Math" panose="02040503050406030204" pitchFamily="18" charset="0"/>
                          </a:rPr>
                          <m:t>𝜃</m:t>
                        </m:r>
                      </m:sub>
                    </m:sSub>
                  </m:oMath>
                </a14:m>
                <a:r>
                  <a:rPr lang="en-US" altLang="en-US" sz="1700" dirty="0"/>
                  <a:t> s is defined as follows:</a:t>
                </a:r>
              </a:p>
              <a:p>
                <a:pPr>
                  <a:buNone/>
                </a:pPr>
                <a:r>
                  <a:rPr lang="en-US" altLang="en-US" sz="1700" i="1" dirty="0">
                    <a:sym typeface="Symbol" panose="05050102010706020507" pitchFamily="18" charset="2"/>
                  </a:rPr>
                  <a:t>       </a:t>
                </a:r>
                <a:r>
                  <a:rPr lang="en-US" altLang="en-US" sz="1700" dirty="0"/>
                  <a:t>        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𝑟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⋈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𝜃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𝜃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×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altLang="ja-JP" dirty="0">
                  <a:sym typeface="Symbol" panose="05050102010706020507" pitchFamily="18" charset="2"/>
                </a:endParaRPr>
              </a:p>
              <a:p>
                <a:pPr>
                  <a:buNone/>
                </a:pPr>
                <a:r>
                  <a:rPr lang="en-US" altLang="ja-JP" sz="800" dirty="0">
                    <a:sym typeface="Symbol" panose="05050102010706020507" pitchFamily="18" charset="2"/>
                  </a:rPr>
                  <a:t> </a:t>
                </a:r>
              </a:p>
              <a:p>
                <a:r>
                  <a:rPr lang="en-US" altLang="ja-JP" sz="1700" dirty="0">
                    <a:sym typeface="Symbol" panose="05050102010706020507" pitchFamily="18" charset="2"/>
                  </a:rPr>
                  <a:t>Thus</a:t>
                </a:r>
              </a:p>
              <a:p>
                <a:pPr marL="0" indent="0">
                  <a:buNone/>
                </a:pPr>
                <a:r>
                  <a:rPr lang="en-US" altLang="en-US" sz="1700" i="1" dirty="0">
                    <a:sym typeface="Symbol" panose="05050102010706020507" pitchFamily="18" charset="2"/>
                  </a:rPr>
                  <a:t>                  </a:t>
                </a:r>
                <a:r>
                  <a:rPr lang="en-US" altLang="en-US" i="1" dirty="0">
                    <a:sym typeface="Symbol" panose="05050102010706020507" pitchFamily="18" charset="2"/>
                  </a:rPr>
                  <a:t></a:t>
                </a:r>
                <a:r>
                  <a:rPr lang="en-US" altLang="en-US" dirty="0">
                    <a:sym typeface="Symbol" panose="05050102010706020507" pitchFamily="18" charset="2"/>
                  </a:rPr>
                  <a:t> </a:t>
                </a:r>
                <a:r>
                  <a:rPr lang="en-US" altLang="en-US" i="1" baseline="-25000" dirty="0">
                    <a:sym typeface="Symbol" panose="05050102010706020507" pitchFamily="18" charset="2"/>
                  </a:rPr>
                  <a:t>instructor.id =  teaches.id</a:t>
                </a:r>
                <a:r>
                  <a:rPr lang="en-US" altLang="ja-JP" i="1" baseline="-25000" dirty="0">
                    <a:sym typeface="Symbol" panose="05050102010706020507" pitchFamily="18" charset="2"/>
                  </a:rPr>
                  <a:t>  </a:t>
                </a:r>
                <a:r>
                  <a:rPr lang="en-US" altLang="ja-JP" sz="1700" dirty="0">
                    <a:sym typeface="Symbol" panose="05050102010706020507" pitchFamily="18" charset="2"/>
                  </a:rPr>
                  <a:t>(</a:t>
                </a:r>
                <a:r>
                  <a:rPr lang="en-US" altLang="ja-JP" sz="1700" i="1" dirty="0">
                    <a:sym typeface="Symbol" panose="05050102010706020507" pitchFamily="18" charset="2"/>
                  </a:rPr>
                  <a:t>instructor  </a:t>
                </a:r>
                <a:r>
                  <a:rPr lang="en-US" altLang="ja-JP" sz="1700" dirty="0">
                    <a:sym typeface="Symbol" panose="05050102010706020507" pitchFamily="18" charset="2"/>
                  </a:rPr>
                  <a:t>x</a:t>
                </a:r>
                <a:r>
                  <a:rPr lang="en-US" altLang="ja-JP" sz="1700" i="1" dirty="0">
                    <a:sym typeface="Symbol" panose="05050102010706020507" pitchFamily="18" charset="2"/>
                  </a:rPr>
                  <a:t> teaches </a:t>
                </a:r>
                <a:r>
                  <a:rPr lang="en-US" altLang="ja-JP" sz="1700" dirty="0">
                    <a:sym typeface="Symbol" panose="05050102010706020507" pitchFamily="18" charset="2"/>
                  </a:rPr>
                  <a:t>))</a:t>
                </a:r>
              </a:p>
              <a:p>
                <a:pPr marL="0" indent="0">
                  <a:buNone/>
                </a:pPr>
                <a:r>
                  <a:rPr lang="en-US" altLang="ja-JP" sz="800" dirty="0">
                    <a:sym typeface="Symbol" panose="05050102010706020507" pitchFamily="18" charset="2"/>
                  </a:rPr>
                  <a:t> </a:t>
                </a:r>
              </a:p>
              <a:p>
                <a:r>
                  <a:rPr lang="en-US" altLang="ja-JP" sz="1700" dirty="0">
                    <a:sym typeface="Symbol" panose="05050102010706020507" pitchFamily="18" charset="2"/>
                  </a:rPr>
                  <a:t>Can equivalently be written as </a:t>
                </a:r>
              </a:p>
              <a:p>
                <a:pPr>
                  <a:buNone/>
                </a:pPr>
                <a:r>
                  <a:rPr lang="en-US" altLang="en-US" sz="1700" i="1" dirty="0">
                    <a:sym typeface="Symbol" panose="05050102010706020507" pitchFamily="18" charset="2"/>
                  </a:rPr>
                  <a:t>                 instructor</a:t>
                </a:r>
                <a:r>
                  <a:rPr lang="en-US" altLang="en-US" sz="1700" dirty="0">
                    <a:sym typeface="Symbol" panose="05050102010706020507" pitchFamily="18" charset="2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⋈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 </m:t>
                        </m:r>
                      </m:sub>
                    </m:sSub>
                  </m:oMath>
                </a14:m>
                <a:r>
                  <a:rPr lang="en-US" i="1" baseline="-25000" dirty="0"/>
                  <a:t>Instructor.id = teaches.id</a:t>
                </a:r>
                <a:r>
                  <a:rPr lang="en-US" baseline="-25000" dirty="0"/>
                  <a:t> </a:t>
                </a:r>
                <a:r>
                  <a:rPr lang="en-US" sz="1700" i="1" dirty="0"/>
                  <a:t>teaches</a:t>
                </a:r>
                <a:r>
                  <a:rPr lang="en-US" sz="1700" dirty="0"/>
                  <a:t>.</a:t>
                </a:r>
              </a:p>
              <a:p>
                <a:pPr>
                  <a:buNone/>
                </a:pPr>
                <a:endParaRPr lang="en-US" altLang="ja-JP" dirty="0">
                  <a:sym typeface="Symbol" panose="05050102010706020507" pitchFamily="18" charset="2"/>
                </a:endParaRPr>
              </a:p>
            </p:txBody>
          </p:sp>
        </mc:Choice>
        <mc:Fallback xmlns="">
          <p:sp>
            <p:nvSpPr>
              <p:cNvPr id="7170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768350" y="1138873"/>
                <a:ext cx="7644131" cy="4823015"/>
              </a:xfrm>
              <a:blipFill>
                <a:blip r:embed="rId3"/>
                <a:stretch>
                  <a:fillRect l="-558" t="-6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12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2800" dirty="0"/>
              <a:t>Union Operation</a:t>
            </a:r>
          </a:p>
        </p:txBody>
      </p:sp>
      <p:sp>
        <p:nvSpPr>
          <p:cNvPr id="921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0" y="1114489"/>
            <a:ext cx="7683191" cy="4688903"/>
          </a:xfrm>
        </p:spPr>
        <p:txBody>
          <a:bodyPr/>
          <a:lstStyle/>
          <a:p>
            <a:pPr>
              <a:tabLst>
                <a:tab pos="2965450" algn="ctr"/>
              </a:tabLst>
            </a:pPr>
            <a:r>
              <a:rPr lang="en-US" altLang="en-US" sz="1700" dirty="0"/>
              <a:t>The union operation </a:t>
            </a:r>
            <a:r>
              <a:rPr lang="en-US" altLang="en-US" sz="1700" dirty="0">
                <a:sym typeface="Symbol" panose="05050102010706020507" pitchFamily="18" charset="2"/>
              </a:rPr>
              <a:t>allows us to combine two relations </a:t>
            </a:r>
            <a:endParaRPr lang="en-US" altLang="en-US" sz="1700" dirty="0"/>
          </a:p>
          <a:p>
            <a:pPr>
              <a:tabLst>
                <a:tab pos="2965450" algn="ctr"/>
              </a:tabLst>
            </a:pPr>
            <a:r>
              <a:rPr lang="en-US" altLang="en-US" sz="1700" dirty="0"/>
              <a:t>Notation:  </a:t>
            </a:r>
            <a:r>
              <a:rPr lang="en-US" altLang="en-US" sz="1700" i="1" dirty="0"/>
              <a:t>r </a:t>
            </a:r>
            <a:r>
              <a:rPr lang="en-US" altLang="en-US" sz="1700" dirty="0"/>
              <a:t> </a:t>
            </a:r>
            <a:r>
              <a:rPr lang="en-US" altLang="en-US" sz="1700" dirty="0">
                <a:sym typeface="Symbol" panose="05050102010706020507" pitchFamily="18" charset="2"/>
              </a:rPr>
              <a:t> </a:t>
            </a:r>
            <a:r>
              <a:rPr lang="en-US" altLang="en-US" sz="1700" i="1" dirty="0">
                <a:sym typeface="Symbol" panose="05050102010706020507" pitchFamily="18" charset="2"/>
              </a:rPr>
              <a:t>s</a:t>
            </a:r>
            <a:endParaRPr lang="en-US" altLang="en-US" sz="1700" dirty="0">
              <a:sym typeface="Symbol" panose="05050102010706020507" pitchFamily="18" charset="2"/>
            </a:endParaRPr>
          </a:p>
          <a:p>
            <a:pPr>
              <a:tabLst>
                <a:tab pos="2965450" algn="ctr"/>
              </a:tabLst>
            </a:pPr>
            <a:r>
              <a:rPr lang="en-US" altLang="en-US" sz="1700" dirty="0">
                <a:sym typeface="Symbol" panose="05050102010706020507" pitchFamily="18" charset="2"/>
              </a:rPr>
              <a:t>For </a:t>
            </a:r>
            <a:r>
              <a:rPr lang="en-US" altLang="en-US" sz="1700" i="1" dirty="0"/>
              <a:t>r</a:t>
            </a:r>
            <a:r>
              <a:rPr lang="en-US" altLang="en-US" sz="1700" dirty="0"/>
              <a:t>  </a:t>
            </a:r>
            <a:r>
              <a:rPr lang="en-US" altLang="en-US" sz="1700" dirty="0">
                <a:sym typeface="Symbol" panose="05050102010706020507" pitchFamily="18" charset="2"/>
              </a:rPr>
              <a:t> </a:t>
            </a:r>
            <a:r>
              <a:rPr lang="en-US" altLang="en-US" sz="1700" i="1" dirty="0">
                <a:sym typeface="Symbol" panose="05050102010706020507" pitchFamily="18" charset="2"/>
              </a:rPr>
              <a:t>s</a:t>
            </a:r>
            <a:r>
              <a:rPr lang="en-US" altLang="en-US" sz="1700" dirty="0">
                <a:sym typeface="Symbol" panose="05050102010706020507" pitchFamily="18" charset="2"/>
              </a:rPr>
              <a:t> to be valid.</a:t>
            </a:r>
          </a:p>
          <a:p>
            <a:pPr>
              <a:buFont typeface="Monotype Sorts" charset="2"/>
              <a:buNone/>
              <a:tabLst>
                <a:tab pos="2965450" algn="ctr"/>
              </a:tabLst>
            </a:pPr>
            <a:r>
              <a:rPr lang="en-US" altLang="en-US" sz="1700" i="1" dirty="0">
                <a:sym typeface="Symbol" panose="05050102010706020507" pitchFamily="18" charset="2"/>
              </a:rPr>
              <a:t>	</a:t>
            </a:r>
            <a:r>
              <a:rPr lang="en-US" altLang="en-US" sz="1700" dirty="0">
                <a:sym typeface="Symbol" panose="05050102010706020507" pitchFamily="18" charset="2"/>
              </a:rPr>
              <a:t>1.   </a:t>
            </a:r>
            <a:r>
              <a:rPr lang="en-US" altLang="en-US" sz="1700" i="1" dirty="0">
                <a:sym typeface="Symbol" panose="05050102010706020507" pitchFamily="18" charset="2"/>
              </a:rPr>
              <a:t>r,</a:t>
            </a:r>
            <a:r>
              <a:rPr lang="en-US" altLang="en-US" sz="1700" dirty="0">
                <a:sym typeface="Symbol" panose="05050102010706020507" pitchFamily="18" charset="2"/>
              </a:rPr>
              <a:t> </a:t>
            </a:r>
            <a:r>
              <a:rPr lang="en-US" altLang="en-US" sz="1700" i="1" dirty="0">
                <a:sym typeface="Symbol" panose="05050102010706020507" pitchFamily="18" charset="2"/>
              </a:rPr>
              <a:t>s</a:t>
            </a:r>
            <a:r>
              <a:rPr lang="en-US" altLang="en-US" sz="1700" dirty="0">
                <a:sym typeface="Symbol" panose="05050102010706020507" pitchFamily="18" charset="2"/>
              </a:rPr>
              <a:t> must have the </a:t>
            </a:r>
            <a:r>
              <a:rPr lang="en-US" altLang="en-US" sz="1700" i="1" dirty="0">
                <a:sym typeface="Symbol" panose="05050102010706020507" pitchFamily="18" charset="2"/>
              </a:rPr>
              <a:t>same </a:t>
            </a:r>
            <a:r>
              <a:rPr lang="en-US" altLang="en-US" sz="1700" b="1" dirty="0">
                <a:solidFill>
                  <a:srgbClr val="002060"/>
                </a:solidFill>
                <a:sym typeface="Symbol" panose="05050102010706020507" pitchFamily="18" charset="2"/>
              </a:rPr>
              <a:t>arity</a:t>
            </a:r>
            <a:r>
              <a:rPr lang="en-US" altLang="en-US" sz="1700" dirty="0">
                <a:sym typeface="Symbol" panose="05050102010706020507" pitchFamily="18" charset="2"/>
              </a:rPr>
              <a:t> (same number of attributes)</a:t>
            </a:r>
          </a:p>
          <a:p>
            <a:pPr>
              <a:spcBef>
                <a:spcPts val="0"/>
              </a:spcBef>
              <a:buNone/>
              <a:tabLst>
                <a:tab pos="2965450" algn="ctr"/>
              </a:tabLst>
            </a:pPr>
            <a:r>
              <a:rPr lang="en-US" altLang="en-US" sz="1700" dirty="0">
                <a:sym typeface="Symbol" panose="05050102010706020507" pitchFamily="18" charset="2"/>
              </a:rPr>
              <a:t>	2.   The attribute domains must be </a:t>
            </a:r>
            <a:r>
              <a:rPr lang="en-US" altLang="en-US" sz="1700" b="1" dirty="0">
                <a:solidFill>
                  <a:srgbClr val="002060"/>
                </a:solidFill>
                <a:sym typeface="Symbol" panose="05050102010706020507" pitchFamily="18" charset="2"/>
              </a:rPr>
              <a:t>compatible</a:t>
            </a:r>
            <a:r>
              <a:rPr lang="en-US" altLang="en-US" sz="1700" dirty="0">
                <a:sym typeface="Symbol" panose="05050102010706020507" pitchFamily="18" charset="2"/>
              </a:rPr>
              <a:t> (example: 2</a:t>
            </a:r>
            <a:r>
              <a:rPr lang="en-US" altLang="en-US" sz="1700" baseline="30000" dirty="0">
                <a:sym typeface="Symbol" panose="05050102010706020507" pitchFamily="18" charset="2"/>
              </a:rPr>
              <a:t>nd</a:t>
            </a:r>
            <a:r>
              <a:rPr lang="en-US" altLang="en-US" sz="1700" dirty="0">
                <a:sym typeface="Symbol" panose="05050102010706020507" pitchFamily="18" charset="2"/>
              </a:rPr>
              <a:t> </a:t>
            </a:r>
          </a:p>
          <a:p>
            <a:pPr lvl="1">
              <a:spcBef>
                <a:spcPts val="0"/>
              </a:spcBef>
              <a:buNone/>
              <a:tabLst>
                <a:tab pos="2965450" algn="ctr"/>
              </a:tabLst>
            </a:pPr>
            <a:r>
              <a:rPr lang="en-US" altLang="en-US" sz="1600" dirty="0">
                <a:sym typeface="Symbol" panose="05050102010706020507" pitchFamily="18" charset="2"/>
              </a:rPr>
              <a:t>     </a:t>
            </a:r>
            <a:r>
              <a:rPr lang="en-US" altLang="en-US" dirty="0">
                <a:sym typeface="Symbol" panose="05050102010706020507" pitchFamily="18" charset="2"/>
              </a:rPr>
              <a:t>column of </a:t>
            </a:r>
            <a:r>
              <a:rPr lang="en-US" altLang="en-US" i="1" dirty="0">
                <a:sym typeface="Symbol" panose="05050102010706020507" pitchFamily="18" charset="2"/>
              </a:rPr>
              <a:t>r</a:t>
            </a:r>
            <a:r>
              <a:rPr lang="en-US" altLang="en-US" dirty="0">
                <a:sym typeface="Symbol" panose="05050102010706020507" pitchFamily="18" charset="2"/>
              </a:rPr>
              <a:t> deals with the same type of values as does the </a:t>
            </a:r>
          </a:p>
          <a:p>
            <a:pPr lvl="1">
              <a:spcBef>
                <a:spcPts val="0"/>
              </a:spcBef>
              <a:buNone/>
              <a:tabLst>
                <a:tab pos="2965450" algn="ctr"/>
              </a:tabLst>
            </a:pPr>
            <a:r>
              <a:rPr lang="en-US" altLang="en-US" dirty="0">
                <a:sym typeface="Symbol" panose="05050102010706020507" pitchFamily="18" charset="2"/>
              </a:rPr>
              <a:t>     2</a:t>
            </a:r>
            <a:r>
              <a:rPr lang="en-US" altLang="en-US" baseline="30000" dirty="0">
                <a:sym typeface="Symbol" panose="05050102010706020507" pitchFamily="18" charset="2"/>
              </a:rPr>
              <a:t>nd </a:t>
            </a:r>
            <a:r>
              <a:rPr lang="en-US" altLang="en-US" dirty="0">
                <a:sym typeface="Symbol" panose="05050102010706020507" pitchFamily="18" charset="2"/>
              </a:rPr>
              <a:t>column of </a:t>
            </a:r>
            <a:r>
              <a:rPr lang="en-US" altLang="en-US" i="1" dirty="0">
                <a:sym typeface="Symbol" panose="05050102010706020507" pitchFamily="18" charset="2"/>
              </a:rPr>
              <a:t>s</a:t>
            </a:r>
            <a:r>
              <a:rPr lang="en-US" altLang="en-US" dirty="0">
                <a:sym typeface="Symbol" panose="05050102010706020507" pitchFamily="18" charset="2"/>
              </a:rPr>
              <a:t>)</a:t>
            </a:r>
          </a:p>
          <a:p>
            <a:pPr>
              <a:lnSpc>
                <a:spcPct val="140000"/>
              </a:lnSpc>
              <a:tabLst>
                <a:tab pos="2965450" algn="ctr"/>
              </a:tabLst>
            </a:pPr>
            <a:r>
              <a:rPr lang="en-US" altLang="en-US" sz="1700" dirty="0"/>
              <a:t>Example: to find all courses taught in the Fall 2017 semester, or in the Spring 2018 semester, or in both</a:t>
            </a:r>
            <a:br>
              <a:rPr lang="en-US" altLang="en-US" sz="1700" dirty="0"/>
            </a:br>
            <a:r>
              <a:rPr lang="en-US" altLang="en-US" dirty="0"/>
              <a:t>   </a:t>
            </a:r>
            <a:r>
              <a:rPr lang="en-US" altLang="en-US" dirty="0">
                <a:sym typeface="Symbol" panose="05050102010706020507" pitchFamily="18" charset="2"/>
              </a:rPr>
              <a:t></a:t>
            </a:r>
            <a:r>
              <a:rPr lang="en-US" altLang="en-US" i="1" baseline="-25000" dirty="0" err="1"/>
              <a:t>course_id</a:t>
            </a:r>
            <a:r>
              <a:rPr lang="en-US" altLang="en-US" dirty="0"/>
              <a:t> (</a:t>
            </a:r>
            <a:r>
              <a:rPr lang="en-US" altLang="en-US" i="1" dirty="0">
                <a:sym typeface="Symbol" panose="05050102010706020507" pitchFamily="18" charset="2"/>
              </a:rPr>
              <a:t></a:t>
            </a:r>
            <a:r>
              <a:rPr lang="en-US" altLang="en-US" dirty="0">
                <a:sym typeface="Symbol" panose="05050102010706020507" pitchFamily="18" charset="2"/>
              </a:rPr>
              <a:t> </a:t>
            </a:r>
            <a:r>
              <a:rPr lang="en-US" altLang="en-US" i="1" baseline="-25000" dirty="0">
                <a:sym typeface="Symbol" panose="05050102010706020507" pitchFamily="18" charset="2"/>
              </a:rPr>
              <a:t>semester=</a:t>
            </a:r>
            <a:r>
              <a:rPr lang="ja-JP" altLang="en-US" i="1" baseline="-25000" dirty="0">
                <a:sym typeface="Symbol" panose="05050102010706020507" pitchFamily="18" charset="2"/>
              </a:rPr>
              <a:t>“</a:t>
            </a:r>
            <a:r>
              <a:rPr lang="en-US" altLang="ja-JP" i="1" baseline="-25000" dirty="0">
                <a:sym typeface="Symbol" panose="05050102010706020507" pitchFamily="18" charset="2"/>
              </a:rPr>
              <a:t>Fall</a:t>
            </a:r>
            <a:r>
              <a:rPr lang="ja-JP" altLang="en-US" i="1" baseline="-25000" dirty="0">
                <a:sym typeface="Symbol" panose="05050102010706020507" pitchFamily="18" charset="2"/>
              </a:rPr>
              <a:t>”</a:t>
            </a:r>
            <a:r>
              <a:rPr lang="en-US" altLang="ja-JP" i="1" baseline="-25000" dirty="0">
                <a:sym typeface="Symbol" panose="05050102010706020507" pitchFamily="18" charset="2"/>
              </a:rPr>
              <a:t>  </a:t>
            </a:r>
            <a:r>
              <a:rPr lang="el-GR" altLang="ja-JP" i="1" baseline="-25000" dirty="0">
                <a:sym typeface="Symbol" panose="05050102010706020507" pitchFamily="18" charset="2"/>
              </a:rPr>
              <a:t>Λ</a:t>
            </a:r>
            <a:r>
              <a:rPr lang="en-US" altLang="ja-JP" i="1" baseline="-25000" dirty="0">
                <a:sym typeface="Symbol" panose="05050102010706020507" pitchFamily="18" charset="2"/>
              </a:rPr>
              <a:t> year=2017 </a:t>
            </a:r>
            <a:r>
              <a:rPr lang="en-US" altLang="ja-JP" sz="1700" dirty="0">
                <a:sym typeface="Symbol" panose="05050102010706020507" pitchFamily="18" charset="2"/>
              </a:rPr>
              <a:t>(</a:t>
            </a:r>
            <a:r>
              <a:rPr lang="en-US" altLang="ja-JP" sz="1700" i="1" dirty="0">
                <a:sym typeface="Symbol" panose="05050102010706020507" pitchFamily="18" charset="2"/>
              </a:rPr>
              <a:t>section</a:t>
            </a:r>
            <a:r>
              <a:rPr lang="en-US" altLang="ja-JP" sz="1700" dirty="0">
                <a:sym typeface="Symbol" panose="05050102010706020507" pitchFamily="18" charset="2"/>
              </a:rPr>
              <a:t>))    </a:t>
            </a:r>
            <a:br>
              <a:rPr lang="en-US" altLang="ja-JP" sz="1700" dirty="0">
                <a:sym typeface="Symbol" panose="05050102010706020507" pitchFamily="18" charset="2"/>
              </a:rPr>
            </a:br>
            <a:r>
              <a:rPr lang="en-US" altLang="ja-JP" sz="1700" dirty="0">
                <a:sym typeface="Symbol" panose="05050102010706020507" pitchFamily="18" charset="2"/>
              </a:rPr>
              <a:t>   </a:t>
            </a:r>
            <a:r>
              <a:rPr lang="en-US" altLang="ja-JP" dirty="0">
                <a:sym typeface="Symbol" panose="05050102010706020507" pitchFamily="18" charset="2"/>
              </a:rPr>
              <a:t></a:t>
            </a:r>
            <a:r>
              <a:rPr lang="en-US" altLang="ja-JP" i="1" baseline="-25000" dirty="0" err="1"/>
              <a:t>course_id</a:t>
            </a:r>
            <a:r>
              <a:rPr lang="en-US" altLang="ja-JP" dirty="0"/>
              <a:t> (</a:t>
            </a:r>
            <a:r>
              <a:rPr lang="en-US" altLang="ja-JP" i="1" dirty="0">
                <a:sym typeface="Symbol" panose="05050102010706020507" pitchFamily="18" charset="2"/>
              </a:rPr>
              <a:t></a:t>
            </a:r>
            <a:r>
              <a:rPr lang="en-US" altLang="ja-JP" dirty="0">
                <a:sym typeface="Symbol" panose="05050102010706020507" pitchFamily="18" charset="2"/>
              </a:rPr>
              <a:t> </a:t>
            </a:r>
            <a:r>
              <a:rPr lang="en-US" altLang="ja-JP" i="1" baseline="-25000" dirty="0">
                <a:sym typeface="Symbol" panose="05050102010706020507" pitchFamily="18" charset="2"/>
              </a:rPr>
              <a:t>semester=</a:t>
            </a:r>
            <a:r>
              <a:rPr lang="ja-JP" altLang="en-US" i="1" baseline="-25000" dirty="0">
                <a:sym typeface="Symbol" panose="05050102010706020507" pitchFamily="18" charset="2"/>
              </a:rPr>
              <a:t>“</a:t>
            </a:r>
            <a:r>
              <a:rPr lang="en-US" altLang="ja-JP" i="1" baseline="-25000" dirty="0">
                <a:sym typeface="Symbol" panose="05050102010706020507" pitchFamily="18" charset="2"/>
              </a:rPr>
              <a:t>Spring</a:t>
            </a:r>
            <a:r>
              <a:rPr lang="ja-JP" altLang="en-US" i="1" baseline="-25000" dirty="0">
                <a:sym typeface="Symbol" panose="05050102010706020507" pitchFamily="18" charset="2"/>
              </a:rPr>
              <a:t>”</a:t>
            </a:r>
            <a:r>
              <a:rPr lang="en-US" altLang="ja-JP" i="1" baseline="-25000" dirty="0">
                <a:sym typeface="Symbol" panose="05050102010706020507" pitchFamily="18" charset="2"/>
              </a:rPr>
              <a:t>  </a:t>
            </a:r>
            <a:r>
              <a:rPr lang="el-GR" altLang="ja-JP" i="1" baseline="-25000" dirty="0">
                <a:sym typeface="Symbol" panose="05050102010706020507" pitchFamily="18" charset="2"/>
              </a:rPr>
              <a:t>Λ</a:t>
            </a:r>
            <a:r>
              <a:rPr lang="en-US" altLang="ja-JP" i="1" baseline="-25000" dirty="0">
                <a:sym typeface="Symbol" panose="05050102010706020507" pitchFamily="18" charset="2"/>
              </a:rPr>
              <a:t> year=2018 </a:t>
            </a:r>
            <a:r>
              <a:rPr lang="en-US" altLang="ja-JP" sz="1700" dirty="0">
                <a:sym typeface="Symbol" panose="05050102010706020507" pitchFamily="18" charset="2"/>
              </a:rPr>
              <a:t>(</a:t>
            </a:r>
            <a:r>
              <a:rPr lang="en-US" altLang="ja-JP" sz="1700" i="1" dirty="0">
                <a:sym typeface="Symbol" panose="05050102010706020507" pitchFamily="18" charset="2"/>
              </a:rPr>
              <a:t>section</a:t>
            </a:r>
            <a:r>
              <a:rPr lang="en-US" altLang="ja-JP" sz="1700" dirty="0">
                <a:sym typeface="Symbol" panose="05050102010706020507" pitchFamily="18" charset="2"/>
              </a:rPr>
              <a:t>))</a:t>
            </a:r>
          </a:p>
          <a:p>
            <a:pPr>
              <a:lnSpc>
                <a:spcPct val="140000"/>
              </a:lnSpc>
              <a:tabLst>
                <a:tab pos="2965450" algn="ctr"/>
              </a:tabLst>
            </a:pPr>
            <a:endParaRPr lang="en-US" altLang="en-US" sz="1700" dirty="0"/>
          </a:p>
          <a:p>
            <a:pPr>
              <a:lnSpc>
                <a:spcPct val="140000"/>
              </a:lnSpc>
              <a:buFont typeface="Monotype Sorts" charset="2"/>
              <a:buNone/>
              <a:tabLst>
                <a:tab pos="2965450" algn="ctr"/>
              </a:tabLst>
            </a:pPr>
            <a:endParaRPr lang="en-US" altLang="en-US" i="1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8A33A3-E6E5-56E2-F85C-B49ED117E2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section table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B349567-16A9-AC4C-D7E8-09EA9F57273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68350" y="1228474"/>
            <a:ext cx="7707313" cy="4634415"/>
          </a:xfrm>
        </p:spPr>
      </p:pic>
    </p:spTree>
    <p:extLst>
      <p:ext uri="{BB962C8B-B14F-4D97-AF65-F5344CB8AC3E}">
        <p14:creationId xmlns:p14="http://schemas.microsoft.com/office/powerpoint/2010/main" val="244175632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12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2800" dirty="0"/>
              <a:t>Union Operation (Cont.)</a:t>
            </a:r>
          </a:p>
        </p:txBody>
      </p:sp>
      <p:sp>
        <p:nvSpPr>
          <p:cNvPr id="921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0" y="1041338"/>
            <a:ext cx="7680706" cy="1372678"/>
          </a:xfrm>
        </p:spPr>
        <p:txBody>
          <a:bodyPr/>
          <a:lstStyle/>
          <a:p>
            <a:pPr>
              <a:lnSpc>
                <a:spcPct val="140000"/>
              </a:lnSpc>
              <a:tabLst>
                <a:tab pos="2965450" algn="ctr"/>
              </a:tabLst>
            </a:pPr>
            <a:r>
              <a:rPr lang="en-US" altLang="en-US" sz="1700" dirty="0"/>
              <a:t>Result of: </a:t>
            </a:r>
            <a:br>
              <a:rPr lang="en-US" altLang="en-US" sz="1700" dirty="0"/>
            </a:br>
            <a:r>
              <a:rPr lang="en-US" altLang="en-US" sz="1700" dirty="0"/>
              <a:t>   </a:t>
            </a:r>
            <a:r>
              <a:rPr lang="en-US" altLang="en-US" dirty="0">
                <a:sym typeface="Symbol" panose="05050102010706020507" pitchFamily="18" charset="2"/>
              </a:rPr>
              <a:t></a:t>
            </a:r>
            <a:r>
              <a:rPr lang="en-US" altLang="en-US" i="1" baseline="-25000" dirty="0" err="1"/>
              <a:t>course_id</a:t>
            </a:r>
            <a:r>
              <a:rPr lang="en-US" altLang="en-US" dirty="0"/>
              <a:t> (</a:t>
            </a:r>
            <a:r>
              <a:rPr lang="en-US" altLang="en-US" i="1" dirty="0">
                <a:sym typeface="Symbol" panose="05050102010706020507" pitchFamily="18" charset="2"/>
              </a:rPr>
              <a:t></a:t>
            </a:r>
            <a:r>
              <a:rPr lang="en-US" altLang="en-US" dirty="0">
                <a:sym typeface="Symbol" panose="05050102010706020507" pitchFamily="18" charset="2"/>
              </a:rPr>
              <a:t> </a:t>
            </a:r>
            <a:r>
              <a:rPr lang="en-US" altLang="en-US" i="1" baseline="-25000" dirty="0">
                <a:sym typeface="Symbol" panose="05050102010706020507" pitchFamily="18" charset="2"/>
              </a:rPr>
              <a:t>semester=</a:t>
            </a:r>
            <a:r>
              <a:rPr lang="ja-JP" altLang="en-US" i="1" baseline="-25000" dirty="0">
                <a:sym typeface="Symbol" panose="05050102010706020507" pitchFamily="18" charset="2"/>
              </a:rPr>
              <a:t>“</a:t>
            </a:r>
            <a:r>
              <a:rPr lang="en-US" altLang="ja-JP" i="1" baseline="-25000" dirty="0">
                <a:sym typeface="Symbol" panose="05050102010706020507" pitchFamily="18" charset="2"/>
              </a:rPr>
              <a:t>Fall</a:t>
            </a:r>
            <a:r>
              <a:rPr lang="ja-JP" altLang="en-US" i="1" baseline="-25000" dirty="0">
                <a:sym typeface="Symbol" panose="05050102010706020507" pitchFamily="18" charset="2"/>
              </a:rPr>
              <a:t>”</a:t>
            </a:r>
            <a:r>
              <a:rPr lang="en-US" altLang="ja-JP" i="1" baseline="-25000" dirty="0">
                <a:sym typeface="Symbol" panose="05050102010706020507" pitchFamily="18" charset="2"/>
              </a:rPr>
              <a:t>  </a:t>
            </a:r>
            <a:r>
              <a:rPr lang="el-GR" altLang="ja-JP" i="1" baseline="-25000" dirty="0">
                <a:sym typeface="Symbol" panose="05050102010706020507" pitchFamily="18" charset="2"/>
              </a:rPr>
              <a:t>Λ</a:t>
            </a:r>
            <a:r>
              <a:rPr lang="en-US" altLang="ja-JP" i="1" baseline="-25000" dirty="0">
                <a:sym typeface="Symbol" panose="05050102010706020507" pitchFamily="18" charset="2"/>
              </a:rPr>
              <a:t> year=2017 </a:t>
            </a:r>
            <a:r>
              <a:rPr lang="en-US" altLang="ja-JP" sz="1700" dirty="0">
                <a:sym typeface="Symbol" panose="05050102010706020507" pitchFamily="18" charset="2"/>
              </a:rPr>
              <a:t>(</a:t>
            </a:r>
            <a:r>
              <a:rPr lang="en-US" altLang="ja-JP" sz="1700" i="1" dirty="0">
                <a:sym typeface="Symbol" panose="05050102010706020507" pitchFamily="18" charset="2"/>
              </a:rPr>
              <a:t>section</a:t>
            </a:r>
            <a:r>
              <a:rPr lang="en-US" altLang="ja-JP" sz="1700" dirty="0">
                <a:sym typeface="Symbol" panose="05050102010706020507" pitchFamily="18" charset="2"/>
              </a:rPr>
              <a:t>))    </a:t>
            </a:r>
            <a:br>
              <a:rPr lang="en-US" altLang="ja-JP" sz="1700" dirty="0">
                <a:sym typeface="Symbol" panose="05050102010706020507" pitchFamily="18" charset="2"/>
              </a:rPr>
            </a:br>
            <a:r>
              <a:rPr lang="en-US" altLang="ja-JP" dirty="0">
                <a:sym typeface="Symbol" panose="05050102010706020507" pitchFamily="18" charset="2"/>
              </a:rPr>
              <a:t>   </a:t>
            </a:r>
            <a:r>
              <a:rPr lang="en-US" altLang="ja-JP" i="1" baseline="-25000" dirty="0" err="1"/>
              <a:t>course_id</a:t>
            </a:r>
            <a:r>
              <a:rPr lang="en-US" altLang="ja-JP" dirty="0"/>
              <a:t> (</a:t>
            </a:r>
            <a:r>
              <a:rPr lang="en-US" altLang="ja-JP" i="1" dirty="0">
                <a:sym typeface="Symbol" panose="05050102010706020507" pitchFamily="18" charset="2"/>
              </a:rPr>
              <a:t></a:t>
            </a:r>
            <a:r>
              <a:rPr lang="en-US" altLang="ja-JP" dirty="0">
                <a:sym typeface="Symbol" panose="05050102010706020507" pitchFamily="18" charset="2"/>
              </a:rPr>
              <a:t> </a:t>
            </a:r>
            <a:r>
              <a:rPr lang="en-US" altLang="ja-JP" i="1" baseline="-25000" dirty="0">
                <a:sym typeface="Symbol" panose="05050102010706020507" pitchFamily="18" charset="2"/>
              </a:rPr>
              <a:t>semester=</a:t>
            </a:r>
            <a:r>
              <a:rPr lang="ja-JP" altLang="en-US" i="1" baseline="-25000" dirty="0">
                <a:sym typeface="Symbol" panose="05050102010706020507" pitchFamily="18" charset="2"/>
              </a:rPr>
              <a:t>“</a:t>
            </a:r>
            <a:r>
              <a:rPr lang="en-US" altLang="ja-JP" i="1" baseline="-25000" dirty="0">
                <a:sym typeface="Symbol" panose="05050102010706020507" pitchFamily="18" charset="2"/>
              </a:rPr>
              <a:t>Spring</a:t>
            </a:r>
            <a:r>
              <a:rPr lang="ja-JP" altLang="en-US" i="1" baseline="-25000" dirty="0">
                <a:sym typeface="Symbol" panose="05050102010706020507" pitchFamily="18" charset="2"/>
              </a:rPr>
              <a:t>”</a:t>
            </a:r>
            <a:r>
              <a:rPr lang="en-US" altLang="ja-JP" i="1" baseline="-25000" dirty="0">
                <a:sym typeface="Symbol" panose="05050102010706020507" pitchFamily="18" charset="2"/>
              </a:rPr>
              <a:t>  </a:t>
            </a:r>
            <a:r>
              <a:rPr lang="el-GR" altLang="ja-JP" i="1" baseline="-25000" dirty="0">
                <a:sym typeface="Symbol" panose="05050102010706020507" pitchFamily="18" charset="2"/>
              </a:rPr>
              <a:t>Λ</a:t>
            </a:r>
            <a:r>
              <a:rPr lang="en-US" altLang="ja-JP" i="1" baseline="-25000" dirty="0">
                <a:sym typeface="Symbol" panose="05050102010706020507" pitchFamily="18" charset="2"/>
              </a:rPr>
              <a:t> year=2018 </a:t>
            </a:r>
            <a:r>
              <a:rPr lang="en-US" altLang="ja-JP" sz="1700" dirty="0">
                <a:sym typeface="Symbol" panose="05050102010706020507" pitchFamily="18" charset="2"/>
              </a:rPr>
              <a:t>(</a:t>
            </a:r>
            <a:r>
              <a:rPr lang="en-US" altLang="ja-JP" sz="1700" i="1" dirty="0">
                <a:sym typeface="Symbol" panose="05050102010706020507" pitchFamily="18" charset="2"/>
              </a:rPr>
              <a:t>section</a:t>
            </a:r>
            <a:r>
              <a:rPr lang="en-US" altLang="ja-JP" sz="1700" dirty="0">
                <a:sym typeface="Symbol" panose="05050102010706020507" pitchFamily="18" charset="2"/>
              </a:rPr>
              <a:t>))</a:t>
            </a:r>
          </a:p>
          <a:p>
            <a:pPr>
              <a:lnSpc>
                <a:spcPct val="140000"/>
              </a:lnSpc>
              <a:tabLst>
                <a:tab pos="2965450" algn="ctr"/>
              </a:tabLst>
            </a:pPr>
            <a:endParaRPr lang="en-US" altLang="en-US" dirty="0"/>
          </a:p>
          <a:p>
            <a:pPr>
              <a:lnSpc>
                <a:spcPct val="140000"/>
              </a:lnSpc>
              <a:buFont typeface="Monotype Sorts" charset="2"/>
              <a:buNone/>
              <a:tabLst>
                <a:tab pos="2965450" algn="ctr"/>
              </a:tabLst>
            </a:pPr>
            <a:endParaRPr lang="en-US" altLang="en-US" i="1" dirty="0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E046BBCE-73BA-4F9A-A63C-4CE16E87A822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37449" r="37780" b="13863"/>
          <a:stretch/>
        </p:blipFill>
        <p:spPr>
          <a:xfrm>
            <a:off x="5757160" y="2517925"/>
            <a:ext cx="1818732" cy="287477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86F327D-C2B5-CDE4-9B75-33B9053DFCD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3846" y="3096490"/>
            <a:ext cx="1067712" cy="1207077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CF95C310-BBC5-A928-55E2-81531F94CEBE}"/>
              </a:ext>
            </a:extLst>
          </p:cNvPr>
          <p:cNvSpPr txBox="1"/>
          <p:nvPr/>
        </p:nvSpPr>
        <p:spPr>
          <a:xfrm>
            <a:off x="2093274" y="3530751"/>
            <a:ext cx="33491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b="1" dirty="0">
                <a:sym typeface="Symbol" panose="05050102010706020507" pitchFamily="18" charset="2"/>
              </a:rPr>
              <a:t></a:t>
            </a:r>
            <a:endParaRPr lang="en-US" b="1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E921E37-0415-194D-4A5C-F2D4D75F293E}"/>
              </a:ext>
            </a:extLst>
          </p:cNvPr>
          <p:cNvSpPr txBox="1"/>
          <p:nvPr/>
        </p:nvSpPr>
        <p:spPr>
          <a:xfrm>
            <a:off x="4956902" y="3595973"/>
            <a:ext cx="40524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b="1" dirty="0">
                <a:sym typeface="Symbol" panose="05050102010706020507" pitchFamily="18" charset="2"/>
              </a:rPr>
              <a:t>=</a:t>
            </a:r>
            <a:endParaRPr lang="en-US" b="1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2DB033EB-78CC-2068-D529-C4421FBB6DB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819904" y="2842874"/>
            <a:ext cx="1235329" cy="2238124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31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2800" dirty="0"/>
              <a:t>Set-Intersection Operation</a:t>
            </a:r>
          </a:p>
        </p:txBody>
      </p:sp>
      <p:sp>
        <p:nvSpPr>
          <p:cNvPr id="1126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0" y="1077913"/>
            <a:ext cx="7612169" cy="3932999"/>
          </a:xfrm>
        </p:spPr>
        <p:txBody>
          <a:bodyPr/>
          <a:lstStyle/>
          <a:p>
            <a:r>
              <a:rPr lang="en-US" altLang="en-US" sz="1700" dirty="0"/>
              <a:t>The  set-intersection  operation </a:t>
            </a:r>
            <a:r>
              <a:rPr lang="en-US" altLang="en-US" sz="1700" dirty="0">
                <a:sym typeface="Symbol" panose="05050102010706020507" pitchFamily="18" charset="2"/>
              </a:rPr>
              <a:t> allows us to find tuples that are in both the input relations.</a:t>
            </a:r>
            <a:endParaRPr lang="en-US" altLang="en-US" sz="1700" dirty="0"/>
          </a:p>
          <a:p>
            <a:r>
              <a:rPr lang="en-US" altLang="en-US" sz="1700" dirty="0"/>
              <a:t>Notation: </a:t>
            </a:r>
            <a:r>
              <a:rPr lang="en-US" altLang="en-US" sz="1700" i="1" dirty="0"/>
              <a:t>r</a:t>
            </a:r>
            <a:r>
              <a:rPr lang="en-US" altLang="en-US" sz="1700" dirty="0"/>
              <a:t> </a:t>
            </a:r>
            <a:r>
              <a:rPr lang="en-US" altLang="en-US" sz="1700" dirty="0">
                <a:sym typeface="Symbol" panose="05050102010706020507" pitchFamily="18" charset="2"/>
              </a:rPr>
              <a:t> </a:t>
            </a:r>
            <a:r>
              <a:rPr lang="en-US" altLang="en-US" sz="1700" i="1" dirty="0"/>
              <a:t>s</a:t>
            </a:r>
            <a:endParaRPr lang="en-US" altLang="en-US" sz="1700" dirty="0"/>
          </a:p>
          <a:p>
            <a:r>
              <a:rPr lang="en-US" altLang="en-US" sz="1700" dirty="0"/>
              <a:t>Assume: </a:t>
            </a:r>
          </a:p>
          <a:p>
            <a:pPr lvl="1"/>
            <a:r>
              <a:rPr lang="en-US" altLang="en-US" sz="1700" i="1" dirty="0"/>
              <a:t>r</a:t>
            </a:r>
            <a:r>
              <a:rPr lang="en-US" altLang="en-US" sz="1700" dirty="0"/>
              <a:t>, </a:t>
            </a:r>
            <a:r>
              <a:rPr lang="en-US" altLang="en-US" sz="1700" i="1" dirty="0"/>
              <a:t>s</a:t>
            </a:r>
            <a:r>
              <a:rPr lang="en-US" altLang="en-US" sz="1700" dirty="0"/>
              <a:t> have the </a:t>
            </a:r>
            <a:r>
              <a:rPr lang="en-US" altLang="en-US" sz="1700" i="1" dirty="0"/>
              <a:t>same </a:t>
            </a:r>
            <a:r>
              <a:rPr lang="en-US" altLang="en-US" sz="1700" i="1" dirty="0" err="1"/>
              <a:t>arity</a:t>
            </a:r>
            <a:r>
              <a:rPr lang="en-US" altLang="en-US" sz="1700" dirty="0"/>
              <a:t> </a:t>
            </a:r>
          </a:p>
          <a:p>
            <a:pPr lvl="1"/>
            <a:r>
              <a:rPr lang="en-US" altLang="en-US" sz="1700" dirty="0"/>
              <a:t>attributes of </a:t>
            </a:r>
            <a:r>
              <a:rPr lang="en-US" altLang="en-US" sz="1700" i="1" dirty="0"/>
              <a:t>r</a:t>
            </a:r>
            <a:r>
              <a:rPr lang="en-US" altLang="en-US" sz="1700" dirty="0"/>
              <a:t> and </a:t>
            </a:r>
            <a:r>
              <a:rPr lang="en-US" altLang="en-US" sz="1700" i="1" dirty="0"/>
              <a:t>s</a:t>
            </a:r>
            <a:r>
              <a:rPr lang="en-US" altLang="en-US" sz="1700" dirty="0"/>
              <a:t> are compatible</a:t>
            </a:r>
          </a:p>
          <a:p>
            <a:r>
              <a:rPr lang="en-US" altLang="en-US" sz="1700" dirty="0"/>
              <a:t>Example: Find the set of all courses taught in both the Fall 2017 and the Spring 2018 semesters.</a:t>
            </a:r>
          </a:p>
          <a:p>
            <a:pPr>
              <a:buNone/>
            </a:pPr>
            <a:r>
              <a:rPr lang="en-US" altLang="en-US" sz="1700" dirty="0">
                <a:sym typeface="Symbol" panose="05050102010706020507" pitchFamily="18" charset="2"/>
              </a:rPr>
              <a:t>           </a:t>
            </a:r>
            <a:r>
              <a:rPr lang="en-US" altLang="en-US" dirty="0">
                <a:sym typeface="Symbol" panose="05050102010706020507" pitchFamily="18" charset="2"/>
              </a:rPr>
              <a:t></a:t>
            </a:r>
            <a:r>
              <a:rPr lang="en-US" altLang="en-US" i="1" baseline="-25000" dirty="0" err="1"/>
              <a:t>course_id</a:t>
            </a:r>
            <a:r>
              <a:rPr lang="en-US" altLang="en-US" dirty="0"/>
              <a:t> (</a:t>
            </a:r>
            <a:r>
              <a:rPr lang="en-US" altLang="en-US" i="1" dirty="0">
                <a:sym typeface="Symbol" panose="05050102010706020507" pitchFamily="18" charset="2"/>
              </a:rPr>
              <a:t></a:t>
            </a:r>
            <a:r>
              <a:rPr lang="en-US" altLang="en-US" dirty="0">
                <a:sym typeface="Symbol" panose="05050102010706020507" pitchFamily="18" charset="2"/>
              </a:rPr>
              <a:t> </a:t>
            </a:r>
            <a:r>
              <a:rPr lang="en-US" altLang="en-US" i="1" baseline="-25000" dirty="0">
                <a:sym typeface="Symbol" panose="05050102010706020507" pitchFamily="18" charset="2"/>
              </a:rPr>
              <a:t>semester=</a:t>
            </a:r>
            <a:r>
              <a:rPr lang="ja-JP" altLang="en-US" i="1" baseline="-25000" dirty="0">
                <a:sym typeface="Symbol" panose="05050102010706020507" pitchFamily="18" charset="2"/>
              </a:rPr>
              <a:t>“</a:t>
            </a:r>
            <a:r>
              <a:rPr lang="en-US" altLang="ja-JP" i="1" baseline="-25000" dirty="0">
                <a:sym typeface="Symbol" panose="05050102010706020507" pitchFamily="18" charset="2"/>
              </a:rPr>
              <a:t>Fall</a:t>
            </a:r>
            <a:r>
              <a:rPr lang="ja-JP" altLang="en-US" i="1" baseline="-25000" dirty="0">
                <a:sym typeface="Symbol" panose="05050102010706020507" pitchFamily="18" charset="2"/>
              </a:rPr>
              <a:t>”</a:t>
            </a:r>
            <a:r>
              <a:rPr lang="en-US" altLang="ja-JP" i="1" baseline="-25000" dirty="0">
                <a:sym typeface="Symbol" panose="05050102010706020507" pitchFamily="18" charset="2"/>
              </a:rPr>
              <a:t>  </a:t>
            </a:r>
            <a:r>
              <a:rPr lang="el-GR" altLang="ja-JP" i="1" baseline="-25000" dirty="0">
                <a:sym typeface="Symbol" panose="05050102010706020507" pitchFamily="18" charset="2"/>
              </a:rPr>
              <a:t>Λ</a:t>
            </a:r>
            <a:r>
              <a:rPr lang="en-US" altLang="ja-JP" i="1" baseline="-25000" dirty="0">
                <a:sym typeface="Symbol" panose="05050102010706020507" pitchFamily="18" charset="2"/>
              </a:rPr>
              <a:t> year=2017 </a:t>
            </a:r>
            <a:r>
              <a:rPr lang="en-US" altLang="ja-JP" sz="1700" dirty="0">
                <a:sym typeface="Symbol" panose="05050102010706020507" pitchFamily="18" charset="2"/>
              </a:rPr>
              <a:t>(</a:t>
            </a:r>
            <a:r>
              <a:rPr lang="en-US" altLang="ja-JP" sz="1700" i="1" dirty="0">
                <a:sym typeface="Symbol" panose="05050102010706020507" pitchFamily="18" charset="2"/>
              </a:rPr>
              <a:t>section</a:t>
            </a:r>
            <a:r>
              <a:rPr lang="en-US" altLang="ja-JP" sz="1700" dirty="0">
                <a:sym typeface="Symbol" panose="05050102010706020507" pitchFamily="18" charset="2"/>
              </a:rPr>
              <a:t>)) </a:t>
            </a:r>
            <a:r>
              <a:rPr lang="en-US" altLang="en-US" sz="1700" dirty="0">
                <a:sym typeface="Symbol" panose="05050102010706020507" pitchFamily="18" charset="2"/>
              </a:rPr>
              <a:t> </a:t>
            </a:r>
            <a:br>
              <a:rPr lang="en-US" altLang="ja-JP" sz="1700" dirty="0">
                <a:sym typeface="Symbol" panose="05050102010706020507" pitchFamily="18" charset="2"/>
              </a:rPr>
            </a:br>
            <a:r>
              <a:rPr lang="en-US" altLang="ja-JP" sz="1700" dirty="0">
                <a:sym typeface="Symbol" panose="05050102010706020507" pitchFamily="18" charset="2"/>
              </a:rPr>
              <a:t>     </a:t>
            </a:r>
            <a:r>
              <a:rPr lang="en-US" altLang="ja-JP" dirty="0">
                <a:sym typeface="Symbol" panose="05050102010706020507" pitchFamily="18" charset="2"/>
              </a:rPr>
              <a:t></a:t>
            </a:r>
            <a:r>
              <a:rPr lang="en-US" altLang="ja-JP" i="1" baseline="-25000" dirty="0" err="1"/>
              <a:t>course_id</a:t>
            </a:r>
            <a:r>
              <a:rPr lang="en-US" altLang="ja-JP" dirty="0"/>
              <a:t> (</a:t>
            </a:r>
            <a:r>
              <a:rPr lang="en-US" altLang="ja-JP" i="1" dirty="0">
                <a:sym typeface="Symbol" panose="05050102010706020507" pitchFamily="18" charset="2"/>
              </a:rPr>
              <a:t></a:t>
            </a:r>
            <a:r>
              <a:rPr lang="en-US" altLang="ja-JP" dirty="0">
                <a:sym typeface="Symbol" panose="05050102010706020507" pitchFamily="18" charset="2"/>
              </a:rPr>
              <a:t> </a:t>
            </a:r>
            <a:r>
              <a:rPr lang="en-US" altLang="ja-JP" i="1" baseline="-25000" dirty="0">
                <a:sym typeface="Symbol" panose="05050102010706020507" pitchFamily="18" charset="2"/>
              </a:rPr>
              <a:t>semester=</a:t>
            </a:r>
            <a:r>
              <a:rPr lang="ja-JP" altLang="en-US" i="1" baseline="-25000" dirty="0">
                <a:sym typeface="Symbol" panose="05050102010706020507" pitchFamily="18" charset="2"/>
              </a:rPr>
              <a:t>“</a:t>
            </a:r>
            <a:r>
              <a:rPr lang="en-US" altLang="ja-JP" i="1" baseline="-25000" dirty="0">
                <a:sym typeface="Symbol" panose="05050102010706020507" pitchFamily="18" charset="2"/>
              </a:rPr>
              <a:t>Spring</a:t>
            </a:r>
            <a:r>
              <a:rPr lang="ja-JP" altLang="en-US" i="1" baseline="-25000" dirty="0">
                <a:sym typeface="Symbol" panose="05050102010706020507" pitchFamily="18" charset="2"/>
              </a:rPr>
              <a:t>”</a:t>
            </a:r>
            <a:r>
              <a:rPr lang="en-US" altLang="ja-JP" i="1" baseline="-25000" dirty="0">
                <a:sym typeface="Symbol" panose="05050102010706020507" pitchFamily="18" charset="2"/>
              </a:rPr>
              <a:t>  </a:t>
            </a:r>
            <a:r>
              <a:rPr lang="el-GR" altLang="ja-JP" i="1" baseline="-25000" dirty="0">
                <a:sym typeface="Symbol" panose="05050102010706020507" pitchFamily="18" charset="2"/>
              </a:rPr>
              <a:t>Λ</a:t>
            </a:r>
            <a:r>
              <a:rPr lang="en-US" altLang="ja-JP" i="1" baseline="-25000" dirty="0">
                <a:sym typeface="Symbol" panose="05050102010706020507" pitchFamily="18" charset="2"/>
              </a:rPr>
              <a:t> year=2018 </a:t>
            </a:r>
            <a:r>
              <a:rPr lang="en-US" altLang="ja-JP" sz="1700" dirty="0">
                <a:sym typeface="Symbol" panose="05050102010706020507" pitchFamily="18" charset="2"/>
              </a:rPr>
              <a:t>(</a:t>
            </a:r>
            <a:r>
              <a:rPr lang="en-US" altLang="ja-JP" sz="1700" i="1" dirty="0">
                <a:sym typeface="Symbol" panose="05050102010706020507" pitchFamily="18" charset="2"/>
              </a:rPr>
              <a:t>section</a:t>
            </a:r>
            <a:r>
              <a:rPr lang="en-US" altLang="ja-JP" sz="1700" dirty="0">
                <a:sym typeface="Symbol" panose="05050102010706020507" pitchFamily="18" charset="2"/>
              </a:rPr>
              <a:t>))</a:t>
            </a:r>
          </a:p>
          <a:p>
            <a:pPr>
              <a:buNone/>
            </a:pPr>
            <a:r>
              <a:rPr lang="en-US" altLang="en-US" sz="800" dirty="0">
                <a:sym typeface="Symbol" panose="05050102010706020507" pitchFamily="18" charset="2"/>
              </a:rPr>
              <a:t> </a:t>
            </a:r>
          </a:p>
          <a:p>
            <a:pPr lvl="1"/>
            <a:r>
              <a:rPr lang="en-US" altLang="en-US" sz="1700" dirty="0">
                <a:sym typeface="Symbol" panose="05050102010706020507" pitchFamily="18" charset="2"/>
              </a:rPr>
              <a:t>Result</a:t>
            </a:r>
            <a:endParaRPr lang="en-US" altLang="en-US" sz="1700" dirty="0"/>
          </a:p>
          <a:p>
            <a:pPr>
              <a:buNone/>
            </a:pPr>
            <a:endParaRPr lang="en-US" altLang="en-US" dirty="0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EFD242B5-7E15-4908-A992-5D9C0D3A8FAE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38817" r="40862" b="33302"/>
          <a:stretch/>
        </p:blipFill>
        <p:spPr>
          <a:xfrm>
            <a:off x="3584772" y="4723514"/>
            <a:ext cx="1373862" cy="824317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3250" name="Rectangle 2"/>
          <p:cNvSpPr>
            <a:spLocks noGrp="1" noChangeArrowheads="1"/>
          </p:cNvSpPr>
          <p:nvPr>
            <p:ph type="title"/>
          </p:nvPr>
        </p:nvSpPr>
        <p:spPr>
          <a:xfrm>
            <a:off x="768350" y="111125"/>
            <a:ext cx="8077200" cy="609600"/>
          </a:xfrm>
        </p:spPr>
        <p:txBody>
          <a:bodyPr/>
          <a:lstStyle/>
          <a:p>
            <a:r>
              <a:rPr lang="en-US" altLang="en-US" sz="2800" dirty="0"/>
              <a:t>Set Difference Operation</a:t>
            </a:r>
          </a:p>
        </p:txBody>
      </p:sp>
      <p:sp>
        <p:nvSpPr>
          <p:cNvPr id="1024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1" y="1077913"/>
            <a:ext cx="7754212" cy="3737927"/>
          </a:xfrm>
        </p:spPr>
        <p:txBody>
          <a:bodyPr/>
          <a:lstStyle/>
          <a:p>
            <a:pPr>
              <a:spcBef>
                <a:spcPct val="60000"/>
              </a:spcBef>
            </a:pPr>
            <a:r>
              <a:rPr lang="en-US" altLang="en-US" sz="1700" dirty="0"/>
              <a:t>The set-difference operation allows us to find tuples that are in one relation but are not in another. </a:t>
            </a:r>
          </a:p>
          <a:p>
            <a:pPr>
              <a:spcBef>
                <a:spcPct val="60000"/>
              </a:spcBef>
            </a:pPr>
            <a:r>
              <a:rPr lang="en-US" altLang="en-US" sz="1700" dirty="0"/>
              <a:t>Notation </a:t>
            </a:r>
            <a:r>
              <a:rPr lang="en-US" altLang="en-US" sz="1700" i="1" dirty="0"/>
              <a:t>r – s</a:t>
            </a:r>
          </a:p>
          <a:p>
            <a:r>
              <a:rPr lang="en-US" altLang="en-US" sz="1700" dirty="0"/>
              <a:t>Set differences must be taken between </a:t>
            </a:r>
            <a:r>
              <a:rPr lang="en-US" altLang="en-US" sz="1700" b="1" dirty="0">
                <a:solidFill>
                  <a:srgbClr val="002060"/>
                </a:solidFill>
              </a:rPr>
              <a:t>compatible</a:t>
            </a:r>
            <a:r>
              <a:rPr lang="en-US" altLang="en-US" sz="1700" dirty="0"/>
              <a:t> relations.</a:t>
            </a:r>
          </a:p>
          <a:p>
            <a:pPr lvl="1"/>
            <a:r>
              <a:rPr lang="en-US" altLang="en-US" sz="1700" i="1" dirty="0"/>
              <a:t>r</a:t>
            </a:r>
            <a:r>
              <a:rPr lang="en-US" altLang="en-US" sz="1700" dirty="0"/>
              <a:t> and </a:t>
            </a:r>
            <a:r>
              <a:rPr lang="en-US" altLang="en-US" sz="1700" i="1" dirty="0"/>
              <a:t>s</a:t>
            </a:r>
            <a:r>
              <a:rPr lang="en-US" altLang="en-US" sz="1700" dirty="0"/>
              <a:t> must have the </a:t>
            </a:r>
            <a:r>
              <a:rPr lang="en-US" altLang="en-US" sz="1700" dirty="0">
                <a:solidFill>
                  <a:srgbClr val="002060"/>
                </a:solidFill>
              </a:rPr>
              <a:t>same</a:t>
            </a:r>
            <a:r>
              <a:rPr lang="en-US" altLang="en-US" sz="1700" dirty="0"/>
              <a:t> </a:t>
            </a:r>
            <a:r>
              <a:rPr lang="en-US" altLang="en-US" sz="1700" dirty="0" err="1"/>
              <a:t>arity</a:t>
            </a:r>
            <a:endParaRPr lang="en-US" altLang="en-US" sz="1700" dirty="0"/>
          </a:p>
          <a:p>
            <a:pPr lvl="1"/>
            <a:r>
              <a:rPr lang="en-US" altLang="en-US" sz="1700" dirty="0"/>
              <a:t>attribute domains of </a:t>
            </a:r>
            <a:r>
              <a:rPr lang="en-US" altLang="en-US" sz="1700" i="1" dirty="0"/>
              <a:t>r </a:t>
            </a:r>
            <a:r>
              <a:rPr lang="en-US" altLang="en-US" sz="1700" dirty="0"/>
              <a:t>and </a:t>
            </a:r>
            <a:r>
              <a:rPr lang="en-US" altLang="en-US" sz="1700" i="1" dirty="0"/>
              <a:t>s </a:t>
            </a:r>
            <a:r>
              <a:rPr lang="en-US" altLang="en-US" sz="1700" dirty="0"/>
              <a:t>must be compatible</a:t>
            </a:r>
          </a:p>
          <a:p>
            <a:pPr>
              <a:lnSpc>
                <a:spcPct val="140000"/>
              </a:lnSpc>
            </a:pPr>
            <a:r>
              <a:rPr lang="en-US" altLang="en-US" sz="1700" dirty="0"/>
              <a:t>Example: to find all courses taught in the Fall 2017 semester, but not in the Spring 2018 semester</a:t>
            </a:r>
            <a:br>
              <a:rPr lang="en-US" altLang="en-US" sz="1700" dirty="0"/>
            </a:br>
            <a:r>
              <a:rPr lang="en-US" altLang="en-US" sz="1700" dirty="0"/>
              <a:t>   </a:t>
            </a:r>
            <a:r>
              <a:rPr lang="en-US" altLang="en-US" sz="1700" dirty="0">
                <a:sym typeface="Symbol" panose="05050102010706020507" pitchFamily="18" charset="2"/>
              </a:rPr>
              <a:t></a:t>
            </a:r>
            <a:r>
              <a:rPr lang="en-US" altLang="en-US" sz="1700" i="1" baseline="-25000" dirty="0" err="1"/>
              <a:t>course_id</a:t>
            </a:r>
            <a:r>
              <a:rPr lang="en-US" altLang="en-US" sz="1700" dirty="0"/>
              <a:t> (</a:t>
            </a:r>
            <a:r>
              <a:rPr lang="en-US" altLang="en-US" sz="1700" i="1" dirty="0">
                <a:sym typeface="Symbol" panose="05050102010706020507" pitchFamily="18" charset="2"/>
              </a:rPr>
              <a:t></a:t>
            </a:r>
            <a:r>
              <a:rPr lang="en-US" altLang="en-US" sz="1700" dirty="0">
                <a:sym typeface="Symbol" panose="05050102010706020507" pitchFamily="18" charset="2"/>
              </a:rPr>
              <a:t> </a:t>
            </a:r>
            <a:r>
              <a:rPr lang="en-US" altLang="en-US" sz="1700" i="1" baseline="-25000" dirty="0">
                <a:sym typeface="Symbol" panose="05050102010706020507" pitchFamily="18" charset="2"/>
              </a:rPr>
              <a:t>semester=</a:t>
            </a:r>
            <a:r>
              <a:rPr lang="ja-JP" altLang="en-US" sz="1700" i="1" baseline="-25000" dirty="0">
                <a:sym typeface="Symbol" panose="05050102010706020507" pitchFamily="18" charset="2"/>
              </a:rPr>
              <a:t>“</a:t>
            </a:r>
            <a:r>
              <a:rPr lang="en-US" altLang="ja-JP" sz="1700" i="1" baseline="-25000" dirty="0">
                <a:sym typeface="Symbol" panose="05050102010706020507" pitchFamily="18" charset="2"/>
              </a:rPr>
              <a:t>Fall</a:t>
            </a:r>
            <a:r>
              <a:rPr lang="ja-JP" altLang="en-US" sz="1700" i="1" baseline="-25000" dirty="0">
                <a:sym typeface="Symbol" panose="05050102010706020507" pitchFamily="18" charset="2"/>
              </a:rPr>
              <a:t>”</a:t>
            </a:r>
            <a:r>
              <a:rPr lang="en-US" altLang="ja-JP" sz="1700" i="1" baseline="-25000" dirty="0">
                <a:sym typeface="Symbol" panose="05050102010706020507" pitchFamily="18" charset="2"/>
              </a:rPr>
              <a:t>  </a:t>
            </a:r>
            <a:r>
              <a:rPr lang="el-GR" altLang="ja-JP" sz="1700" i="1" baseline="-25000" dirty="0">
                <a:sym typeface="Symbol" panose="05050102010706020507" pitchFamily="18" charset="2"/>
              </a:rPr>
              <a:t>Λ</a:t>
            </a:r>
            <a:r>
              <a:rPr lang="en-US" altLang="ja-JP" sz="1700" i="1" baseline="-25000" dirty="0">
                <a:sym typeface="Symbol" panose="05050102010706020507" pitchFamily="18" charset="2"/>
              </a:rPr>
              <a:t> year=2017 </a:t>
            </a:r>
            <a:r>
              <a:rPr lang="en-US" altLang="ja-JP" sz="1700" dirty="0">
                <a:sym typeface="Symbol" panose="05050102010706020507" pitchFamily="18" charset="2"/>
              </a:rPr>
              <a:t>(</a:t>
            </a:r>
            <a:r>
              <a:rPr lang="en-US" altLang="ja-JP" sz="1700" i="1" dirty="0">
                <a:sym typeface="Symbol" panose="05050102010706020507" pitchFamily="18" charset="2"/>
              </a:rPr>
              <a:t>section</a:t>
            </a:r>
            <a:r>
              <a:rPr lang="en-US" altLang="ja-JP" sz="1700" dirty="0">
                <a:sym typeface="Symbol" panose="05050102010706020507" pitchFamily="18" charset="2"/>
              </a:rPr>
              <a:t>))  −  </a:t>
            </a:r>
            <a:br>
              <a:rPr lang="en-US" altLang="ja-JP" sz="1700" dirty="0">
                <a:sym typeface="Symbol" panose="05050102010706020507" pitchFamily="18" charset="2"/>
              </a:rPr>
            </a:br>
            <a:r>
              <a:rPr lang="en-US" altLang="ja-JP" sz="1700" dirty="0">
                <a:sym typeface="Symbol" panose="05050102010706020507" pitchFamily="18" charset="2"/>
              </a:rPr>
              <a:t>   </a:t>
            </a:r>
            <a:r>
              <a:rPr lang="en-US" altLang="ja-JP" sz="1700" i="1" baseline="-25000" dirty="0" err="1"/>
              <a:t>course_id</a:t>
            </a:r>
            <a:r>
              <a:rPr lang="en-US" altLang="ja-JP" sz="1700" dirty="0"/>
              <a:t> (</a:t>
            </a:r>
            <a:r>
              <a:rPr lang="en-US" altLang="ja-JP" sz="1700" i="1" dirty="0">
                <a:sym typeface="Symbol" panose="05050102010706020507" pitchFamily="18" charset="2"/>
              </a:rPr>
              <a:t></a:t>
            </a:r>
            <a:r>
              <a:rPr lang="en-US" altLang="ja-JP" sz="1700" dirty="0">
                <a:sym typeface="Symbol" panose="05050102010706020507" pitchFamily="18" charset="2"/>
              </a:rPr>
              <a:t> </a:t>
            </a:r>
            <a:r>
              <a:rPr lang="en-US" altLang="ja-JP" sz="1700" i="1" baseline="-25000" dirty="0">
                <a:sym typeface="Symbol" panose="05050102010706020507" pitchFamily="18" charset="2"/>
              </a:rPr>
              <a:t>semester=</a:t>
            </a:r>
            <a:r>
              <a:rPr lang="ja-JP" altLang="en-US" sz="1700" i="1" baseline="-25000" dirty="0">
                <a:sym typeface="Symbol" panose="05050102010706020507" pitchFamily="18" charset="2"/>
              </a:rPr>
              <a:t>“</a:t>
            </a:r>
            <a:r>
              <a:rPr lang="en-US" altLang="ja-JP" sz="1700" i="1" baseline="-25000" dirty="0">
                <a:sym typeface="Symbol" panose="05050102010706020507" pitchFamily="18" charset="2"/>
              </a:rPr>
              <a:t>Spring</a:t>
            </a:r>
            <a:r>
              <a:rPr lang="ja-JP" altLang="en-US" sz="1700" i="1" baseline="-25000" dirty="0">
                <a:sym typeface="Symbol" panose="05050102010706020507" pitchFamily="18" charset="2"/>
              </a:rPr>
              <a:t>”</a:t>
            </a:r>
            <a:r>
              <a:rPr lang="en-US" altLang="ja-JP" sz="1700" i="1" baseline="-25000" dirty="0">
                <a:sym typeface="Symbol" panose="05050102010706020507" pitchFamily="18" charset="2"/>
              </a:rPr>
              <a:t>  </a:t>
            </a:r>
            <a:r>
              <a:rPr lang="el-GR" altLang="ja-JP" sz="1700" i="1" baseline="-25000" dirty="0">
                <a:sym typeface="Symbol" panose="05050102010706020507" pitchFamily="18" charset="2"/>
              </a:rPr>
              <a:t>Λ</a:t>
            </a:r>
            <a:r>
              <a:rPr lang="en-US" altLang="ja-JP" sz="1700" i="1" baseline="-25000" dirty="0">
                <a:sym typeface="Symbol" panose="05050102010706020507" pitchFamily="18" charset="2"/>
              </a:rPr>
              <a:t> year=2018 </a:t>
            </a:r>
            <a:r>
              <a:rPr lang="en-US" altLang="ja-JP" sz="1700" dirty="0">
                <a:sym typeface="Symbol" panose="05050102010706020507" pitchFamily="18" charset="2"/>
              </a:rPr>
              <a:t>(</a:t>
            </a:r>
            <a:r>
              <a:rPr lang="en-US" altLang="ja-JP" sz="1700" i="1" dirty="0">
                <a:sym typeface="Symbol" panose="05050102010706020507" pitchFamily="18" charset="2"/>
              </a:rPr>
              <a:t>section</a:t>
            </a:r>
            <a:r>
              <a:rPr lang="en-US" altLang="ja-JP" sz="1700" dirty="0">
                <a:sym typeface="Symbol" panose="05050102010706020507" pitchFamily="18" charset="2"/>
              </a:rPr>
              <a:t>))</a:t>
            </a:r>
          </a:p>
          <a:p>
            <a:endParaRPr lang="en-US" altLang="en-US" sz="1600" dirty="0">
              <a:sym typeface="Symbol" panose="05050102010706020507" pitchFamily="18" charset="2"/>
            </a:endParaRPr>
          </a:p>
          <a:p>
            <a:pPr>
              <a:buFont typeface="Monotype Sorts" charset="2"/>
              <a:buNone/>
            </a:pPr>
            <a:endParaRPr lang="en-US" altLang="en-US" sz="1600" dirty="0">
              <a:sym typeface="Symbol" panose="05050102010706020507" pitchFamily="18" charset="2"/>
            </a:endParaRPr>
          </a:p>
          <a:p>
            <a:pPr>
              <a:buFont typeface="Monotype Sorts" charset="2"/>
              <a:buNone/>
            </a:pPr>
            <a:endParaRPr lang="en-US" altLang="en-US" sz="1600" dirty="0">
              <a:sym typeface="Symbol" panose="05050102010706020507" pitchFamily="18" charset="2"/>
            </a:endParaRPr>
          </a:p>
          <a:p>
            <a:pPr>
              <a:buFont typeface="Monotype Sorts" charset="2"/>
              <a:buNone/>
            </a:pPr>
            <a:endParaRPr lang="en-US" altLang="en-US" sz="1600" dirty="0">
              <a:sym typeface="Symbol" panose="05050102010706020507" pitchFamily="18" charset="2"/>
            </a:endParaRP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2B4CEA55-B6FE-4CA5-8F34-E2CFAC349C53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40709" r="41294" b="41353"/>
          <a:stretch/>
        </p:blipFill>
        <p:spPr>
          <a:xfrm>
            <a:off x="3971064" y="4882073"/>
            <a:ext cx="1201872" cy="98335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8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2800" dirty="0"/>
              <a:t>The Assignment  Operation </a:t>
            </a:r>
          </a:p>
        </p:txBody>
      </p:sp>
      <p:sp>
        <p:nvSpPr>
          <p:cNvPr id="717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0" y="1071563"/>
            <a:ext cx="7656322" cy="4835207"/>
          </a:xfrm>
        </p:spPr>
        <p:txBody>
          <a:bodyPr/>
          <a:lstStyle/>
          <a:p>
            <a:r>
              <a:rPr lang="en-US" altLang="en-US" sz="1700" dirty="0"/>
              <a:t>It is convenient at times to write a relational-algebra expression by assigning parts of it to temporary relation variables.  </a:t>
            </a:r>
          </a:p>
          <a:p>
            <a:r>
              <a:rPr lang="en-US" altLang="en-US" sz="1700" dirty="0"/>
              <a:t>The assignment  operation is  denoted by </a:t>
            </a:r>
            <a:r>
              <a:rPr lang="en-US" altLang="en-US" sz="1700" dirty="0">
                <a:sym typeface="Symbol" panose="05050102010706020507" pitchFamily="18" charset="2"/>
              </a:rPr>
              <a:t></a:t>
            </a:r>
            <a:r>
              <a:rPr lang="en-US" altLang="en-US" sz="1700" dirty="0">
                <a:sym typeface="Wingdings" pitchFamily="2" charset="2"/>
              </a:rPr>
              <a:t> and </a:t>
            </a:r>
            <a:r>
              <a:rPr lang="en-US" altLang="en-US" sz="1700" dirty="0"/>
              <a:t>works like assignment in a programming language.</a:t>
            </a:r>
          </a:p>
          <a:p>
            <a:pPr>
              <a:lnSpc>
                <a:spcPct val="90000"/>
              </a:lnSpc>
              <a:tabLst>
                <a:tab pos="1658938" algn="l"/>
                <a:tab pos="3149600" algn="ctr"/>
                <a:tab pos="3425825" algn="l"/>
              </a:tabLst>
            </a:pPr>
            <a:r>
              <a:rPr lang="en-US" altLang="en-US" sz="1700" dirty="0"/>
              <a:t>Example: Find all </a:t>
            </a:r>
            <a:r>
              <a:rPr lang="en-US" altLang="en-US" sz="1700" dirty="0">
                <a:sym typeface="Symbol" panose="05050102010706020507" pitchFamily="18" charset="2"/>
              </a:rPr>
              <a:t>instructor in the “Physics” and Music department.</a:t>
            </a:r>
            <a:br>
              <a:rPr lang="en-US" altLang="en-US" sz="1700" dirty="0">
                <a:sym typeface="Symbol" panose="05050102010706020507" pitchFamily="18" charset="2"/>
              </a:rPr>
            </a:br>
            <a:br>
              <a:rPr lang="en-US" altLang="en-US" sz="1700" dirty="0">
                <a:sym typeface="Symbol" panose="05050102010706020507" pitchFamily="18" charset="2"/>
              </a:rPr>
            </a:br>
            <a:r>
              <a:rPr lang="en-US" altLang="en-US" sz="1700" dirty="0">
                <a:sym typeface="Symbol" panose="05050102010706020507" pitchFamily="18" charset="2"/>
              </a:rPr>
              <a:t>         </a:t>
            </a:r>
            <a:r>
              <a:rPr lang="en-US" altLang="en-US" sz="1700" i="1" dirty="0">
                <a:sym typeface="Symbol" panose="05050102010706020507" pitchFamily="18" charset="2"/>
              </a:rPr>
              <a:t>Physics</a:t>
            </a:r>
            <a:r>
              <a:rPr lang="en-US" altLang="en-US" sz="1700" dirty="0">
                <a:sym typeface="Symbol" panose="05050102010706020507" pitchFamily="18" charset="2"/>
              </a:rPr>
              <a:t> </a:t>
            </a:r>
            <a:r>
              <a:rPr lang="en-US" altLang="en-US" sz="1700" b="1" dirty="0">
                <a:sym typeface="Wingdings" pitchFamily="2" charset="2"/>
              </a:rPr>
              <a:t> </a:t>
            </a:r>
            <a:r>
              <a:rPr lang="en-US" altLang="en-US" sz="1800" i="1" dirty="0">
                <a:sym typeface="Symbol" panose="05050102010706020507" pitchFamily="18" charset="2"/>
              </a:rPr>
              <a:t></a:t>
            </a:r>
            <a:r>
              <a:rPr lang="en-US" altLang="en-US" sz="1800" dirty="0">
                <a:sym typeface="Symbol" panose="05050102010706020507" pitchFamily="18" charset="2"/>
              </a:rPr>
              <a:t> </a:t>
            </a:r>
            <a:r>
              <a:rPr lang="en-US" altLang="en-US" i="1" baseline="-25000" dirty="0">
                <a:sym typeface="Symbol" panose="05050102010706020507" pitchFamily="18" charset="2"/>
              </a:rPr>
              <a:t>dept_name=</a:t>
            </a:r>
            <a:r>
              <a:rPr lang="ja-JP" altLang="en-US" i="1" baseline="-25000" dirty="0">
                <a:sym typeface="Symbol" panose="05050102010706020507" pitchFamily="18" charset="2"/>
              </a:rPr>
              <a:t>“</a:t>
            </a:r>
            <a:r>
              <a:rPr lang="en-US" altLang="ja-JP" i="1" baseline="-25000" dirty="0">
                <a:sym typeface="Symbol" panose="05050102010706020507" pitchFamily="18" charset="2"/>
              </a:rPr>
              <a:t>Physics</a:t>
            </a:r>
            <a:r>
              <a:rPr lang="ja-JP" altLang="en-US" i="1" baseline="-25000" dirty="0">
                <a:sym typeface="Symbol" panose="05050102010706020507" pitchFamily="18" charset="2"/>
              </a:rPr>
              <a:t>” </a:t>
            </a:r>
            <a:r>
              <a:rPr lang="en-US" altLang="ja-JP" sz="1700" dirty="0">
                <a:sym typeface="Symbol" panose="05050102010706020507" pitchFamily="18" charset="2"/>
              </a:rPr>
              <a:t>(</a:t>
            </a:r>
            <a:r>
              <a:rPr lang="en-US" altLang="ja-JP" sz="1700" i="1" dirty="0">
                <a:sym typeface="Symbol" panose="05050102010706020507" pitchFamily="18" charset="2"/>
              </a:rPr>
              <a:t>instructor</a:t>
            </a:r>
            <a:r>
              <a:rPr lang="en-US" altLang="ja-JP" sz="1700" dirty="0">
                <a:sym typeface="Symbol" panose="05050102010706020507" pitchFamily="18" charset="2"/>
              </a:rPr>
              <a:t>)</a:t>
            </a:r>
          </a:p>
          <a:p>
            <a:pPr lvl="1">
              <a:lnSpc>
                <a:spcPct val="90000"/>
              </a:lnSpc>
              <a:buNone/>
              <a:tabLst>
                <a:tab pos="1658938" algn="l"/>
                <a:tab pos="3149600" algn="ctr"/>
                <a:tab pos="3425825" algn="l"/>
              </a:tabLst>
            </a:pPr>
            <a:r>
              <a:rPr lang="en-US" altLang="en-US" sz="1700" dirty="0">
                <a:sym typeface="Symbol" panose="05050102010706020507" pitchFamily="18" charset="2"/>
              </a:rPr>
              <a:t>       </a:t>
            </a:r>
            <a:r>
              <a:rPr lang="en-US" altLang="en-US" sz="1700" i="1" dirty="0">
                <a:sym typeface="Symbol" panose="05050102010706020507" pitchFamily="18" charset="2"/>
              </a:rPr>
              <a:t>Music</a:t>
            </a:r>
            <a:r>
              <a:rPr lang="en-US" altLang="en-US" sz="1700" dirty="0">
                <a:sym typeface="Symbol" panose="05050102010706020507" pitchFamily="18" charset="2"/>
              </a:rPr>
              <a:t> </a:t>
            </a:r>
            <a:r>
              <a:rPr lang="en-US" altLang="en-US" sz="1700" b="1" dirty="0">
                <a:sym typeface="Wingdings" pitchFamily="2" charset="2"/>
              </a:rPr>
              <a:t> </a:t>
            </a:r>
            <a:r>
              <a:rPr lang="en-US" altLang="en-US" sz="1900" i="1" dirty="0">
                <a:sym typeface="Symbol" panose="05050102010706020507" pitchFamily="18" charset="2"/>
              </a:rPr>
              <a:t></a:t>
            </a:r>
            <a:r>
              <a:rPr lang="en-US" altLang="en-US" sz="1900" dirty="0">
                <a:sym typeface="Symbol" panose="05050102010706020507" pitchFamily="18" charset="2"/>
              </a:rPr>
              <a:t> </a:t>
            </a:r>
            <a:r>
              <a:rPr lang="en-US" altLang="en-US" sz="1900" i="1" baseline="-25000" dirty="0">
                <a:sym typeface="Symbol" panose="05050102010706020507" pitchFamily="18" charset="2"/>
              </a:rPr>
              <a:t>dept_name=</a:t>
            </a:r>
            <a:r>
              <a:rPr lang="ja-JP" altLang="en-US" sz="1900" i="1" baseline="-25000" dirty="0">
                <a:sym typeface="Symbol" panose="05050102010706020507" pitchFamily="18" charset="2"/>
              </a:rPr>
              <a:t>“</a:t>
            </a:r>
            <a:r>
              <a:rPr lang="en-US" altLang="ja-JP" sz="1900" i="1" baseline="-25000" dirty="0">
                <a:sym typeface="Symbol" panose="05050102010706020507" pitchFamily="18" charset="2"/>
              </a:rPr>
              <a:t>Music” </a:t>
            </a:r>
            <a:r>
              <a:rPr lang="en-US" altLang="ja-JP" sz="1700" dirty="0">
                <a:sym typeface="Symbol" panose="05050102010706020507" pitchFamily="18" charset="2"/>
              </a:rPr>
              <a:t>(</a:t>
            </a:r>
            <a:r>
              <a:rPr lang="en-US" altLang="ja-JP" sz="1700" i="1" dirty="0">
                <a:sym typeface="Symbol" panose="05050102010706020507" pitchFamily="18" charset="2"/>
              </a:rPr>
              <a:t>instructor</a:t>
            </a:r>
            <a:r>
              <a:rPr lang="en-US" altLang="ja-JP" sz="1700" dirty="0">
                <a:sym typeface="Symbol" panose="05050102010706020507" pitchFamily="18" charset="2"/>
              </a:rPr>
              <a:t>)</a:t>
            </a:r>
          </a:p>
          <a:p>
            <a:pPr lvl="1">
              <a:lnSpc>
                <a:spcPct val="90000"/>
              </a:lnSpc>
              <a:buNone/>
              <a:tabLst>
                <a:tab pos="1658938" algn="l"/>
                <a:tab pos="3149600" algn="ctr"/>
                <a:tab pos="3425825" algn="l"/>
              </a:tabLst>
            </a:pPr>
            <a:r>
              <a:rPr lang="en-US" altLang="en-US" sz="1700" dirty="0">
                <a:sym typeface="Symbol" panose="05050102010706020507" pitchFamily="18" charset="2"/>
              </a:rPr>
              <a:t>       </a:t>
            </a:r>
            <a:r>
              <a:rPr lang="en-US" altLang="en-US" sz="1700" i="1" dirty="0">
                <a:sym typeface="Symbol" panose="05050102010706020507" pitchFamily="18" charset="2"/>
              </a:rPr>
              <a:t>Physics</a:t>
            </a:r>
            <a:r>
              <a:rPr lang="en-US" altLang="en-US" sz="1700" dirty="0">
                <a:sym typeface="Symbol" panose="05050102010706020507" pitchFamily="18" charset="2"/>
              </a:rPr>
              <a:t> </a:t>
            </a:r>
            <a:r>
              <a:rPr lang="en-US" altLang="en-US" sz="1700" dirty="0"/>
              <a:t> </a:t>
            </a:r>
            <a:r>
              <a:rPr lang="en-US" altLang="en-US" sz="1700" dirty="0">
                <a:sym typeface="Symbol" panose="05050102010706020507" pitchFamily="18" charset="2"/>
              </a:rPr>
              <a:t> </a:t>
            </a:r>
            <a:r>
              <a:rPr lang="en-US" altLang="en-US" sz="1700" i="1" dirty="0">
                <a:sym typeface="Symbol" panose="05050102010706020507" pitchFamily="18" charset="2"/>
              </a:rPr>
              <a:t>Music</a:t>
            </a:r>
          </a:p>
          <a:p>
            <a:pPr lvl="1">
              <a:lnSpc>
                <a:spcPct val="90000"/>
              </a:lnSpc>
              <a:buNone/>
              <a:tabLst>
                <a:tab pos="1658938" algn="l"/>
                <a:tab pos="3149600" algn="ctr"/>
                <a:tab pos="3425825" algn="l"/>
              </a:tabLst>
            </a:pPr>
            <a:r>
              <a:rPr lang="en-US" altLang="en-US" sz="800" dirty="0">
                <a:sym typeface="Symbol" panose="05050102010706020507" pitchFamily="18" charset="2"/>
              </a:rPr>
              <a:t> </a:t>
            </a:r>
          </a:p>
          <a:p>
            <a:pPr>
              <a:tabLst>
                <a:tab pos="1658938" algn="l"/>
                <a:tab pos="3149600" algn="ctr"/>
                <a:tab pos="3425825" algn="l"/>
              </a:tabLst>
            </a:pPr>
            <a:r>
              <a:rPr lang="en-US" altLang="en-US" sz="1700" dirty="0">
                <a:sym typeface="Symbol" panose="05050102010706020507" pitchFamily="18" charset="2"/>
              </a:rPr>
              <a:t>With the assignment operation, a query can be written as a sequential program consisting of a series of assignments followed by an expression whose value is displayed as the result of the query. </a:t>
            </a:r>
          </a:p>
          <a:p>
            <a:pPr lvl="1">
              <a:lnSpc>
                <a:spcPct val="90000"/>
              </a:lnSpc>
              <a:buNone/>
              <a:tabLst>
                <a:tab pos="1658938" algn="l"/>
                <a:tab pos="3149600" algn="ctr"/>
                <a:tab pos="3425825" algn="l"/>
              </a:tabLst>
            </a:pPr>
            <a:endParaRPr lang="en-US" altLang="en-US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8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2800" dirty="0"/>
              <a:t>The Rename Operation </a:t>
            </a:r>
          </a:p>
        </p:txBody>
      </p:sp>
      <p:sp>
        <p:nvSpPr>
          <p:cNvPr id="717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0" y="1077913"/>
            <a:ext cx="7683191" cy="3201479"/>
          </a:xfrm>
        </p:spPr>
        <p:txBody>
          <a:bodyPr/>
          <a:lstStyle/>
          <a:p>
            <a:r>
              <a:rPr lang="en-US" altLang="en-US" sz="1700" dirty="0"/>
              <a:t>The results of relational-algebra expressions do not have a name that we can use to refer to them.  The  rename operator,  </a:t>
            </a:r>
            <a:r>
              <a:rPr lang="en-US" altLang="en-US" sz="1700" i="1" dirty="0">
                <a:sym typeface="Symbol" panose="05050102010706020507" pitchFamily="18" charset="2"/>
              </a:rPr>
              <a:t> ,</a:t>
            </a:r>
            <a:r>
              <a:rPr lang="en-US" altLang="en-US" sz="1700" dirty="0">
                <a:sym typeface="Symbol" panose="05050102010706020507" pitchFamily="18" charset="2"/>
              </a:rPr>
              <a:t>  is provided </a:t>
            </a:r>
            <a:r>
              <a:rPr lang="en-US" altLang="en-US" sz="1700" i="1" dirty="0">
                <a:sym typeface="Symbol" panose="05050102010706020507" pitchFamily="18" charset="2"/>
              </a:rPr>
              <a:t> </a:t>
            </a:r>
            <a:r>
              <a:rPr lang="en-US" altLang="en-US" sz="1700" dirty="0">
                <a:sym typeface="Symbol" panose="05050102010706020507" pitchFamily="18" charset="2"/>
              </a:rPr>
              <a:t>for that purpose</a:t>
            </a:r>
          </a:p>
          <a:p>
            <a:r>
              <a:rPr lang="en-US" altLang="en-US" sz="1700" dirty="0"/>
              <a:t>The expression:</a:t>
            </a:r>
          </a:p>
          <a:p>
            <a:pPr>
              <a:buNone/>
            </a:pPr>
            <a:r>
              <a:rPr lang="en-US" altLang="en-US" sz="1700" dirty="0"/>
              <a:t>                  </a:t>
            </a:r>
            <a:r>
              <a:rPr lang="en-US" altLang="en-US" i="1" dirty="0">
                <a:sym typeface="Symbol" panose="05050102010706020507" pitchFamily="18" charset="2"/>
              </a:rPr>
              <a:t></a:t>
            </a:r>
            <a:r>
              <a:rPr lang="en-US" altLang="en-US" i="1" baseline="-25000" dirty="0">
                <a:sym typeface="Symbol" panose="05050102010706020507" pitchFamily="18" charset="2"/>
              </a:rPr>
              <a:t>x</a:t>
            </a:r>
            <a:r>
              <a:rPr lang="en-US" altLang="en-US" i="1" dirty="0">
                <a:sym typeface="Symbol" panose="05050102010706020507" pitchFamily="18" charset="2"/>
              </a:rPr>
              <a:t> </a:t>
            </a:r>
            <a:r>
              <a:rPr lang="en-US" altLang="en-US" sz="1700" dirty="0">
                <a:sym typeface="Symbol" panose="05050102010706020507" pitchFamily="18" charset="2"/>
              </a:rPr>
              <a:t>(</a:t>
            </a:r>
            <a:r>
              <a:rPr lang="en-US" altLang="en-US" sz="1700" i="1" dirty="0">
                <a:sym typeface="Symbol" panose="05050102010706020507" pitchFamily="18" charset="2"/>
              </a:rPr>
              <a:t>E</a:t>
            </a:r>
            <a:r>
              <a:rPr lang="en-US" altLang="en-US" sz="1700" dirty="0">
                <a:sym typeface="Symbol" panose="05050102010706020507" pitchFamily="18" charset="2"/>
              </a:rPr>
              <a:t>)</a:t>
            </a:r>
          </a:p>
          <a:p>
            <a:pPr>
              <a:buNone/>
            </a:pPr>
            <a:r>
              <a:rPr lang="en-US" altLang="en-US" sz="1700" dirty="0">
                <a:sym typeface="Symbol" panose="05050102010706020507" pitchFamily="18" charset="2"/>
              </a:rPr>
              <a:t>      returns the result of expression </a:t>
            </a:r>
            <a:r>
              <a:rPr lang="en-US" altLang="en-US" sz="1700" i="1" dirty="0">
                <a:sym typeface="Symbol" panose="05050102010706020507" pitchFamily="18" charset="2"/>
              </a:rPr>
              <a:t>E</a:t>
            </a:r>
            <a:r>
              <a:rPr lang="en-US" altLang="en-US" sz="1700" dirty="0">
                <a:sym typeface="Symbol" panose="05050102010706020507" pitchFamily="18" charset="2"/>
              </a:rPr>
              <a:t> under the name </a:t>
            </a:r>
            <a:r>
              <a:rPr lang="en-US" altLang="en-US" sz="1700" i="1" dirty="0">
                <a:sym typeface="Symbol" panose="05050102010706020507" pitchFamily="18" charset="2"/>
              </a:rPr>
              <a:t>x</a:t>
            </a:r>
            <a:endParaRPr lang="en-US" altLang="en-US" sz="1700" i="1" dirty="0"/>
          </a:p>
          <a:p>
            <a:r>
              <a:rPr lang="en-US" altLang="en-US" sz="1700" dirty="0"/>
              <a:t>Another form of the rename operation:</a:t>
            </a:r>
          </a:p>
          <a:p>
            <a:pPr>
              <a:buNone/>
            </a:pPr>
            <a:r>
              <a:rPr lang="en-US" altLang="en-US" sz="1700" dirty="0"/>
              <a:t>                 </a:t>
            </a:r>
            <a:r>
              <a:rPr lang="en-US" altLang="en-US" i="1" dirty="0">
                <a:sym typeface="Symbol" panose="05050102010706020507" pitchFamily="18" charset="2"/>
              </a:rPr>
              <a:t></a:t>
            </a:r>
            <a:r>
              <a:rPr lang="en-US" altLang="en-US" i="1" baseline="-25000" dirty="0">
                <a:sym typeface="Symbol" panose="05050102010706020507" pitchFamily="18" charset="2"/>
              </a:rPr>
              <a:t>x(A1,A2, .. An) </a:t>
            </a:r>
            <a:r>
              <a:rPr lang="en-US" altLang="en-US" sz="1700" dirty="0">
                <a:sym typeface="Symbol" panose="05050102010706020507" pitchFamily="18" charset="2"/>
              </a:rPr>
              <a:t>(</a:t>
            </a:r>
            <a:r>
              <a:rPr lang="en-US" altLang="en-US" sz="1700" i="1" dirty="0">
                <a:sym typeface="Symbol" panose="05050102010706020507" pitchFamily="18" charset="2"/>
              </a:rPr>
              <a:t>E</a:t>
            </a:r>
            <a:r>
              <a:rPr lang="en-US" altLang="en-US" sz="1700" dirty="0">
                <a:sym typeface="Symbol" panose="05050102010706020507" pitchFamily="18" charset="2"/>
              </a:rPr>
              <a:t>)</a:t>
            </a:r>
            <a:endParaRPr lang="en-US" altLang="en-US" sz="1700" dirty="0"/>
          </a:p>
          <a:p>
            <a:endParaRPr lang="en-US" altLang="en-US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9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2800" dirty="0"/>
              <a:t>Aggregate Functions</a:t>
            </a:r>
          </a:p>
        </p:txBody>
      </p:sp>
      <p:sp>
        <p:nvSpPr>
          <p:cNvPr id="3584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0" y="1093788"/>
            <a:ext cx="7253986" cy="3795204"/>
          </a:xfrm>
        </p:spPr>
        <p:txBody>
          <a:bodyPr/>
          <a:lstStyle/>
          <a:p>
            <a:pPr>
              <a:tabLst>
                <a:tab pos="2222500" algn="l"/>
              </a:tabLst>
            </a:pPr>
            <a:r>
              <a:rPr lang="en-US" altLang="en-US" sz="1700" dirty="0"/>
              <a:t>These functions operate on the multiset (set with duplicates) of values of a column of a relation, and return a value</a:t>
            </a:r>
          </a:p>
          <a:p>
            <a:pPr>
              <a:buFont typeface="Monotype Sorts" charset="2"/>
              <a:buNone/>
              <a:tabLst>
                <a:tab pos="2222500" algn="l"/>
              </a:tabLst>
            </a:pPr>
            <a:r>
              <a:rPr lang="en-US" altLang="en-US" sz="1700" dirty="0"/>
              <a:t>		</a:t>
            </a:r>
            <a:r>
              <a:rPr lang="en-US" altLang="en-US" sz="1700" b="1" dirty="0" err="1"/>
              <a:t>avg</a:t>
            </a:r>
            <a:r>
              <a:rPr lang="en-US" altLang="en-US" sz="1700" b="1" dirty="0"/>
              <a:t>: </a:t>
            </a:r>
            <a:r>
              <a:rPr lang="en-US" altLang="en-US" sz="1700" dirty="0"/>
              <a:t>average value</a:t>
            </a:r>
            <a:br>
              <a:rPr lang="en-US" altLang="en-US" sz="1700" dirty="0"/>
            </a:br>
            <a:r>
              <a:rPr lang="en-US" altLang="en-US" sz="1700" dirty="0"/>
              <a:t>	</a:t>
            </a:r>
            <a:r>
              <a:rPr lang="en-US" altLang="en-US" sz="1700" b="1" dirty="0"/>
              <a:t>min:  </a:t>
            </a:r>
            <a:r>
              <a:rPr lang="en-US" altLang="en-US" sz="1700" dirty="0"/>
              <a:t>minimum value</a:t>
            </a:r>
            <a:br>
              <a:rPr lang="en-US" altLang="en-US" sz="1700" dirty="0"/>
            </a:br>
            <a:r>
              <a:rPr lang="en-US" altLang="en-US" sz="1700" dirty="0"/>
              <a:t>	</a:t>
            </a:r>
            <a:r>
              <a:rPr lang="en-US" altLang="en-US" sz="1700" b="1" dirty="0"/>
              <a:t>max:  </a:t>
            </a:r>
            <a:r>
              <a:rPr lang="en-US" altLang="en-US" sz="1700" dirty="0"/>
              <a:t>maximum value</a:t>
            </a:r>
            <a:br>
              <a:rPr lang="en-US" altLang="en-US" sz="1700" dirty="0"/>
            </a:br>
            <a:r>
              <a:rPr lang="en-US" altLang="en-US" sz="1700" dirty="0"/>
              <a:t>	</a:t>
            </a:r>
            <a:r>
              <a:rPr lang="en-US" altLang="en-US" sz="1700" b="1" dirty="0"/>
              <a:t>sum:  </a:t>
            </a:r>
            <a:r>
              <a:rPr lang="en-US" altLang="en-US" sz="1700" dirty="0"/>
              <a:t>sum of values</a:t>
            </a:r>
            <a:br>
              <a:rPr lang="en-US" altLang="en-US" sz="1700" dirty="0"/>
            </a:br>
            <a:r>
              <a:rPr lang="en-US" altLang="en-US" sz="1700" dirty="0"/>
              <a:t>	</a:t>
            </a:r>
            <a:r>
              <a:rPr lang="en-US" altLang="en-US" sz="1700" b="1" dirty="0"/>
              <a:t>count:  </a:t>
            </a:r>
            <a:r>
              <a:rPr lang="en-US" altLang="en-US" sz="1700" dirty="0"/>
              <a:t>number of values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0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2800" dirty="0"/>
              <a:t>Aggregate Functions Examples</a:t>
            </a:r>
          </a:p>
        </p:txBody>
      </p:sp>
      <p:sp>
        <p:nvSpPr>
          <p:cNvPr id="3686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0" y="1108075"/>
            <a:ext cx="7681913" cy="4805045"/>
          </a:xfrm>
        </p:spPr>
        <p:txBody>
          <a:bodyPr/>
          <a:lstStyle/>
          <a:p>
            <a:pPr>
              <a:tabLst>
                <a:tab pos="1711325" algn="l"/>
              </a:tabLst>
            </a:pPr>
            <a:r>
              <a:rPr lang="en-US" altLang="en-US" sz="1700" dirty="0"/>
              <a:t>Find the average salary of instructors</a:t>
            </a:r>
          </a:p>
          <a:p>
            <a:pPr lvl="1">
              <a:tabLst>
                <a:tab pos="1711325" algn="l"/>
              </a:tabLst>
            </a:pPr>
            <a:r>
              <a:rPr lang="el-GR" altLang="en-US" sz="2000" i="1" dirty="0"/>
              <a:t>γ</a:t>
            </a:r>
            <a:r>
              <a:rPr lang="en-IN" altLang="en-US" sz="2000" i="1" baseline="-25000" dirty="0" err="1"/>
              <a:t>avg</a:t>
            </a:r>
            <a:r>
              <a:rPr lang="en-IN" altLang="en-US" sz="2000" i="1" baseline="-25000" dirty="0"/>
              <a:t>(salary)</a:t>
            </a:r>
            <a:r>
              <a:rPr lang="en-IN" altLang="en-US" sz="2000" i="1" dirty="0"/>
              <a:t>(</a:t>
            </a:r>
            <a:r>
              <a:rPr lang="en-US" altLang="en-US" sz="2000" i="1" dirty="0"/>
              <a:t>instructor)</a:t>
            </a:r>
            <a:br>
              <a:rPr lang="en-US" altLang="en-US" sz="2400" i="1" dirty="0"/>
            </a:br>
            <a:endParaRPr lang="en-US" altLang="en-US" sz="1700" dirty="0"/>
          </a:p>
          <a:p>
            <a:pPr>
              <a:tabLst>
                <a:tab pos="1711325" algn="l"/>
              </a:tabLst>
            </a:pPr>
            <a:r>
              <a:rPr kumimoji="0" lang="en-US" altLang="en-US" sz="1700" dirty="0"/>
              <a:t>Find the total number of courses in 2018</a:t>
            </a:r>
          </a:p>
          <a:p>
            <a:pPr lvl="1">
              <a:tabLst>
                <a:tab pos="1711325" algn="l"/>
              </a:tabLst>
            </a:pPr>
            <a:r>
              <a:rPr lang="el-GR" altLang="en-US" sz="2000" i="1" dirty="0"/>
              <a:t>γ</a:t>
            </a:r>
            <a:r>
              <a:rPr lang="en-IN" altLang="en-US" sz="2000" i="1" baseline="-25000" dirty="0"/>
              <a:t>count(</a:t>
            </a:r>
            <a:r>
              <a:rPr lang="en-IN" altLang="en-US" sz="2000" i="1" baseline="-25000" dirty="0" err="1"/>
              <a:t>course_id</a:t>
            </a:r>
            <a:r>
              <a:rPr lang="en-IN" altLang="en-US" sz="2000" i="1" baseline="-25000" dirty="0"/>
              <a:t>)</a:t>
            </a:r>
            <a:r>
              <a:rPr lang="en-IN" altLang="en-US" sz="2000" i="1" dirty="0"/>
              <a:t>(</a:t>
            </a:r>
            <a:r>
              <a:rPr lang="en-US" altLang="en-US" sz="2400" i="1" dirty="0">
                <a:sym typeface="Symbol" panose="05050102010706020507" pitchFamily="18" charset="2"/>
              </a:rPr>
              <a:t></a:t>
            </a:r>
            <a:r>
              <a:rPr lang="en-US" altLang="en-US" sz="2400" dirty="0">
                <a:sym typeface="Symbol" panose="05050102010706020507" pitchFamily="18" charset="2"/>
              </a:rPr>
              <a:t> </a:t>
            </a:r>
            <a:r>
              <a:rPr lang="en-US" altLang="en-US" sz="2000" i="1" baseline="-25000" dirty="0">
                <a:sym typeface="Symbol" panose="05050102010706020507" pitchFamily="18" charset="2"/>
              </a:rPr>
              <a:t>year =</a:t>
            </a:r>
            <a:r>
              <a:rPr lang="en-IN" altLang="ja-JP" sz="2000" i="1" baseline="-25000" dirty="0">
                <a:sym typeface="Symbol" panose="05050102010706020507" pitchFamily="18" charset="2"/>
              </a:rPr>
              <a:t>2018 </a:t>
            </a:r>
            <a:r>
              <a:rPr lang="en-US" altLang="en-US" sz="2000" i="1" dirty="0"/>
              <a:t>(section))</a:t>
            </a:r>
            <a:endParaRPr kumimoji="0" lang="en-US" altLang="en-US" sz="1600" dirty="0"/>
          </a:p>
          <a:p>
            <a:pPr>
              <a:tabLst>
                <a:tab pos="1711325" algn="l"/>
              </a:tabLst>
            </a:pPr>
            <a:endParaRPr lang="en-US" altLang="en-US" dirty="0"/>
          </a:p>
        </p:txBody>
      </p:sp>
      <p:sp>
        <p:nvSpPr>
          <p:cNvPr id="36867" name="Text Box 4"/>
          <p:cNvSpPr txBox="1">
            <a:spLocks noChangeArrowheads="1"/>
          </p:cNvSpPr>
          <p:nvPr/>
        </p:nvSpPr>
        <p:spPr bwMode="auto">
          <a:xfrm>
            <a:off x="758825" y="2813050"/>
            <a:ext cx="7681913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r>
              <a:rPr kumimoji="1" lang="en-US" altLang="en-US" sz="1800"/>
              <a:t>   </a:t>
            </a:r>
            <a:endParaRPr lang="en-US" altLang="en-US" sz="160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0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2800" dirty="0"/>
              <a:t>Aggregate Functions – Group By</a:t>
            </a:r>
          </a:p>
        </p:txBody>
      </p:sp>
      <p:sp>
        <p:nvSpPr>
          <p:cNvPr id="3789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1" y="1023939"/>
            <a:ext cx="7900162" cy="1292542"/>
          </a:xfrm>
        </p:spPr>
        <p:txBody>
          <a:bodyPr/>
          <a:lstStyle/>
          <a:p>
            <a:pPr>
              <a:tabLst>
                <a:tab pos="625475" algn="l"/>
              </a:tabLst>
            </a:pPr>
            <a:r>
              <a:rPr lang="en-US" altLang="en-US" sz="1700" dirty="0"/>
              <a:t>Find the average salary of instructors in each department</a:t>
            </a:r>
          </a:p>
          <a:p>
            <a:pPr lvl="1">
              <a:tabLst>
                <a:tab pos="1711325" algn="l"/>
              </a:tabLst>
            </a:pPr>
            <a:r>
              <a:rPr lang="en-IN" altLang="en-US" sz="2000" i="1" baseline="-25000" dirty="0" err="1"/>
              <a:t>dept_name</a:t>
            </a:r>
            <a:r>
              <a:rPr lang="el-GR" altLang="en-US" sz="2000" i="1" dirty="0"/>
              <a:t>γ</a:t>
            </a:r>
            <a:r>
              <a:rPr lang="en-IN" altLang="en-US" sz="2000" i="1" baseline="-25000" dirty="0" err="1"/>
              <a:t>avg</a:t>
            </a:r>
            <a:r>
              <a:rPr lang="en-IN" altLang="en-US" sz="2000" i="1" baseline="-25000" dirty="0"/>
              <a:t>(salary)</a:t>
            </a:r>
            <a:r>
              <a:rPr lang="en-IN" altLang="en-US" sz="2000" i="1" dirty="0"/>
              <a:t>(</a:t>
            </a:r>
            <a:r>
              <a:rPr lang="en-IN" altLang="en-US" sz="2000" i="1" dirty="0">
                <a:sym typeface="Symbol" panose="05050102010706020507" pitchFamily="18" charset="2"/>
              </a:rPr>
              <a:t>instructor</a:t>
            </a:r>
            <a:r>
              <a:rPr lang="en-US" altLang="en-US" sz="2000" i="1" dirty="0"/>
              <a:t>)</a:t>
            </a:r>
            <a:endParaRPr kumimoji="0" lang="en-US" altLang="en-US" sz="2000" dirty="0"/>
          </a:p>
          <a:p>
            <a:pPr lvl="1">
              <a:buNone/>
              <a:tabLst>
                <a:tab pos="625475" algn="l"/>
              </a:tabLst>
            </a:pPr>
            <a:endParaRPr lang="en-US" altLang="en-US" sz="1700" dirty="0"/>
          </a:p>
          <a:p>
            <a:pPr lvl="1">
              <a:tabLst>
                <a:tab pos="625475" algn="l"/>
              </a:tabLst>
            </a:pPr>
            <a:endParaRPr lang="en-US" altLang="en-US" dirty="0"/>
          </a:p>
          <a:p>
            <a:pPr lvl="1">
              <a:tabLst>
                <a:tab pos="625475" algn="l"/>
              </a:tabLst>
            </a:pPr>
            <a:endParaRPr lang="en-US" altLang="en-US" dirty="0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A696F0C8-535A-4899-86A4-1FC72B33C244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19771" t="2012" r="19587" b="13353"/>
          <a:stretch/>
        </p:blipFill>
        <p:spPr>
          <a:xfrm>
            <a:off x="641556" y="2528706"/>
            <a:ext cx="3930444" cy="3415539"/>
          </a:xfrm>
          <a:prstGeom prst="rect">
            <a:avLst/>
          </a:prstGeom>
        </p:spPr>
      </p:pic>
      <p:pic>
        <p:nvPicPr>
          <p:cNvPr id="5" name="Graphic 4">
            <a:extLst>
              <a:ext uri="{FF2B5EF4-FFF2-40B4-BE49-F238E27FC236}">
                <a16:creationId xmlns:a16="http://schemas.microsoft.com/office/drawing/2014/main" id="{C1B06BB8-D7A3-4C3D-838A-568EB83A706D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 l="31384" t="3188" r="31718" b="23128"/>
          <a:stretch/>
        </p:blipFill>
        <p:spPr>
          <a:xfrm>
            <a:off x="5346097" y="2528706"/>
            <a:ext cx="2426304" cy="2231491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8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2800" dirty="0"/>
              <a:t>Equivalent Queries</a:t>
            </a:r>
          </a:p>
        </p:txBody>
      </p:sp>
      <p:sp>
        <p:nvSpPr>
          <p:cNvPr id="717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0" y="1096740"/>
            <a:ext cx="7683192" cy="4664519"/>
          </a:xfrm>
        </p:spPr>
        <p:txBody>
          <a:bodyPr/>
          <a:lstStyle/>
          <a:p>
            <a:r>
              <a:rPr lang="en-US" altLang="en-US" sz="1700" dirty="0"/>
              <a:t>There is more than one way to write a query in relational algebra. </a:t>
            </a:r>
          </a:p>
          <a:p>
            <a:r>
              <a:rPr lang="en-US" altLang="en-US" sz="1700" dirty="0"/>
              <a:t>Example:  Find information about courses taught by instructors in the Physics department with salary greater than 90,000</a:t>
            </a:r>
          </a:p>
          <a:p>
            <a:r>
              <a:rPr lang="en-US" altLang="en-US" sz="1700" dirty="0"/>
              <a:t>Query 1</a:t>
            </a:r>
          </a:p>
          <a:p>
            <a:pPr>
              <a:buNone/>
            </a:pPr>
            <a:r>
              <a:rPr lang="en-US" altLang="en-US" sz="1700" i="1" dirty="0">
                <a:sym typeface="Symbol" panose="05050102010706020507" pitchFamily="18" charset="2"/>
              </a:rPr>
              <a:t>           </a:t>
            </a:r>
            <a:r>
              <a:rPr lang="en-US" altLang="en-US" i="1" dirty="0">
                <a:sym typeface="Symbol" panose="05050102010706020507" pitchFamily="18" charset="2"/>
              </a:rPr>
              <a:t></a:t>
            </a:r>
            <a:r>
              <a:rPr lang="en-US" altLang="en-US" dirty="0">
                <a:sym typeface="Symbol" panose="05050102010706020507" pitchFamily="18" charset="2"/>
              </a:rPr>
              <a:t> </a:t>
            </a:r>
            <a:r>
              <a:rPr lang="en-US" altLang="en-US" i="1" baseline="-25000" dirty="0">
                <a:sym typeface="Symbol" panose="05050102010706020507" pitchFamily="18" charset="2"/>
              </a:rPr>
              <a:t>dept_name=</a:t>
            </a:r>
            <a:r>
              <a:rPr lang="ja-JP" altLang="en-US" i="1" baseline="-25000" dirty="0">
                <a:sym typeface="Symbol" panose="05050102010706020507" pitchFamily="18" charset="2"/>
              </a:rPr>
              <a:t>“</a:t>
            </a:r>
            <a:r>
              <a:rPr lang="en-US" altLang="ja-JP" i="1" baseline="-25000" dirty="0">
                <a:sym typeface="Symbol" panose="05050102010706020507" pitchFamily="18" charset="2"/>
              </a:rPr>
              <a:t>Physics</a:t>
            </a:r>
            <a:r>
              <a:rPr lang="ja-JP" altLang="en-US" i="1" baseline="-25000" dirty="0">
                <a:sym typeface="Symbol" panose="05050102010706020507" pitchFamily="18" charset="2"/>
              </a:rPr>
              <a:t>” </a:t>
            </a:r>
            <a:r>
              <a:rPr lang="en-US" altLang="en-US" dirty="0">
                <a:sym typeface="Symbol" panose="05050102010706020507" pitchFamily="18" charset="2"/>
              </a:rPr>
              <a:t></a:t>
            </a:r>
            <a:r>
              <a:rPr lang="ja-JP" altLang="en-US" i="1" baseline="-25000" dirty="0">
                <a:sym typeface="Symbol" panose="05050102010706020507" pitchFamily="18" charset="2"/>
              </a:rPr>
              <a:t> </a:t>
            </a:r>
            <a:r>
              <a:rPr lang="en-US" altLang="ja-JP" i="1" baseline="-25000" dirty="0">
                <a:sym typeface="Symbol" panose="05050102010706020507" pitchFamily="18" charset="2"/>
              </a:rPr>
              <a:t>salary &gt; </a:t>
            </a:r>
            <a:r>
              <a:rPr lang="en-US" altLang="ja-JP" baseline="-25000" dirty="0">
                <a:sym typeface="Symbol" panose="05050102010706020507" pitchFamily="18" charset="2"/>
              </a:rPr>
              <a:t>90,000</a:t>
            </a:r>
            <a:r>
              <a:rPr lang="en-US" altLang="ja-JP" dirty="0">
                <a:sym typeface="Symbol" panose="05050102010706020507" pitchFamily="18" charset="2"/>
              </a:rPr>
              <a:t> </a:t>
            </a:r>
            <a:r>
              <a:rPr lang="en-US" altLang="ja-JP" sz="1700" dirty="0">
                <a:sym typeface="Symbol" panose="05050102010706020507" pitchFamily="18" charset="2"/>
              </a:rPr>
              <a:t>(</a:t>
            </a:r>
            <a:r>
              <a:rPr lang="en-US" altLang="ja-JP" sz="1700" i="1" dirty="0">
                <a:sym typeface="Symbol" panose="05050102010706020507" pitchFamily="18" charset="2"/>
              </a:rPr>
              <a:t>instructor</a:t>
            </a:r>
            <a:r>
              <a:rPr lang="en-US" altLang="ja-JP" sz="1700" dirty="0">
                <a:sym typeface="Symbol" panose="05050102010706020507" pitchFamily="18" charset="2"/>
              </a:rPr>
              <a:t>)</a:t>
            </a:r>
          </a:p>
          <a:p>
            <a:pPr>
              <a:buNone/>
            </a:pPr>
            <a:r>
              <a:rPr lang="en-US" altLang="ja-JP" sz="800" dirty="0">
                <a:sym typeface="Symbol" panose="05050102010706020507" pitchFamily="18" charset="2"/>
              </a:rPr>
              <a:t> </a:t>
            </a:r>
          </a:p>
          <a:p>
            <a:r>
              <a:rPr lang="en-US" altLang="en-US" sz="1700" dirty="0">
                <a:sym typeface="Symbol" panose="05050102010706020507" pitchFamily="18" charset="2"/>
              </a:rPr>
              <a:t>Query 2</a:t>
            </a:r>
            <a:endParaRPr lang="en-US" altLang="en-US" sz="1700" dirty="0"/>
          </a:p>
          <a:p>
            <a:pPr>
              <a:buNone/>
            </a:pPr>
            <a:r>
              <a:rPr lang="en-US" altLang="en-US" sz="1700" i="1" dirty="0">
                <a:sym typeface="Symbol" panose="05050102010706020507" pitchFamily="18" charset="2"/>
              </a:rPr>
              <a:t>          </a:t>
            </a:r>
            <a:r>
              <a:rPr lang="en-US" altLang="en-US" i="1" dirty="0">
                <a:sym typeface="Symbol" panose="05050102010706020507" pitchFamily="18" charset="2"/>
              </a:rPr>
              <a:t></a:t>
            </a:r>
            <a:r>
              <a:rPr lang="en-US" altLang="en-US" dirty="0">
                <a:sym typeface="Symbol" panose="05050102010706020507" pitchFamily="18" charset="2"/>
              </a:rPr>
              <a:t> </a:t>
            </a:r>
            <a:r>
              <a:rPr lang="en-US" altLang="en-US" i="1" baseline="-25000" dirty="0">
                <a:sym typeface="Symbol" panose="05050102010706020507" pitchFamily="18" charset="2"/>
              </a:rPr>
              <a:t>dept_name=</a:t>
            </a:r>
            <a:r>
              <a:rPr lang="ja-JP" altLang="en-US" i="1" baseline="-25000" dirty="0">
                <a:sym typeface="Symbol" panose="05050102010706020507" pitchFamily="18" charset="2"/>
              </a:rPr>
              <a:t>“</a:t>
            </a:r>
            <a:r>
              <a:rPr lang="en-US" altLang="ja-JP" i="1" baseline="-25000" dirty="0">
                <a:sym typeface="Symbol" panose="05050102010706020507" pitchFamily="18" charset="2"/>
              </a:rPr>
              <a:t>Physics</a:t>
            </a:r>
            <a:r>
              <a:rPr lang="ja-JP" altLang="en-US" i="1" baseline="-25000" dirty="0">
                <a:sym typeface="Symbol" panose="05050102010706020507" pitchFamily="18" charset="2"/>
              </a:rPr>
              <a:t>” </a:t>
            </a:r>
            <a:r>
              <a:rPr lang="en-US" altLang="ja-JP" dirty="0">
                <a:sym typeface="Symbol" panose="05050102010706020507" pitchFamily="18" charset="2"/>
              </a:rPr>
              <a:t>(</a:t>
            </a:r>
            <a:r>
              <a:rPr lang="en-US" altLang="en-US" i="1" dirty="0">
                <a:sym typeface="Symbol" panose="05050102010706020507" pitchFamily="18" charset="2"/>
              </a:rPr>
              <a:t></a:t>
            </a:r>
            <a:r>
              <a:rPr lang="en-US" altLang="en-US" dirty="0">
                <a:sym typeface="Symbol" panose="05050102010706020507" pitchFamily="18" charset="2"/>
              </a:rPr>
              <a:t> </a:t>
            </a:r>
            <a:r>
              <a:rPr lang="en-US" altLang="en-US" i="1" baseline="-25000" dirty="0">
                <a:sym typeface="Symbol" panose="05050102010706020507" pitchFamily="18" charset="2"/>
              </a:rPr>
              <a:t>s</a:t>
            </a:r>
            <a:r>
              <a:rPr lang="en-US" altLang="ja-JP" i="1" baseline="-25000" dirty="0">
                <a:sym typeface="Symbol" panose="05050102010706020507" pitchFamily="18" charset="2"/>
              </a:rPr>
              <a:t>alary &gt; 90.000</a:t>
            </a:r>
            <a:r>
              <a:rPr lang="en-US" altLang="ja-JP" i="1" dirty="0">
                <a:sym typeface="Symbol" panose="05050102010706020507" pitchFamily="18" charset="2"/>
              </a:rPr>
              <a:t> </a:t>
            </a:r>
            <a:r>
              <a:rPr lang="en-US" altLang="ja-JP" sz="1700" dirty="0">
                <a:sym typeface="Symbol" panose="05050102010706020507" pitchFamily="18" charset="2"/>
              </a:rPr>
              <a:t>(</a:t>
            </a:r>
            <a:r>
              <a:rPr lang="en-US" altLang="ja-JP" sz="1700" i="1" dirty="0">
                <a:sym typeface="Symbol" panose="05050102010706020507" pitchFamily="18" charset="2"/>
              </a:rPr>
              <a:t>instructor</a:t>
            </a:r>
            <a:r>
              <a:rPr lang="en-US" altLang="ja-JP" sz="1700" dirty="0">
                <a:sym typeface="Symbol" panose="05050102010706020507" pitchFamily="18" charset="2"/>
              </a:rPr>
              <a:t>))</a:t>
            </a:r>
          </a:p>
          <a:p>
            <a:pPr>
              <a:buNone/>
            </a:pPr>
            <a:r>
              <a:rPr lang="en-US" altLang="ja-JP" sz="800" dirty="0">
                <a:sym typeface="Symbol" panose="05050102010706020507" pitchFamily="18" charset="2"/>
              </a:rPr>
              <a:t> </a:t>
            </a:r>
          </a:p>
          <a:p>
            <a:pPr>
              <a:lnSpc>
                <a:spcPct val="90000"/>
              </a:lnSpc>
              <a:tabLst>
                <a:tab pos="1658938" algn="l"/>
                <a:tab pos="3149600" algn="ctr"/>
                <a:tab pos="3425825" algn="l"/>
              </a:tabLst>
            </a:pPr>
            <a:r>
              <a:rPr lang="en-US" altLang="en-US" sz="1700" dirty="0">
                <a:sym typeface="Symbol" panose="05050102010706020507" pitchFamily="18" charset="2"/>
              </a:rPr>
              <a:t>The two queries are not identical; they are, however, equivalent -- they give the same result on any database.</a:t>
            </a:r>
          </a:p>
          <a:p>
            <a:pPr>
              <a:lnSpc>
                <a:spcPct val="90000"/>
              </a:lnSpc>
              <a:tabLst>
                <a:tab pos="1658938" algn="l"/>
                <a:tab pos="3149600" algn="ctr"/>
                <a:tab pos="3425825" algn="l"/>
              </a:tabLst>
            </a:pPr>
            <a:endParaRPr lang="en-US" altLang="en-US" dirty="0">
              <a:sym typeface="Symbol" panose="05050102010706020507" pitchFamily="18" charset="2"/>
            </a:endParaRPr>
          </a:p>
          <a:p>
            <a:pPr>
              <a:lnSpc>
                <a:spcPct val="90000"/>
              </a:lnSpc>
              <a:tabLst>
                <a:tab pos="1658938" algn="l"/>
                <a:tab pos="3149600" algn="ctr"/>
                <a:tab pos="3425825" algn="l"/>
              </a:tabLst>
            </a:pPr>
            <a:endParaRPr lang="en-US" altLang="en-US" dirty="0">
              <a:sym typeface="Symbol" panose="05050102010706020507" pitchFamily="18" charset="2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8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2800" dirty="0"/>
              <a:t>Equivalent Queries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170" name="Rectangle 3"/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768349" y="1138873"/>
                <a:ext cx="7638803" cy="4506023"/>
              </a:xfrm>
            </p:spPr>
            <p:txBody>
              <a:bodyPr/>
              <a:lstStyle/>
              <a:p>
                <a:r>
                  <a:rPr lang="en-US" altLang="en-US" sz="1700" dirty="0"/>
                  <a:t>There is more than one way to write a query in relational algebra. </a:t>
                </a:r>
              </a:p>
              <a:p>
                <a:r>
                  <a:rPr lang="en-US" altLang="en-US" sz="1700" dirty="0"/>
                  <a:t>Example:  Find information about courses taught by instructors in the Physics department</a:t>
                </a:r>
              </a:p>
              <a:p>
                <a:r>
                  <a:rPr lang="en-US" altLang="en-US" sz="1700" dirty="0"/>
                  <a:t>Query 1</a:t>
                </a:r>
              </a:p>
              <a:p>
                <a:pPr marL="0" indent="0">
                  <a:buNone/>
                </a:pPr>
                <a:r>
                  <a:rPr lang="en-US" altLang="en-US" sz="1700" i="1" dirty="0">
                    <a:sym typeface="Symbol" panose="05050102010706020507" pitchFamily="18" charset="2"/>
                  </a:rPr>
                  <a:t>       </a:t>
                </a:r>
                <a:r>
                  <a:rPr lang="en-US" altLang="en-US" i="1" dirty="0">
                    <a:sym typeface="Symbol" panose="05050102010706020507" pitchFamily="18" charset="2"/>
                  </a:rPr>
                  <a:t></a:t>
                </a:r>
                <a:r>
                  <a:rPr lang="en-US" altLang="en-US" i="1" baseline="-25000" dirty="0" err="1">
                    <a:sym typeface="Symbol" panose="05050102010706020507" pitchFamily="18" charset="2"/>
                  </a:rPr>
                  <a:t>dept_name</a:t>
                </a:r>
                <a:r>
                  <a:rPr lang="en-US" altLang="en-US" i="1" baseline="-25000" dirty="0">
                    <a:sym typeface="Symbol" panose="05050102010706020507" pitchFamily="18" charset="2"/>
                  </a:rPr>
                  <a:t>=</a:t>
                </a:r>
                <a:r>
                  <a:rPr lang="ja-JP" altLang="en-US" i="1" baseline="-25000" dirty="0">
                    <a:sym typeface="Symbol" panose="05050102010706020507" pitchFamily="18" charset="2"/>
                  </a:rPr>
                  <a:t>“</a:t>
                </a:r>
                <a:r>
                  <a:rPr lang="en-US" altLang="ja-JP" i="1" baseline="-25000" dirty="0">
                    <a:sym typeface="Symbol" panose="05050102010706020507" pitchFamily="18" charset="2"/>
                  </a:rPr>
                  <a:t>Physics</a:t>
                </a:r>
                <a:r>
                  <a:rPr lang="ja-JP" altLang="en-US" i="1" baseline="-25000" dirty="0">
                    <a:sym typeface="Symbol" panose="05050102010706020507" pitchFamily="18" charset="2"/>
                  </a:rPr>
                  <a:t>” </a:t>
                </a:r>
                <a:r>
                  <a:rPr lang="en-US" altLang="ja-JP" sz="1700" i="1" dirty="0">
                    <a:sym typeface="Symbol" panose="05050102010706020507" pitchFamily="18" charset="2"/>
                  </a:rPr>
                  <a:t>(i</a:t>
                </a:r>
                <a:r>
                  <a:rPr lang="en-US" altLang="en-US" sz="1700" i="1" dirty="0">
                    <a:sym typeface="Symbol" panose="05050102010706020507" pitchFamily="18" charset="2"/>
                  </a:rPr>
                  <a:t>nstructor</a:t>
                </a:r>
                <a:r>
                  <a:rPr lang="en-US" altLang="en-US" sz="1700" dirty="0">
                    <a:sym typeface="Symbol" panose="05050102010706020507" pitchFamily="18" charset="2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7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700" i="1">
                            <a:latin typeface="Cambria Math" panose="02040503050406030204" pitchFamily="18" charset="0"/>
                          </a:rPr>
                          <m:t>⋈</m:t>
                        </m:r>
                      </m:e>
                      <m:sub>
                        <m:r>
                          <a:rPr lang="en-US" sz="1700" i="1">
                            <a:latin typeface="Cambria Math" panose="02040503050406030204" pitchFamily="18" charset="0"/>
                          </a:rPr>
                          <m:t> </m:t>
                        </m:r>
                      </m:sub>
                    </m:sSub>
                  </m:oMath>
                </a14:m>
                <a:r>
                  <a:rPr lang="en-US" i="1" baseline="-25000" dirty="0"/>
                  <a:t>instructor.ID = teaches.ID</a:t>
                </a:r>
                <a:r>
                  <a:rPr lang="en-US" baseline="-25000" dirty="0"/>
                  <a:t> </a:t>
                </a:r>
                <a:r>
                  <a:rPr lang="en-US" sz="1700" i="1" dirty="0"/>
                  <a:t>teaches)</a:t>
                </a:r>
                <a:endParaRPr lang="en-US" altLang="en-US" sz="1700" dirty="0"/>
              </a:p>
              <a:p>
                <a:pPr>
                  <a:buNone/>
                </a:pPr>
                <a:r>
                  <a:rPr lang="en-US" altLang="ja-JP" sz="800" dirty="0">
                    <a:sym typeface="Symbol" panose="05050102010706020507" pitchFamily="18" charset="2"/>
                  </a:rPr>
                  <a:t> </a:t>
                </a:r>
              </a:p>
              <a:p>
                <a:r>
                  <a:rPr lang="en-US" altLang="en-US" sz="1700" dirty="0">
                    <a:sym typeface="Symbol" panose="05050102010706020507" pitchFamily="18" charset="2"/>
                  </a:rPr>
                  <a:t>Query 2</a:t>
                </a:r>
                <a:endParaRPr lang="en-US" altLang="en-US" sz="1700" dirty="0"/>
              </a:p>
              <a:p>
                <a:pPr>
                  <a:buNone/>
                </a:pPr>
                <a:r>
                  <a:rPr lang="en-US" altLang="en-US" sz="1700" i="1" dirty="0">
                    <a:sym typeface="Symbol" panose="05050102010706020507" pitchFamily="18" charset="2"/>
                  </a:rPr>
                  <a:t>       (</a:t>
                </a:r>
                <a:r>
                  <a:rPr lang="en-US" altLang="en-US" i="1" dirty="0">
                    <a:sym typeface="Symbol" panose="05050102010706020507" pitchFamily="18" charset="2"/>
                  </a:rPr>
                  <a:t></a:t>
                </a:r>
                <a:r>
                  <a:rPr lang="en-US" altLang="en-US" i="1" baseline="-25000" dirty="0" err="1">
                    <a:sym typeface="Symbol" panose="05050102010706020507" pitchFamily="18" charset="2"/>
                  </a:rPr>
                  <a:t>dept_name</a:t>
                </a:r>
                <a:r>
                  <a:rPr lang="en-US" altLang="en-US" i="1" baseline="-25000" dirty="0">
                    <a:sym typeface="Symbol" panose="05050102010706020507" pitchFamily="18" charset="2"/>
                  </a:rPr>
                  <a:t>=</a:t>
                </a:r>
                <a:r>
                  <a:rPr lang="ja-JP" altLang="en-US" i="1" baseline="-25000" dirty="0">
                    <a:sym typeface="Symbol" panose="05050102010706020507" pitchFamily="18" charset="2"/>
                  </a:rPr>
                  <a:t>“</a:t>
                </a:r>
                <a:r>
                  <a:rPr lang="en-US" altLang="ja-JP" i="1" baseline="-25000" dirty="0">
                    <a:sym typeface="Symbol" panose="05050102010706020507" pitchFamily="18" charset="2"/>
                  </a:rPr>
                  <a:t>Physics</a:t>
                </a:r>
                <a:r>
                  <a:rPr lang="ja-JP" altLang="en-US" i="1" baseline="-25000" dirty="0">
                    <a:sym typeface="Symbol" panose="05050102010706020507" pitchFamily="18" charset="2"/>
                  </a:rPr>
                  <a:t>” </a:t>
                </a:r>
                <a:r>
                  <a:rPr lang="en-US" altLang="ja-JP" sz="1700" i="1" dirty="0">
                    <a:sym typeface="Symbol" panose="05050102010706020507" pitchFamily="18" charset="2"/>
                  </a:rPr>
                  <a:t>(i</a:t>
                </a:r>
                <a:r>
                  <a:rPr lang="en-US" altLang="en-US" sz="1700" i="1" dirty="0">
                    <a:sym typeface="Symbol" panose="05050102010706020507" pitchFamily="18" charset="2"/>
                  </a:rPr>
                  <a:t>nstructor))</a:t>
                </a:r>
                <a:r>
                  <a:rPr lang="en-US" altLang="en-US" sz="1700" dirty="0">
                    <a:sym typeface="Symbol" panose="05050102010706020507" pitchFamily="18" charset="2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7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700" i="1">
                            <a:latin typeface="Cambria Math" panose="02040503050406030204" pitchFamily="18" charset="0"/>
                          </a:rPr>
                          <m:t>⋈</m:t>
                        </m:r>
                      </m:e>
                      <m:sub>
                        <m:r>
                          <a:rPr lang="en-US" sz="1700" i="1">
                            <a:latin typeface="Cambria Math" panose="02040503050406030204" pitchFamily="18" charset="0"/>
                          </a:rPr>
                          <m:t> </m:t>
                        </m:r>
                      </m:sub>
                    </m:sSub>
                  </m:oMath>
                </a14:m>
                <a:r>
                  <a:rPr lang="en-US" i="1" baseline="-25000" dirty="0"/>
                  <a:t>instructor.ID = teaches.ID</a:t>
                </a:r>
                <a:r>
                  <a:rPr lang="en-US" baseline="-25000" dirty="0"/>
                  <a:t> </a:t>
                </a:r>
                <a:r>
                  <a:rPr lang="en-US" sz="1700" i="1" dirty="0"/>
                  <a:t>teaches</a:t>
                </a:r>
              </a:p>
              <a:p>
                <a:pPr>
                  <a:buNone/>
                </a:pPr>
                <a:r>
                  <a:rPr lang="en-US" altLang="ja-JP" sz="800" dirty="0">
                    <a:sym typeface="Symbol" panose="05050102010706020507" pitchFamily="18" charset="2"/>
                  </a:rPr>
                  <a:t> </a:t>
                </a:r>
              </a:p>
              <a:p>
                <a:pPr>
                  <a:lnSpc>
                    <a:spcPct val="90000"/>
                  </a:lnSpc>
                  <a:tabLst>
                    <a:tab pos="1658938" algn="l"/>
                    <a:tab pos="3149600" algn="ctr"/>
                    <a:tab pos="3425825" algn="l"/>
                  </a:tabLst>
                </a:pPr>
                <a:r>
                  <a:rPr lang="en-US" altLang="en-US" sz="1700" dirty="0">
                    <a:sym typeface="Symbol" panose="05050102010706020507" pitchFamily="18" charset="2"/>
                  </a:rPr>
                  <a:t>The two queries are not identical; they are, however, equivalent -- they give the same result on any database.</a:t>
                </a:r>
              </a:p>
              <a:p>
                <a:pPr>
                  <a:lnSpc>
                    <a:spcPct val="90000"/>
                  </a:lnSpc>
                  <a:tabLst>
                    <a:tab pos="1658938" algn="l"/>
                    <a:tab pos="3149600" algn="ctr"/>
                    <a:tab pos="3425825" algn="l"/>
                  </a:tabLst>
                </a:pPr>
                <a:endParaRPr lang="en-US" altLang="en-US" dirty="0">
                  <a:sym typeface="Symbol" panose="05050102010706020507" pitchFamily="18" charset="2"/>
                </a:endParaRPr>
              </a:p>
              <a:p>
                <a:pPr>
                  <a:lnSpc>
                    <a:spcPct val="90000"/>
                  </a:lnSpc>
                  <a:tabLst>
                    <a:tab pos="1658938" algn="l"/>
                    <a:tab pos="3149600" algn="ctr"/>
                    <a:tab pos="3425825" algn="l"/>
                  </a:tabLst>
                </a:pPr>
                <a:endParaRPr lang="en-US" altLang="en-US" dirty="0">
                  <a:sym typeface="Symbol" panose="05050102010706020507" pitchFamily="18" charset="2"/>
                </a:endParaRPr>
              </a:p>
            </p:txBody>
          </p:sp>
        </mc:Choice>
        <mc:Fallback xmlns="">
          <p:sp>
            <p:nvSpPr>
              <p:cNvPr id="7170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768349" y="1138873"/>
                <a:ext cx="7638803" cy="4506023"/>
              </a:xfrm>
              <a:blipFill>
                <a:blip r:embed="rId3"/>
                <a:stretch>
                  <a:fillRect l="-559" t="-6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5956" name="Rectangle 4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en-US" dirty="0"/>
              <a:t>End of Chapter 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2_db-5-grey">
  <a:themeElements>
    <a:clrScheme name="">
      <a:dk1>
        <a:srgbClr val="000000"/>
      </a:dk1>
      <a:lt1>
        <a:srgbClr val="CCECFF"/>
      </a:lt1>
      <a:dk2>
        <a:srgbClr val="CC3300"/>
      </a:dk2>
      <a:lt2>
        <a:srgbClr val="666699"/>
      </a:lt2>
      <a:accent1>
        <a:srgbClr val="FFFFFF"/>
      </a:accent1>
      <a:accent2>
        <a:srgbClr val="CCCC00"/>
      </a:accent2>
      <a:accent3>
        <a:srgbClr val="E2F4FF"/>
      </a:accent3>
      <a:accent4>
        <a:srgbClr val="000000"/>
      </a:accent4>
      <a:accent5>
        <a:srgbClr val="FFFFFF"/>
      </a:accent5>
      <a:accent6>
        <a:srgbClr val="B9B900"/>
      </a:accent6>
      <a:hlink>
        <a:srgbClr val="FF9900"/>
      </a:hlink>
      <a:folHlink>
        <a:srgbClr val="FF9933"/>
      </a:folHlink>
    </a:clrScheme>
    <a:fontScheme name="2_db-5-grey">
      <a:majorFont>
        <a:latin typeface="Helvetica"/>
        <a:ea typeface=""/>
        <a:cs typeface=""/>
      </a:majorFont>
      <a:minorFont>
        <a:latin typeface="Helvetic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6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Helvetica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6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Helvetica" charset="0"/>
          </a:defRPr>
        </a:defPPr>
      </a:lstStyle>
    </a:lnDef>
  </a:objectDefaults>
  <a:extraClrSchemeLst>
    <a:extraClrScheme>
      <a:clrScheme name="2_db-5-grey 1">
        <a:dk1>
          <a:srgbClr val="333333"/>
        </a:dk1>
        <a:lt1>
          <a:srgbClr val="A9BDA9"/>
        </a:lt1>
        <a:dk2>
          <a:srgbClr val="004C2B"/>
        </a:dk2>
        <a:lt2>
          <a:srgbClr val="578963"/>
        </a:lt2>
        <a:accent1>
          <a:srgbClr val="E1B7B7"/>
        </a:accent1>
        <a:accent2>
          <a:srgbClr val="B3E1B3"/>
        </a:accent2>
        <a:accent3>
          <a:srgbClr val="D1DBD1"/>
        </a:accent3>
        <a:accent4>
          <a:srgbClr val="2A2A2A"/>
        </a:accent4>
        <a:accent5>
          <a:srgbClr val="EED8D8"/>
        </a:accent5>
        <a:accent6>
          <a:srgbClr val="A2CCA2"/>
        </a:accent6>
        <a:hlink>
          <a:srgbClr val="BDD7E5"/>
        </a:hlink>
        <a:folHlink>
          <a:srgbClr val="D2AAD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b-5-grey 2">
        <a:dk1>
          <a:srgbClr val="333333"/>
        </a:dk1>
        <a:lt1>
          <a:srgbClr val="FFFFFF"/>
        </a:lt1>
        <a:dk2>
          <a:srgbClr val="004C2B"/>
        </a:dk2>
        <a:lt2>
          <a:srgbClr val="578963"/>
        </a:lt2>
        <a:accent1>
          <a:srgbClr val="E1B7B7"/>
        </a:accent1>
        <a:accent2>
          <a:srgbClr val="B3E1B3"/>
        </a:accent2>
        <a:accent3>
          <a:srgbClr val="FFFFFF"/>
        </a:accent3>
        <a:accent4>
          <a:srgbClr val="2A2A2A"/>
        </a:accent4>
        <a:accent5>
          <a:srgbClr val="EED8D8"/>
        </a:accent5>
        <a:accent6>
          <a:srgbClr val="A2CCA2"/>
        </a:accent6>
        <a:hlink>
          <a:srgbClr val="BDD7E5"/>
        </a:hlink>
        <a:folHlink>
          <a:srgbClr val="D2AAD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b-5-grey 3">
        <a:dk1>
          <a:srgbClr val="000000"/>
        </a:dk1>
        <a:lt1>
          <a:srgbClr val="FFFFFF"/>
        </a:lt1>
        <a:dk2>
          <a:srgbClr val="000000"/>
        </a:dk2>
        <a:lt2>
          <a:srgbClr val="393939"/>
        </a:lt2>
        <a:accent1>
          <a:srgbClr val="CBCBCB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737373"/>
        </a:accent6>
        <a:hlink>
          <a:srgbClr val="B2B2B2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DB6</Template>
  <TotalTime>95726</TotalTime>
  <Words>2481</Words>
  <Application>Microsoft Office PowerPoint</Application>
  <PresentationFormat>On-screen Show (4:3)</PresentationFormat>
  <Paragraphs>280</Paragraphs>
  <Slides>36</Slides>
  <Notes>31</Notes>
  <HiddenSlides>0</HiddenSlides>
  <MMClips>0</MMClips>
  <ScaleCrop>false</ScaleCrop>
  <HeadingPairs>
    <vt:vector size="8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36</vt:i4>
      </vt:variant>
      <vt:variant>
        <vt:lpstr>Custom Shows</vt:lpstr>
      </vt:variant>
      <vt:variant>
        <vt:i4>1</vt:i4>
      </vt:variant>
    </vt:vector>
  </HeadingPairs>
  <TitlesOfParts>
    <vt:vector size="48" baseType="lpstr">
      <vt:lpstr>ＭＳ Ｐゴシック</vt:lpstr>
      <vt:lpstr>Arial</vt:lpstr>
      <vt:lpstr>Cambria Math</vt:lpstr>
      <vt:lpstr>Cascadia Code</vt:lpstr>
      <vt:lpstr>Helvetica</vt:lpstr>
      <vt:lpstr>Monotype Sorts</vt:lpstr>
      <vt:lpstr>Symbol</vt:lpstr>
      <vt:lpstr>Times New Roman</vt:lpstr>
      <vt:lpstr>Webdings</vt:lpstr>
      <vt:lpstr>Wingdings</vt:lpstr>
      <vt:lpstr>2_db-5-grey</vt:lpstr>
      <vt:lpstr>Chapter 2: Intro to Relational Model</vt:lpstr>
      <vt:lpstr>Outline</vt:lpstr>
      <vt:lpstr>Example of a Instructor  Relation</vt:lpstr>
      <vt:lpstr>Relation Schema and Instance</vt:lpstr>
      <vt:lpstr>Attributes</vt:lpstr>
      <vt:lpstr>Relations are Unordered</vt:lpstr>
      <vt:lpstr>Database Schema</vt:lpstr>
      <vt:lpstr>Keys</vt:lpstr>
      <vt:lpstr>Foreign Key</vt:lpstr>
      <vt:lpstr>Foreign Key (2)</vt:lpstr>
      <vt:lpstr>Schema Diagram for University Database</vt:lpstr>
      <vt:lpstr>Relational Query Languages</vt:lpstr>
      <vt:lpstr>Relational Algebra</vt:lpstr>
      <vt:lpstr>Select Operation</vt:lpstr>
      <vt:lpstr>Select Operation (Cont.)</vt:lpstr>
      <vt:lpstr>Project Operation Example</vt:lpstr>
      <vt:lpstr>Project Operation</vt:lpstr>
      <vt:lpstr>Composition of Relational Operations</vt:lpstr>
      <vt:lpstr>Cartesian-Product Operation</vt:lpstr>
      <vt:lpstr>The  instructor  X  teaches  table</vt:lpstr>
      <vt:lpstr>Join Operation</vt:lpstr>
      <vt:lpstr>Join Operation (Cont.)</vt:lpstr>
      <vt:lpstr>Join Operation (Cont.)</vt:lpstr>
      <vt:lpstr>Union Operation</vt:lpstr>
      <vt:lpstr>section table</vt:lpstr>
      <vt:lpstr>Union Operation (Cont.)</vt:lpstr>
      <vt:lpstr>Set-Intersection Operation</vt:lpstr>
      <vt:lpstr>Set Difference Operation</vt:lpstr>
      <vt:lpstr>The Assignment  Operation </vt:lpstr>
      <vt:lpstr>The Rename Operation </vt:lpstr>
      <vt:lpstr>Aggregate Functions</vt:lpstr>
      <vt:lpstr>Aggregate Functions Examples</vt:lpstr>
      <vt:lpstr>Aggregate Functions – Group By</vt:lpstr>
      <vt:lpstr>Equivalent Queries</vt:lpstr>
      <vt:lpstr>Equivalent Queries</vt:lpstr>
      <vt:lpstr>End of Chapter 2</vt:lpstr>
      <vt:lpstr>Custom Show 1</vt:lpstr>
    </vt:vector>
  </TitlesOfParts>
  <Company>Lucent Technologies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7:  Relational Database Design</dc:title>
  <dc:creator>Marilyn Turnamian</dc:creator>
  <cp:lastModifiedBy>Tejas Chaudhari</cp:lastModifiedBy>
  <cp:revision>494</cp:revision>
  <cp:lastPrinted>1999-06-28T19:27:31Z</cp:lastPrinted>
  <dcterms:created xsi:type="dcterms:W3CDTF">2009-12-21T15:40:22Z</dcterms:created>
  <dcterms:modified xsi:type="dcterms:W3CDTF">2026-01-09T11:28:52Z</dcterms:modified>
</cp:coreProperties>
</file>